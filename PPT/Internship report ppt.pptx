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899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 am Niranjan from the Department of Information Technology. My internship was a UI/UX design internship at Astonish InfoTech, and my project was the UI/UX design of an e-commerce website. I will walk you through what I learned and what I designed.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one-month offline UI/UX internship at Astonish InfoTech in Tiruchirappalli, from 1 to 30 June 2026. My certificate names the topic as UI/UX Design, and the annexure lists the project work as E-Commerce. Over the month I learned the design process step by step and documented an e-commerce interface design called ShopEase.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Astonish InfoTech Private Limited is based in Tiruchirappalli. I am only mentioning details printed on my offer letter and annexure, such as its address and the service areas listed on the letterhead. I am not adding any other claims about the company.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main aim was to learn how interfaces are planned and designed, not only how they look. I wanted to understand UI/UX basics and Figma, and then apply them to an e-commerce interface with usability in mind.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UI is what the user sees and touches, such as colours, buttons and layout. UX is the whole experience, such as whether the user can find a product and finish buying it easily. Both are needed: a pretty button in the wrong place is still a poor experience.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Figma was the primary design tool in my learning plan. I studied its main features, shown here, and how they help keep screens consistent. I should be honest that no Figma file link was submitted, so I describe these as concepts I learned.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30 days had three phases. In the first five days I learned design basics. In days 6 to 15 I moved to user-centred methods like personas, flows and wireframes, and learned Figma frames, components and prototyping. In the last fifteen days I applied all of it to ShopEase, one screen at a time, and finished with a checklist review and documentation. This is the planned learning schedule from my report, not an attendance log.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ShopEase is a fictional online store I used as a design concept. It is not a real company or a client of Astonish InfoTech. The goal was to plan an interface that makes online shopping simple, organised and easy to navigate.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common design challenges in online stores in general. They are not findings from research with real users. ShopEase was planned to address them through clear structure and consistent design.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design goal was matched with something I actually designed and documented. For example, for easy product discovery I planned the home page, category navigation and a search concept. The scope is interface design and documentation only: there is no coding, backend or payment system.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followed six stages. At each stage I produced something concrete for ShopEase: scope and assumptions, a site map and flows, wireframes, a design system and mockup concepts, an interaction plan, and finally a review checklist. I did not run formal user research or usability tests, so the personas are assumptions.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planned the site structure, with Home linking to categories, search, cart, account and support pages. Then I mapped the shopping flow from Home to Checkout, including sign-in or guest, and two error branches: an option not chosen, and an item that is no longer available. These are planning diagrams, so I am not claiming they were built or tested.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Wireframes show where things go and what matters most before any colour or styling. Here are the home page and the product listing layouts. My report states that its wireframes are illustrative concepts, and I have redrawn them here to show that.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design system for ShopEase, a presentation concept and not an official company palette. I even checked colour contrast. The bright pink I first used measured about 4.35 to 1 on white, below the 4.5 to 1 accessibility guideline, so I chose a deeper pink for button text. That shows a design decision supported by a measurement.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illustrative ShopEase screens that I drew for this presentation. They are not exports from a Figma project. The home page shows clear navigation and one main call to action, the product page gives the primary button the strongest colour, and the mobile screen keeps one action visible.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prototype links screens to show the flow. I planned six interactions, such as selecting a category, adding to cart and placing an order. I also planned screens for things going wrong, like an empty cart or a form error, because real users meet those. These are proposals, since no working prototype was supplied.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I can explain and show from my work. I can read and plan a user flow, build a site map, wireframe the main shopping screens, define components and states, and check colour contrast. I also wrote design documentation with requirements and a review checklist. I have not done formal user testing, so I describe my skills realistically.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internship taught me how to plan a clear user experience before styling it, and I applied that to the ShopEase concept. I am grateful to Astonish InfoTech for the opportunity and to my faculty for their guidance. Thank you, and I am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B1F4B"/>
          </a:solidFill>
          <a:ln/>
        </p:spPr>
      </p:sp>
      <p:sp>
        <p:nvSpPr>
          <p:cNvPr id="3" name="Shape 1"/>
          <p:cNvSpPr/>
          <p:nvPr/>
        </p:nvSpPr>
        <p:spPr>
          <a:xfrm>
            <a:off x="0" y="0"/>
            <a:ext cx="1463040" cy="82296"/>
          </a:xfrm>
          <a:prstGeom prst="rect">
            <a:avLst/>
          </a:prstGeom>
          <a:solidFill>
            <a:srgbClr val="2F5BFF"/>
          </a:solidFill>
          <a:ln/>
        </p:spPr>
      </p:sp>
      <p:sp>
        <p:nvSpPr>
          <p:cNvPr id="4" name="Shape 2"/>
          <p:cNvSpPr/>
          <p:nvPr/>
        </p:nvSpPr>
        <p:spPr>
          <a:xfrm>
            <a:off x="457200" y="4773168"/>
            <a:ext cx="8229600" cy="0"/>
          </a:xfrm>
          <a:prstGeom prst="line">
            <a:avLst/>
          </a:prstGeom>
          <a:noFill/>
          <a:ln w="9525">
            <a:solidFill>
              <a:srgbClr val="DDE3F0"/>
            </a:solidFill>
            <a:prstDash val="solid"/>
          </a:ln>
        </p:spPr>
      </p:sp>
      <p:sp>
        <p:nvSpPr>
          <p:cNvPr id="5" name="Text 3"/>
          <p:cNvSpPr/>
          <p:nvPr/>
        </p:nvSpPr>
        <p:spPr>
          <a:xfrm>
            <a:off x="457200" y="4846320"/>
            <a:ext cx="6858000" cy="201168"/>
          </a:xfrm>
          <a:prstGeom prst="rect">
            <a:avLst/>
          </a:prstGeom>
          <a:noFill/>
          <a:ln/>
        </p:spPr>
        <p:txBody>
          <a:bodyPr wrap="square" lIns="0" tIns="0" rIns="0" bIns="0" rtlCol="0" anchor="ctr"/>
          <a:lstStyle/>
          <a:p>
            <a:pPr marL="0" indent="0">
              <a:buNone/>
            </a:pPr>
            <a:r>
              <a:rPr lang="en-US" sz="950" dirty="0">
                <a:solidFill>
                  <a:srgbClr val="6B7280"/>
                </a:solidFill>
              </a:rPr>
              <a:t>UI/UX Design of an E-Commerce Website   |   NIRANJAN   |   Astonish InfoTech Private Limited</a:t>
            </a:r>
            <a:endParaRPr lang="en-US" sz="9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81334"/>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6.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0.pn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1.png"/><Relationship Id="rId10" Type="http://schemas.openxmlformats.org/officeDocument/2006/relationships/image" Target="../media/image29.png"/><Relationship Id="rId4" Type="http://schemas.openxmlformats.org/officeDocument/2006/relationships/image" Target="../media/image26.png"/><Relationship Id="rId9" Type="http://schemas.openxmlformats.org/officeDocument/2006/relationships/image" Target="../media/image23.pn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24.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0" y="0"/>
            <a:ext cx="109728" cy="5143500"/>
          </a:xfrm>
          <a:prstGeom prst="rect">
            <a:avLst/>
          </a:prstGeom>
          <a:solidFill>
            <a:srgbClr val="2F5BFF"/>
          </a:solidFill>
          <a:ln w="12700">
            <a:solidFill>
              <a:srgbClr val="2F5BFF"/>
            </a:solidFill>
            <a:prstDash val="solid"/>
          </a:ln>
        </p:spPr>
      </p:sp>
      <p:sp>
        <p:nvSpPr>
          <p:cNvPr id="4" name="Shape 1"/>
          <p:cNvSpPr/>
          <p:nvPr/>
        </p:nvSpPr>
        <p:spPr>
          <a:xfrm>
            <a:off x="548640" y="502920"/>
            <a:ext cx="2834640" cy="256032"/>
          </a:xfrm>
          <a:prstGeom prst="roundRect">
            <a:avLst>
              <a:gd name="adj" fmla="val 50000"/>
            </a:avLst>
          </a:prstGeom>
          <a:solidFill>
            <a:srgbClr val="1B2C66"/>
          </a:solidFill>
          <a:ln w="12700">
            <a:solidFill>
              <a:srgbClr val="1B2C66"/>
            </a:solidFill>
            <a:prstDash val="solid"/>
          </a:ln>
        </p:spPr>
      </p:sp>
      <p:sp>
        <p:nvSpPr>
          <p:cNvPr id="5" name="Text 2"/>
          <p:cNvSpPr txBox="1"/>
          <p:nvPr/>
        </p:nvSpPr>
        <p:spPr>
          <a:xfrm>
            <a:off x="548640" y="502920"/>
            <a:ext cx="2834640" cy="256032"/>
          </a:xfrm>
          <a:prstGeom prst="rect">
            <a:avLst/>
          </a:prstGeom>
          <a:noFill/>
          <a:ln/>
        </p:spPr>
        <p:txBody>
          <a:bodyPr wrap="square" lIns="0" tIns="0" rIns="0" bIns="0" rtlCol="0" anchor="ctr"/>
          <a:lstStyle/>
          <a:p>
            <a:pPr marL="0" indent="0" algn="ctr">
              <a:buNone/>
            </a:pPr>
            <a:r>
              <a:rPr lang="en-US" sz="1050" b="1" dirty="0">
                <a:solidFill>
                  <a:srgbClr val="BFD0FF"/>
                </a:solidFill>
              </a:rPr>
              <a:t>INTERNSHIP ·  JUNE 2026</a:t>
            </a:r>
            <a:endParaRPr lang="en-US" sz="1050" dirty="0"/>
          </a:p>
        </p:txBody>
      </p:sp>
      <p:sp>
        <p:nvSpPr>
          <p:cNvPr id="6" name="Text 3"/>
          <p:cNvSpPr txBox="1"/>
          <p:nvPr/>
        </p:nvSpPr>
        <p:spPr>
          <a:xfrm>
            <a:off x="548640" y="960120"/>
            <a:ext cx="4206240" cy="1097280"/>
          </a:xfrm>
          <a:prstGeom prst="rect">
            <a:avLst/>
          </a:prstGeom>
          <a:noFill/>
          <a:ln/>
        </p:spPr>
        <p:txBody>
          <a:bodyPr wrap="square" lIns="0" tIns="0" rIns="0" bIns="0" rtlCol="0" anchor="t"/>
          <a:lstStyle/>
          <a:p>
            <a:pPr marL="0" indent="0">
              <a:buNone/>
            </a:pPr>
            <a:r>
              <a:rPr lang="en-US" sz="2200" b="1" dirty="0">
                <a:solidFill>
                  <a:srgbClr val="FFFFFF"/>
                </a:solidFill>
                <a:latin typeface="Georgia" pitchFamily="34" charset="0"/>
                <a:ea typeface="Georgia" pitchFamily="34" charset="-122"/>
                <a:cs typeface="Georgia" pitchFamily="34" charset="-120"/>
              </a:rPr>
              <a:t>UI/UX DESIGN OF AN</a:t>
            </a:r>
            <a:endParaRPr lang="en-US" sz="2200" dirty="0"/>
          </a:p>
          <a:p>
            <a:pPr marL="0" indent="0">
              <a:buNone/>
            </a:pPr>
            <a:r>
              <a:rPr lang="en-US" sz="2200" b="1" dirty="0">
                <a:solidFill>
                  <a:srgbClr val="FFFFFF"/>
                </a:solidFill>
                <a:latin typeface="Georgia" pitchFamily="34" charset="0"/>
                <a:ea typeface="Georgia" pitchFamily="34" charset="-122"/>
                <a:cs typeface="Georgia" pitchFamily="34" charset="-120"/>
              </a:rPr>
              <a:t>E-COMMERCE WEBSITE</a:t>
            </a:r>
            <a:endParaRPr lang="en-US" sz="2200" dirty="0"/>
          </a:p>
        </p:txBody>
      </p:sp>
      <p:sp>
        <p:nvSpPr>
          <p:cNvPr id="7" name="Text 4"/>
          <p:cNvSpPr txBox="1"/>
          <p:nvPr/>
        </p:nvSpPr>
        <p:spPr>
          <a:xfrm>
            <a:off x="548640" y="2423160"/>
            <a:ext cx="4114800" cy="274320"/>
          </a:xfrm>
          <a:prstGeom prst="rect">
            <a:avLst/>
          </a:prstGeom>
          <a:noFill/>
          <a:ln/>
        </p:spPr>
        <p:txBody>
          <a:bodyPr wrap="square" lIns="0" tIns="0" rIns="0" bIns="0" rtlCol="0" anchor="t"/>
          <a:lstStyle/>
          <a:p>
            <a:pPr marL="0" indent="0">
              <a:buNone/>
            </a:pPr>
            <a:r>
              <a:rPr lang="en-US" sz="1300" dirty="0">
                <a:solidFill>
                  <a:srgbClr val="9DB4F5"/>
                </a:solidFill>
              </a:rPr>
              <a:t>Concept project: ShopEase  ·  Designed in Figma</a:t>
            </a:r>
            <a:endParaRPr lang="en-US" sz="1300" dirty="0"/>
          </a:p>
        </p:txBody>
      </p:sp>
      <p:sp>
        <p:nvSpPr>
          <p:cNvPr id="8" name="Shape 5"/>
          <p:cNvSpPr/>
          <p:nvPr/>
        </p:nvSpPr>
        <p:spPr>
          <a:xfrm>
            <a:off x="548640" y="2880360"/>
            <a:ext cx="548640" cy="36576"/>
          </a:xfrm>
          <a:prstGeom prst="rect">
            <a:avLst/>
          </a:prstGeom>
          <a:solidFill>
            <a:srgbClr val="2F5BFF"/>
          </a:solidFill>
          <a:ln w="12700">
            <a:solidFill>
              <a:srgbClr val="2F5BFF"/>
            </a:solidFill>
            <a:prstDash val="solid"/>
          </a:ln>
        </p:spPr>
      </p:sp>
      <p:sp>
        <p:nvSpPr>
          <p:cNvPr id="9" name="Text 6"/>
          <p:cNvSpPr txBox="1"/>
          <p:nvPr/>
        </p:nvSpPr>
        <p:spPr>
          <a:xfrm>
            <a:off x="548640" y="3017520"/>
            <a:ext cx="4114800" cy="320040"/>
          </a:xfrm>
          <a:prstGeom prst="rect">
            <a:avLst/>
          </a:prstGeom>
          <a:noFill/>
          <a:ln/>
        </p:spPr>
        <p:txBody>
          <a:bodyPr wrap="square" lIns="0" tIns="0" rIns="0" bIns="0" rtlCol="0" anchor="t"/>
          <a:lstStyle/>
          <a:p>
            <a:pPr marL="0" indent="0">
              <a:buNone/>
            </a:pPr>
            <a:r>
              <a:rPr lang="en-US" sz="1800" b="1" dirty="0">
                <a:solidFill>
                  <a:srgbClr val="FFFFFF"/>
                </a:solidFill>
              </a:rPr>
              <a:t>NIRANJAN</a:t>
            </a:r>
            <a:endParaRPr lang="en-US" sz="1800" dirty="0"/>
          </a:p>
        </p:txBody>
      </p:sp>
      <p:sp>
        <p:nvSpPr>
          <p:cNvPr id="10" name="Text 7"/>
          <p:cNvSpPr txBox="1"/>
          <p:nvPr/>
        </p:nvSpPr>
        <p:spPr>
          <a:xfrm>
            <a:off x="548640" y="3383280"/>
            <a:ext cx="4114800" cy="731520"/>
          </a:xfrm>
          <a:prstGeom prst="rect">
            <a:avLst/>
          </a:prstGeom>
          <a:noFill/>
          <a:ln/>
        </p:spPr>
        <p:txBody>
          <a:bodyPr wrap="square" lIns="0" tIns="0" rIns="0" bIns="0" rtlCol="0" anchor="t"/>
          <a:lstStyle/>
          <a:p>
            <a:pPr marL="0" indent="0">
              <a:buNone/>
            </a:pPr>
            <a:r>
              <a:rPr lang="en-US" sz="1200" dirty="0">
                <a:solidFill>
                  <a:srgbClr val="C7D2FE"/>
                </a:solidFill>
              </a:rPr>
              <a:t>Department of Information Technology</a:t>
            </a:r>
            <a:endParaRPr lang="en-US" sz="1200" dirty="0"/>
          </a:p>
          <a:p>
            <a:pPr marL="0" indent="0">
              <a:buNone/>
            </a:pPr>
            <a:r>
              <a:rPr lang="en-US" sz="1200" dirty="0">
                <a:solidFill>
                  <a:srgbClr val="C7D2FE"/>
                </a:solidFill>
              </a:rPr>
              <a:t>University College of Engineering, BIT Campus</a:t>
            </a:r>
            <a:endParaRPr lang="en-US" sz="1200" dirty="0"/>
          </a:p>
          <a:p>
            <a:pPr marL="0" indent="0">
              <a:buNone/>
            </a:pPr>
            <a:r>
              <a:rPr lang="en-US" sz="1200" dirty="0">
                <a:solidFill>
                  <a:srgbClr val="C7D2FE"/>
                </a:solidFill>
              </a:rPr>
              <a:t>Anna University, Tiruchirappalli</a:t>
            </a:r>
            <a:endParaRPr lang="en-US" sz="1200" dirty="0"/>
          </a:p>
        </p:txBody>
      </p:sp>
      <p:sp>
        <p:nvSpPr>
          <p:cNvPr id="11" name="Text 8"/>
          <p:cNvSpPr txBox="1"/>
          <p:nvPr/>
        </p:nvSpPr>
        <p:spPr>
          <a:xfrm>
            <a:off x="548640" y="4434840"/>
            <a:ext cx="4297680" cy="365760"/>
          </a:xfrm>
          <a:prstGeom prst="rect">
            <a:avLst/>
          </a:prstGeom>
          <a:noFill/>
          <a:ln/>
        </p:spPr>
        <p:txBody>
          <a:bodyPr wrap="square" lIns="0" tIns="0" rIns="0" bIns="0" rtlCol="0" anchor="t"/>
          <a:lstStyle/>
          <a:p>
            <a:pPr marL="0" indent="0">
              <a:buNone/>
            </a:pPr>
            <a:r>
              <a:rPr lang="en-US" sz="1100" dirty="0">
                <a:solidFill>
                  <a:srgbClr val="8FA3DC"/>
                </a:solidFill>
              </a:rPr>
              <a:t>Astonish InfoTech Private Limited, Tiruchirappalli   |   1 June 2026 – 30 June 2026</a:t>
            </a:r>
            <a:endParaRPr lang="en-US" sz="1100" dirty="0"/>
          </a:p>
        </p:txBody>
      </p:sp>
      <p:sp>
        <p:nvSpPr>
          <p:cNvPr id="12" name="Shape 9"/>
          <p:cNvSpPr/>
          <p:nvPr/>
        </p:nvSpPr>
        <p:spPr>
          <a:xfrm>
            <a:off x="4663440" y="822960"/>
            <a:ext cx="3657600" cy="2926080"/>
          </a:xfrm>
          <a:prstGeom prst="roundRect">
            <a:avLst>
              <a:gd name="adj" fmla="val 938"/>
            </a:avLst>
          </a:prstGeom>
          <a:solidFill>
            <a:srgbClr val="FFFFFF"/>
          </a:solidFill>
          <a:ln w="9525">
            <a:solidFill>
              <a:srgbClr val="CBD5E1"/>
            </a:solidFill>
            <a:prstDash val="solid"/>
          </a:ln>
          <a:effectLst>
            <a:outerShdw blurRad="101600" dist="25400" dir="5400000" algn="bl" rotWithShape="0">
              <a:srgbClr val="000000">
                <a:alpha val="14000"/>
              </a:srgbClr>
            </a:outerShdw>
          </a:effectLst>
        </p:spPr>
      </p:sp>
      <p:sp>
        <p:nvSpPr>
          <p:cNvPr id="13" name="Shape 10"/>
          <p:cNvSpPr/>
          <p:nvPr/>
        </p:nvSpPr>
        <p:spPr>
          <a:xfrm>
            <a:off x="4663440" y="822960"/>
            <a:ext cx="3657600" cy="292608"/>
          </a:xfrm>
          <a:prstGeom prst="rect">
            <a:avLst/>
          </a:prstGeom>
          <a:solidFill>
            <a:srgbClr val="0B1F4B"/>
          </a:solidFill>
          <a:ln w="12700">
            <a:solidFill>
              <a:srgbClr val="0B1F4B"/>
            </a:solidFill>
            <a:prstDash val="solid"/>
          </a:ln>
        </p:spPr>
      </p:sp>
      <p:sp>
        <p:nvSpPr>
          <p:cNvPr id="14" name="Text 11"/>
          <p:cNvSpPr txBox="1"/>
          <p:nvPr/>
        </p:nvSpPr>
        <p:spPr>
          <a:xfrm>
            <a:off x="4809744" y="822960"/>
            <a:ext cx="731520" cy="292608"/>
          </a:xfrm>
          <a:prstGeom prst="rect">
            <a:avLst/>
          </a:prstGeom>
          <a:noFill/>
          <a:ln/>
        </p:spPr>
        <p:txBody>
          <a:bodyPr wrap="square" lIns="0" tIns="0" rIns="0" bIns="0" rtlCol="0" anchor="ctr"/>
          <a:lstStyle/>
          <a:p>
            <a:pPr marL="0" indent="0">
              <a:buNone/>
            </a:pPr>
            <a:r>
              <a:rPr lang="en-US" sz="1050" b="1" dirty="0">
                <a:solidFill>
                  <a:srgbClr val="FFFFFF"/>
                </a:solidFill>
                <a:latin typeface="Georgia" pitchFamily="34" charset="0"/>
                <a:ea typeface="Georgia" pitchFamily="34" charset="-122"/>
                <a:cs typeface="Georgia" pitchFamily="34" charset="-120"/>
              </a:rPr>
              <a:t>ShopEase</a:t>
            </a:r>
            <a:endParaRPr lang="en-US" sz="1050" dirty="0"/>
          </a:p>
        </p:txBody>
      </p:sp>
      <p:sp>
        <p:nvSpPr>
          <p:cNvPr id="15" name="Text 12"/>
          <p:cNvSpPr txBox="1"/>
          <p:nvPr/>
        </p:nvSpPr>
        <p:spPr>
          <a:xfrm>
            <a:off x="5577840" y="822960"/>
            <a:ext cx="475488" cy="292608"/>
          </a:xfrm>
          <a:prstGeom prst="rect">
            <a:avLst/>
          </a:prstGeom>
          <a:noFill/>
          <a:ln/>
        </p:spPr>
        <p:txBody>
          <a:bodyPr wrap="square" lIns="0" tIns="0" rIns="0" bIns="0" rtlCol="0" anchor="ctr"/>
          <a:lstStyle/>
          <a:p>
            <a:pPr marL="0" indent="0">
              <a:buNone/>
            </a:pPr>
            <a:r>
              <a:rPr lang="en-US" sz="650" dirty="0">
                <a:solidFill>
                  <a:srgbClr val="C7D2FE"/>
                </a:solidFill>
              </a:rPr>
              <a:t>Home</a:t>
            </a:r>
            <a:endParaRPr lang="en-US" sz="650" dirty="0"/>
          </a:p>
        </p:txBody>
      </p:sp>
      <p:sp>
        <p:nvSpPr>
          <p:cNvPr id="16" name="Text 13"/>
          <p:cNvSpPr txBox="1"/>
          <p:nvPr/>
        </p:nvSpPr>
        <p:spPr>
          <a:xfrm>
            <a:off x="5961888" y="822960"/>
            <a:ext cx="475488" cy="292608"/>
          </a:xfrm>
          <a:prstGeom prst="rect">
            <a:avLst/>
          </a:prstGeom>
          <a:noFill/>
          <a:ln/>
        </p:spPr>
        <p:txBody>
          <a:bodyPr wrap="square" lIns="0" tIns="0" rIns="0" bIns="0" rtlCol="0" anchor="ctr"/>
          <a:lstStyle/>
          <a:p>
            <a:pPr marL="0" indent="0">
              <a:buNone/>
            </a:pPr>
            <a:r>
              <a:rPr lang="en-US" sz="650" dirty="0">
                <a:solidFill>
                  <a:srgbClr val="C7D2FE"/>
                </a:solidFill>
              </a:rPr>
              <a:t>Categories</a:t>
            </a:r>
            <a:endParaRPr lang="en-US" sz="650" dirty="0"/>
          </a:p>
        </p:txBody>
      </p:sp>
      <p:sp>
        <p:nvSpPr>
          <p:cNvPr id="17" name="Text 14"/>
          <p:cNvSpPr txBox="1"/>
          <p:nvPr/>
        </p:nvSpPr>
        <p:spPr>
          <a:xfrm>
            <a:off x="6345936" y="822960"/>
            <a:ext cx="475488" cy="292608"/>
          </a:xfrm>
          <a:prstGeom prst="rect">
            <a:avLst/>
          </a:prstGeom>
          <a:noFill/>
          <a:ln/>
        </p:spPr>
        <p:txBody>
          <a:bodyPr wrap="square" lIns="0" tIns="0" rIns="0" bIns="0" rtlCol="0" anchor="ctr"/>
          <a:lstStyle/>
          <a:p>
            <a:pPr marL="0" indent="0">
              <a:buNone/>
            </a:pPr>
            <a:r>
              <a:rPr lang="en-US" sz="650" dirty="0">
                <a:solidFill>
                  <a:srgbClr val="C7D2FE"/>
                </a:solidFill>
              </a:rPr>
              <a:t>Deals</a:t>
            </a:r>
            <a:endParaRPr lang="en-US" sz="650" dirty="0"/>
          </a:p>
        </p:txBody>
      </p:sp>
      <p:sp>
        <p:nvSpPr>
          <p:cNvPr id="18" name="Text 15"/>
          <p:cNvSpPr txBox="1"/>
          <p:nvPr/>
        </p:nvSpPr>
        <p:spPr>
          <a:xfrm>
            <a:off x="6729984" y="822960"/>
            <a:ext cx="475488" cy="292608"/>
          </a:xfrm>
          <a:prstGeom prst="rect">
            <a:avLst/>
          </a:prstGeom>
          <a:noFill/>
          <a:ln/>
        </p:spPr>
        <p:txBody>
          <a:bodyPr wrap="square" lIns="0" tIns="0" rIns="0" bIns="0" rtlCol="0" anchor="ctr"/>
          <a:lstStyle/>
          <a:p>
            <a:pPr marL="0" indent="0">
              <a:buNone/>
            </a:pPr>
            <a:r>
              <a:rPr lang="en-US" sz="650" dirty="0">
                <a:solidFill>
                  <a:srgbClr val="C7D2FE"/>
                </a:solidFill>
              </a:rPr>
              <a:t>New</a:t>
            </a:r>
            <a:endParaRPr lang="en-US" sz="650" dirty="0"/>
          </a:p>
        </p:txBody>
      </p:sp>
      <p:sp>
        <p:nvSpPr>
          <p:cNvPr id="19" name="Shape 16"/>
          <p:cNvSpPr/>
          <p:nvPr/>
        </p:nvSpPr>
        <p:spPr>
          <a:xfrm>
            <a:off x="7077456" y="901964"/>
            <a:ext cx="841248" cy="134600"/>
          </a:xfrm>
          <a:prstGeom prst="roundRect">
            <a:avLst>
              <a:gd name="adj" fmla="val 20380"/>
            </a:avLst>
          </a:prstGeom>
          <a:solidFill>
            <a:srgbClr val="FFFFFF"/>
          </a:solidFill>
          <a:ln w="12700">
            <a:solidFill>
              <a:srgbClr val="FFFFFF"/>
            </a:solidFill>
            <a:prstDash val="solid"/>
          </a:ln>
        </p:spPr>
      </p:sp>
      <p:sp>
        <p:nvSpPr>
          <p:cNvPr id="20" name="Text 17"/>
          <p:cNvSpPr txBox="1"/>
          <p:nvPr/>
        </p:nvSpPr>
        <p:spPr>
          <a:xfrm>
            <a:off x="7132320" y="901964"/>
            <a:ext cx="731520" cy="134600"/>
          </a:xfrm>
          <a:prstGeom prst="rect">
            <a:avLst/>
          </a:prstGeom>
          <a:noFill/>
          <a:ln/>
        </p:spPr>
        <p:txBody>
          <a:bodyPr wrap="square" lIns="0" tIns="0" rIns="0" bIns="0" rtlCol="0" anchor="ctr"/>
          <a:lstStyle/>
          <a:p>
            <a:pPr marL="0" indent="0">
              <a:buNone/>
            </a:pPr>
            <a:r>
              <a:rPr lang="en-US" sz="700" dirty="0">
                <a:solidFill>
                  <a:srgbClr val="6B7280"/>
                </a:solidFill>
              </a:rPr>
              <a:t>Search products</a:t>
            </a:r>
            <a:endParaRPr lang="en-US" sz="700" dirty="0"/>
          </a:p>
        </p:txBody>
      </p:sp>
      <p:sp>
        <p:nvSpPr>
          <p:cNvPr id="21" name="Shape 18"/>
          <p:cNvSpPr/>
          <p:nvPr/>
        </p:nvSpPr>
        <p:spPr>
          <a:xfrm>
            <a:off x="8028432" y="910742"/>
            <a:ext cx="117043" cy="117043"/>
          </a:xfrm>
          <a:prstGeom prst="ellipse">
            <a:avLst/>
          </a:prstGeom>
          <a:solidFill>
            <a:srgbClr val="FFFFFF"/>
          </a:solidFill>
          <a:ln w="12700">
            <a:solidFill>
              <a:srgbClr val="FFFFFF"/>
            </a:solidFill>
            <a:prstDash val="solid"/>
          </a:ln>
        </p:spPr>
      </p:sp>
      <p:sp>
        <p:nvSpPr>
          <p:cNvPr id="22" name="Shape 19"/>
          <p:cNvSpPr/>
          <p:nvPr/>
        </p:nvSpPr>
        <p:spPr>
          <a:xfrm>
            <a:off x="4773168" y="1203350"/>
            <a:ext cx="3438144" cy="877824"/>
          </a:xfrm>
          <a:prstGeom prst="roundRect">
            <a:avLst>
              <a:gd name="adj" fmla="val 4167"/>
            </a:avLst>
          </a:prstGeom>
          <a:solidFill>
            <a:srgbClr val="E6ECFF"/>
          </a:solidFill>
          <a:ln w="12700">
            <a:solidFill>
              <a:srgbClr val="E6ECFF"/>
            </a:solidFill>
            <a:prstDash val="solid"/>
          </a:ln>
        </p:spPr>
      </p:sp>
      <p:sp>
        <p:nvSpPr>
          <p:cNvPr id="23" name="Shape 20"/>
          <p:cNvSpPr/>
          <p:nvPr/>
        </p:nvSpPr>
        <p:spPr>
          <a:xfrm>
            <a:off x="7150608" y="1261872"/>
            <a:ext cx="760781" cy="760781"/>
          </a:xfrm>
          <a:prstGeom prst="ellipse">
            <a:avLst/>
          </a:prstGeom>
          <a:solidFill>
            <a:srgbClr val="2F5BFF">
              <a:alpha val="30000"/>
            </a:srgbClr>
          </a:solidFill>
          <a:ln w="12700">
            <a:solidFill>
              <a:srgbClr val="2F5BFF"/>
            </a:solidFill>
            <a:prstDash val="solid"/>
          </a:ln>
        </p:spPr>
      </p:sp>
      <p:sp>
        <p:nvSpPr>
          <p:cNvPr id="24" name="Shape 21"/>
          <p:cNvSpPr/>
          <p:nvPr/>
        </p:nvSpPr>
        <p:spPr>
          <a:xfrm>
            <a:off x="7516368" y="1408176"/>
            <a:ext cx="585216" cy="585216"/>
          </a:xfrm>
          <a:prstGeom prst="ellipse">
            <a:avLst/>
          </a:prstGeom>
          <a:solidFill>
            <a:srgbClr val="F472B6">
              <a:alpha val="40000"/>
            </a:srgbClr>
          </a:solidFill>
          <a:ln w="12700">
            <a:solidFill>
              <a:srgbClr val="F472B6"/>
            </a:solidFill>
            <a:prstDash val="solid"/>
          </a:ln>
        </p:spPr>
      </p:sp>
      <p:sp>
        <p:nvSpPr>
          <p:cNvPr id="25" name="Text 22"/>
          <p:cNvSpPr txBox="1"/>
          <p:nvPr/>
        </p:nvSpPr>
        <p:spPr>
          <a:xfrm>
            <a:off x="4919472" y="1320394"/>
            <a:ext cx="1828800" cy="351130"/>
          </a:xfrm>
          <a:prstGeom prst="rect">
            <a:avLst/>
          </a:prstGeom>
          <a:noFill/>
          <a:ln/>
        </p:spPr>
        <p:txBody>
          <a:bodyPr wrap="square" lIns="0" tIns="0" rIns="0" bIns="0" rtlCol="0" anchor="t"/>
          <a:lstStyle/>
          <a:p>
            <a:pPr marL="0" indent="0">
              <a:buNone/>
            </a:pPr>
            <a:r>
              <a:rPr lang="en-US" sz="1350" b="1" dirty="0">
                <a:solidFill>
                  <a:srgbClr val="0B1F4B"/>
                </a:solidFill>
                <a:latin typeface="Georgia" pitchFamily="34" charset="0"/>
                <a:ea typeface="Georgia" pitchFamily="34" charset="-122"/>
                <a:cs typeface="Georgia" pitchFamily="34" charset="-120"/>
              </a:rPr>
              <a:t>Find what you need, faster</a:t>
            </a:r>
            <a:endParaRPr lang="en-US" sz="1350" dirty="0"/>
          </a:p>
        </p:txBody>
      </p:sp>
      <p:sp>
        <p:nvSpPr>
          <p:cNvPr id="26" name="Text 23"/>
          <p:cNvSpPr txBox="1"/>
          <p:nvPr/>
        </p:nvSpPr>
        <p:spPr>
          <a:xfrm>
            <a:off x="4919472" y="1700784"/>
            <a:ext cx="1645920" cy="146304"/>
          </a:xfrm>
          <a:prstGeom prst="rect">
            <a:avLst/>
          </a:prstGeom>
          <a:noFill/>
          <a:ln/>
        </p:spPr>
        <p:txBody>
          <a:bodyPr wrap="square" lIns="0" tIns="0" rIns="0" bIns="0" rtlCol="0" anchor="t"/>
          <a:lstStyle/>
          <a:p>
            <a:pPr marL="0" indent="0">
              <a:buNone/>
            </a:pPr>
            <a:r>
              <a:rPr lang="en-US" sz="700" dirty="0">
                <a:solidFill>
                  <a:srgbClr val="6B7280"/>
                </a:solidFill>
              </a:rPr>
              <a:t>Browse categories and compare products with ease.</a:t>
            </a:r>
            <a:endParaRPr lang="en-US" sz="700" dirty="0"/>
          </a:p>
        </p:txBody>
      </p:sp>
      <p:sp>
        <p:nvSpPr>
          <p:cNvPr id="27" name="Shape 24"/>
          <p:cNvSpPr/>
          <p:nvPr/>
        </p:nvSpPr>
        <p:spPr>
          <a:xfrm>
            <a:off x="4919472" y="1861718"/>
            <a:ext cx="621792" cy="160934"/>
          </a:xfrm>
          <a:prstGeom prst="roundRect">
            <a:avLst>
              <a:gd name="adj" fmla="val 17045"/>
            </a:avLst>
          </a:prstGeom>
          <a:solidFill>
            <a:srgbClr val="2F5BFF"/>
          </a:solidFill>
          <a:ln w="12700">
            <a:solidFill>
              <a:srgbClr val="2F5BFF"/>
            </a:solidFill>
            <a:prstDash val="solid"/>
          </a:ln>
        </p:spPr>
      </p:sp>
      <p:sp>
        <p:nvSpPr>
          <p:cNvPr id="28" name="Text 25"/>
          <p:cNvSpPr txBox="1"/>
          <p:nvPr/>
        </p:nvSpPr>
        <p:spPr>
          <a:xfrm>
            <a:off x="4919472" y="1861718"/>
            <a:ext cx="621792" cy="160934"/>
          </a:xfrm>
          <a:prstGeom prst="rect">
            <a:avLst/>
          </a:prstGeom>
          <a:noFill/>
          <a:ln/>
        </p:spPr>
        <p:txBody>
          <a:bodyPr wrap="square" lIns="0" tIns="0" rIns="0" bIns="0" rtlCol="0" anchor="ctr"/>
          <a:lstStyle/>
          <a:p>
            <a:pPr marL="0" indent="0" algn="ctr">
              <a:buNone/>
            </a:pPr>
            <a:r>
              <a:rPr lang="en-US" sz="750" b="1" dirty="0">
                <a:solidFill>
                  <a:srgbClr val="FFFFFF"/>
                </a:solidFill>
              </a:rPr>
              <a:t>Shop now</a:t>
            </a:r>
            <a:endParaRPr lang="en-US" sz="750" dirty="0"/>
          </a:p>
        </p:txBody>
      </p:sp>
      <p:sp>
        <p:nvSpPr>
          <p:cNvPr id="29" name="Text 26"/>
          <p:cNvSpPr txBox="1"/>
          <p:nvPr/>
        </p:nvSpPr>
        <p:spPr>
          <a:xfrm>
            <a:off x="4773168" y="2154326"/>
            <a:ext cx="804672" cy="146304"/>
          </a:xfrm>
          <a:prstGeom prst="rect">
            <a:avLst/>
          </a:prstGeom>
          <a:noFill/>
          <a:ln/>
        </p:spPr>
        <p:txBody>
          <a:bodyPr wrap="square" lIns="0" tIns="0" rIns="0" bIns="0" rtlCol="0" anchor="t"/>
          <a:lstStyle/>
          <a:p>
            <a:pPr marL="0" indent="0" algn="ctr">
              <a:buNone/>
            </a:pPr>
            <a:r>
              <a:rPr lang="en-US" sz="700" dirty="0">
                <a:solidFill>
                  <a:srgbClr val="6B7280"/>
                </a:solidFill>
              </a:rPr>
              <a:t>Free delivery</a:t>
            </a:r>
            <a:endParaRPr lang="en-US" sz="700" dirty="0"/>
          </a:p>
        </p:txBody>
      </p:sp>
      <p:sp>
        <p:nvSpPr>
          <p:cNvPr id="30" name="Text 27"/>
          <p:cNvSpPr txBox="1"/>
          <p:nvPr/>
        </p:nvSpPr>
        <p:spPr>
          <a:xfrm>
            <a:off x="5632704" y="2154326"/>
            <a:ext cx="804672" cy="146304"/>
          </a:xfrm>
          <a:prstGeom prst="rect">
            <a:avLst/>
          </a:prstGeom>
          <a:noFill/>
          <a:ln/>
        </p:spPr>
        <p:txBody>
          <a:bodyPr wrap="square" lIns="0" tIns="0" rIns="0" bIns="0" rtlCol="0" anchor="t"/>
          <a:lstStyle/>
          <a:p>
            <a:pPr marL="0" indent="0" algn="ctr">
              <a:buNone/>
            </a:pPr>
            <a:r>
              <a:rPr lang="en-US" sz="700" dirty="0">
                <a:solidFill>
                  <a:srgbClr val="6B7280"/>
                </a:solidFill>
              </a:rPr>
              <a:t>Easy returns</a:t>
            </a:r>
            <a:endParaRPr lang="en-US" sz="700" dirty="0"/>
          </a:p>
        </p:txBody>
      </p:sp>
      <p:sp>
        <p:nvSpPr>
          <p:cNvPr id="31" name="Text 28"/>
          <p:cNvSpPr txBox="1"/>
          <p:nvPr/>
        </p:nvSpPr>
        <p:spPr>
          <a:xfrm>
            <a:off x="6492240" y="2154326"/>
            <a:ext cx="804672" cy="146304"/>
          </a:xfrm>
          <a:prstGeom prst="rect">
            <a:avLst/>
          </a:prstGeom>
          <a:noFill/>
          <a:ln/>
        </p:spPr>
        <p:txBody>
          <a:bodyPr wrap="square" lIns="0" tIns="0" rIns="0" bIns="0" rtlCol="0" anchor="t"/>
          <a:lstStyle/>
          <a:p>
            <a:pPr marL="0" indent="0" algn="ctr">
              <a:buNone/>
            </a:pPr>
            <a:r>
              <a:rPr lang="en-US" sz="700" dirty="0">
                <a:solidFill>
                  <a:srgbClr val="6B7280"/>
                </a:solidFill>
              </a:rPr>
              <a:t>Secure payment</a:t>
            </a:r>
            <a:endParaRPr lang="en-US" sz="700" dirty="0"/>
          </a:p>
        </p:txBody>
      </p:sp>
      <p:sp>
        <p:nvSpPr>
          <p:cNvPr id="32" name="Text 29"/>
          <p:cNvSpPr txBox="1"/>
          <p:nvPr/>
        </p:nvSpPr>
        <p:spPr>
          <a:xfrm>
            <a:off x="7351776" y="2154326"/>
            <a:ext cx="804672" cy="146304"/>
          </a:xfrm>
          <a:prstGeom prst="rect">
            <a:avLst/>
          </a:prstGeom>
          <a:noFill/>
          <a:ln/>
        </p:spPr>
        <p:txBody>
          <a:bodyPr wrap="square" lIns="0" tIns="0" rIns="0" bIns="0" rtlCol="0" anchor="t"/>
          <a:lstStyle/>
          <a:p>
            <a:pPr marL="0" indent="0" algn="ctr">
              <a:buNone/>
            </a:pPr>
            <a:r>
              <a:rPr lang="en-US" sz="700" dirty="0">
                <a:solidFill>
                  <a:srgbClr val="6B7280"/>
                </a:solidFill>
              </a:rPr>
              <a:t>Support</a:t>
            </a:r>
            <a:endParaRPr lang="en-US" sz="700" dirty="0"/>
          </a:p>
        </p:txBody>
      </p:sp>
      <p:sp>
        <p:nvSpPr>
          <p:cNvPr id="33" name="Text 30"/>
          <p:cNvSpPr txBox="1"/>
          <p:nvPr/>
        </p:nvSpPr>
        <p:spPr>
          <a:xfrm>
            <a:off x="4773168" y="2373782"/>
            <a:ext cx="1828800" cy="146304"/>
          </a:xfrm>
          <a:prstGeom prst="rect">
            <a:avLst/>
          </a:prstGeom>
          <a:noFill/>
          <a:ln/>
        </p:spPr>
        <p:txBody>
          <a:bodyPr wrap="square" lIns="0" tIns="0" rIns="0" bIns="0" rtlCol="0" anchor="t"/>
          <a:lstStyle/>
          <a:p>
            <a:pPr marL="0" indent="0">
              <a:buNone/>
            </a:pPr>
            <a:r>
              <a:rPr lang="en-US" sz="850" b="1" dirty="0">
                <a:solidFill>
                  <a:srgbClr val="0B1F4B"/>
                </a:solidFill>
              </a:rPr>
              <a:t>Shop by category</a:t>
            </a:r>
            <a:endParaRPr lang="en-US" sz="850" dirty="0"/>
          </a:p>
        </p:txBody>
      </p:sp>
      <p:sp>
        <p:nvSpPr>
          <p:cNvPr id="34" name="Shape 31"/>
          <p:cNvSpPr/>
          <p:nvPr/>
        </p:nvSpPr>
        <p:spPr>
          <a:xfrm>
            <a:off x="4773168" y="2563978"/>
            <a:ext cx="822960" cy="292608"/>
          </a:xfrm>
          <a:prstGeom prst="roundRect">
            <a:avLst>
              <a:gd name="adj" fmla="val 9375"/>
            </a:avLst>
          </a:prstGeom>
          <a:solidFill>
            <a:srgbClr val="F4F6FB"/>
          </a:solidFill>
          <a:ln w="9525">
            <a:solidFill>
              <a:srgbClr val="DDE3F0"/>
            </a:solidFill>
            <a:prstDash val="solid"/>
          </a:ln>
        </p:spPr>
      </p:sp>
      <p:sp>
        <p:nvSpPr>
          <p:cNvPr id="35" name="Shape 32"/>
          <p:cNvSpPr/>
          <p:nvPr/>
        </p:nvSpPr>
        <p:spPr>
          <a:xfrm>
            <a:off x="4846320" y="2622499"/>
            <a:ext cx="175565" cy="175565"/>
          </a:xfrm>
          <a:prstGeom prst="ellipse">
            <a:avLst/>
          </a:prstGeom>
          <a:solidFill>
            <a:srgbClr val="C7D2FE"/>
          </a:solidFill>
          <a:ln w="12700">
            <a:solidFill>
              <a:srgbClr val="C7D2FE"/>
            </a:solidFill>
            <a:prstDash val="solid"/>
          </a:ln>
        </p:spPr>
      </p:sp>
      <p:sp>
        <p:nvSpPr>
          <p:cNvPr id="36" name="Text 33"/>
          <p:cNvSpPr txBox="1"/>
          <p:nvPr/>
        </p:nvSpPr>
        <p:spPr>
          <a:xfrm>
            <a:off x="5029200" y="2563978"/>
            <a:ext cx="548640" cy="292608"/>
          </a:xfrm>
          <a:prstGeom prst="rect">
            <a:avLst/>
          </a:prstGeom>
          <a:noFill/>
          <a:ln/>
        </p:spPr>
        <p:txBody>
          <a:bodyPr wrap="square" lIns="0" tIns="0" rIns="0" bIns="0" rtlCol="0" anchor="ctr"/>
          <a:lstStyle/>
          <a:p>
            <a:pPr marL="0" indent="0">
              <a:buNone/>
            </a:pPr>
            <a:r>
              <a:rPr lang="en-US" sz="750" dirty="0">
                <a:solidFill>
                  <a:srgbClr val="1F2937"/>
                </a:solidFill>
              </a:rPr>
              <a:t>Fashion</a:t>
            </a:r>
            <a:endParaRPr lang="en-US" sz="750" dirty="0"/>
          </a:p>
        </p:txBody>
      </p:sp>
      <p:sp>
        <p:nvSpPr>
          <p:cNvPr id="37" name="Shape 34"/>
          <p:cNvSpPr/>
          <p:nvPr/>
        </p:nvSpPr>
        <p:spPr>
          <a:xfrm>
            <a:off x="5660136" y="2563978"/>
            <a:ext cx="822960" cy="292608"/>
          </a:xfrm>
          <a:prstGeom prst="roundRect">
            <a:avLst>
              <a:gd name="adj" fmla="val 9375"/>
            </a:avLst>
          </a:prstGeom>
          <a:solidFill>
            <a:srgbClr val="F4F6FB"/>
          </a:solidFill>
          <a:ln w="9525">
            <a:solidFill>
              <a:srgbClr val="DDE3F0"/>
            </a:solidFill>
            <a:prstDash val="solid"/>
          </a:ln>
        </p:spPr>
      </p:sp>
      <p:sp>
        <p:nvSpPr>
          <p:cNvPr id="38" name="Shape 35"/>
          <p:cNvSpPr/>
          <p:nvPr/>
        </p:nvSpPr>
        <p:spPr>
          <a:xfrm>
            <a:off x="5733288" y="2622499"/>
            <a:ext cx="175565" cy="175565"/>
          </a:xfrm>
          <a:prstGeom prst="ellipse">
            <a:avLst/>
          </a:prstGeom>
          <a:solidFill>
            <a:srgbClr val="FBCFE8"/>
          </a:solidFill>
          <a:ln w="12700">
            <a:solidFill>
              <a:srgbClr val="FBCFE8"/>
            </a:solidFill>
            <a:prstDash val="solid"/>
          </a:ln>
        </p:spPr>
      </p:sp>
      <p:sp>
        <p:nvSpPr>
          <p:cNvPr id="39" name="Text 36"/>
          <p:cNvSpPr txBox="1"/>
          <p:nvPr/>
        </p:nvSpPr>
        <p:spPr>
          <a:xfrm>
            <a:off x="5916168" y="2563978"/>
            <a:ext cx="548640" cy="292608"/>
          </a:xfrm>
          <a:prstGeom prst="rect">
            <a:avLst/>
          </a:prstGeom>
          <a:noFill/>
          <a:ln/>
        </p:spPr>
        <p:txBody>
          <a:bodyPr wrap="square" lIns="0" tIns="0" rIns="0" bIns="0" rtlCol="0" anchor="ctr"/>
          <a:lstStyle/>
          <a:p>
            <a:pPr marL="0" indent="0">
              <a:buNone/>
            </a:pPr>
            <a:r>
              <a:rPr lang="en-US" sz="750" dirty="0">
                <a:solidFill>
                  <a:srgbClr val="1F2937"/>
                </a:solidFill>
              </a:rPr>
              <a:t>Electronics</a:t>
            </a:r>
            <a:endParaRPr lang="en-US" sz="750" dirty="0"/>
          </a:p>
        </p:txBody>
      </p:sp>
      <p:sp>
        <p:nvSpPr>
          <p:cNvPr id="40" name="Shape 37"/>
          <p:cNvSpPr/>
          <p:nvPr/>
        </p:nvSpPr>
        <p:spPr>
          <a:xfrm>
            <a:off x="6547104" y="2563978"/>
            <a:ext cx="822960" cy="292608"/>
          </a:xfrm>
          <a:prstGeom prst="roundRect">
            <a:avLst>
              <a:gd name="adj" fmla="val 9375"/>
            </a:avLst>
          </a:prstGeom>
          <a:solidFill>
            <a:srgbClr val="F4F6FB"/>
          </a:solidFill>
          <a:ln w="9525">
            <a:solidFill>
              <a:srgbClr val="DDE3F0"/>
            </a:solidFill>
            <a:prstDash val="solid"/>
          </a:ln>
        </p:spPr>
      </p:sp>
      <p:sp>
        <p:nvSpPr>
          <p:cNvPr id="41" name="Shape 38"/>
          <p:cNvSpPr/>
          <p:nvPr/>
        </p:nvSpPr>
        <p:spPr>
          <a:xfrm>
            <a:off x="6620256" y="2622499"/>
            <a:ext cx="175565" cy="175565"/>
          </a:xfrm>
          <a:prstGeom prst="ellipse">
            <a:avLst/>
          </a:prstGeom>
          <a:solidFill>
            <a:srgbClr val="BFDBFE"/>
          </a:solidFill>
          <a:ln w="12700">
            <a:solidFill>
              <a:srgbClr val="BFDBFE"/>
            </a:solidFill>
            <a:prstDash val="solid"/>
          </a:ln>
        </p:spPr>
      </p:sp>
      <p:sp>
        <p:nvSpPr>
          <p:cNvPr id="42" name="Text 39"/>
          <p:cNvSpPr txBox="1"/>
          <p:nvPr/>
        </p:nvSpPr>
        <p:spPr>
          <a:xfrm>
            <a:off x="6803136" y="2563978"/>
            <a:ext cx="548640" cy="292608"/>
          </a:xfrm>
          <a:prstGeom prst="rect">
            <a:avLst/>
          </a:prstGeom>
          <a:noFill/>
          <a:ln/>
        </p:spPr>
        <p:txBody>
          <a:bodyPr wrap="square" lIns="0" tIns="0" rIns="0" bIns="0" rtlCol="0" anchor="ctr"/>
          <a:lstStyle/>
          <a:p>
            <a:pPr marL="0" indent="0">
              <a:buNone/>
            </a:pPr>
            <a:r>
              <a:rPr lang="en-US" sz="750" dirty="0">
                <a:solidFill>
                  <a:srgbClr val="1F2937"/>
                </a:solidFill>
              </a:rPr>
              <a:t>Home</a:t>
            </a:r>
            <a:endParaRPr lang="en-US" sz="750" dirty="0"/>
          </a:p>
        </p:txBody>
      </p:sp>
      <p:sp>
        <p:nvSpPr>
          <p:cNvPr id="43" name="Shape 40"/>
          <p:cNvSpPr/>
          <p:nvPr/>
        </p:nvSpPr>
        <p:spPr>
          <a:xfrm>
            <a:off x="7434072" y="2563978"/>
            <a:ext cx="822960" cy="292608"/>
          </a:xfrm>
          <a:prstGeom prst="roundRect">
            <a:avLst>
              <a:gd name="adj" fmla="val 9375"/>
            </a:avLst>
          </a:prstGeom>
          <a:solidFill>
            <a:srgbClr val="F4F6FB"/>
          </a:solidFill>
          <a:ln w="9525">
            <a:solidFill>
              <a:srgbClr val="DDE3F0"/>
            </a:solidFill>
            <a:prstDash val="solid"/>
          </a:ln>
        </p:spPr>
      </p:sp>
      <p:sp>
        <p:nvSpPr>
          <p:cNvPr id="44" name="Shape 41"/>
          <p:cNvSpPr/>
          <p:nvPr/>
        </p:nvSpPr>
        <p:spPr>
          <a:xfrm>
            <a:off x="7507224" y="2622499"/>
            <a:ext cx="175565" cy="175565"/>
          </a:xfrm>
          <a:prstGeom prst="ellipse">
            <a:avLst/>
          </a:prstGeom>
          <a:solidFill>
            <a:srgbClr val="DDD6FE"/>
          </a:solidFill>
          <a:ln w="12700">
            <a:solidFill>
              <a:srgbClr val="DDD6FE"/>
            </a:solidFill>
            <a:prstDash val="solid"/>
          </a:ln>
        </p:spPr>
      </p:sp>
      <p:sp>
        <p:nvSpPr>
          <p:cNvPr id="45" name="Text 42"/>
          <p:cNvSpPr txBox="1"/>
          <p:nvPr/>
        </p:nvSpPr>
        <p:spPr>
          <a:xfrm>
            <a:off x="7690104" y="2563978"/>
            <a:ext cx="548640" cy="292608"/>
          </a:xfrm>
          <a:prstGeom prst="rect">
            <a:avLst/>
          </a:prstGeom>
          <a:noFill/>
          <a:ln/>
        </p:spPr>
        <p:txBody>
          <a:bodyPr wrap="square" lIns="0" tIns="0" rIns="0" bIns="0" rtlCol="0" anchor="ctr"/>
          <a:lstStyle/>
          <a:p>
            <a:pPr marL="0" indent="0">
              <a:buNone/>
            </a:pPr>
            <a:r>
              <a:rPr lang="en-US" sz="750" dirty="0">
                <a:solidFill>
                  <a:srgbClr val="1F2937"/>
                </a:solidFill>
              </a:rPr>
              <a:t>Beauty</a:t>
            </a:r>
            <a:endParaRPr lang="en-US" sz="750" dirty="0"/>
          </a:p>
        </p:txBody>
      </p:sp>
      <p:sp>
        <p:nvSpPr>
          <p:cNvPr id="46" name="Text 43"/>
          <p:cNvSpPr txBox="1"/>
          <p:nvPr/>
        </p:nvSpPr>
        <p:spPr>
          <a:xfrm>
            <a:off x="4773168" y="2944368"/>
            <a:ext cx="1828800" cy="146304"/>
          </a:xfrm>
          <a:prstGeom prst="rect">
            <a:avLst/>
          </a:prstGeom>
          <a:noFill/>
          <a:ln/>
        </p:spPr>
        <p:txBody>
          <a:bodyPr wrap="square" lIns="0" tIns="0" rIns="0" bIns="0" rtlCol="0" anchor="t"/>
          <a:lstStyle/>
          <a:p>
            <a:pPr marL="0" indent="0">
              <a:buNone/>
            </a:pPr>
            <a:r>
              <a:rPr lang="en-US" sz="850" b="1" dirty="0">
                <a:solidFill>
                  <a:srgbClr val="0B1F4B"/>
                </a:solidFill>
              </a:rPr>
              <a:t>Featured products</a:t>
            </a:r>
            <a:endParaRPr lang="en-US" sz="850" dirty="0"/>
          </a:p>
        </p:txBody>
      </p:sp>
      <p:sp>
        <p:nvSpPr>
          <p:cNvPr id="47" name="Shape 44"/>
          <p:cNvSpPr/>
          <p:nvPr/>
        </p:nvSpPr>
        <p:spPr>
          <a:xfrm>
            <a:off x="4773168" y="3119933"/>
            <a:ext cx="822960" cy="292608"/>
          </a:xfrm>
          <a:prstGeom prst="roundRect">
            <a:avLst>
              <a:gd name="adj" fmla="val 9375"/>
            </a:avLst>
          </a:prstGeom>
          <a:solidFill>
            <a:srgbClr val="C7D2FE"/>
          </a:solidFill>
          <a:ln w="12700">
            <a:solidFill>
              <a:srgbClr val="C7D2FE"/>
            </a:solidFill>
            <a:prstDash val="solid"/>
          </a:ln>
        </p:spPr>
      </p:sp>
      <p:sp>
        <p:nvSpPr>
          <p:cNvPr id="48" name="Text 45"/>
          <p:cNvSpPr txBox="1"/>
          <p:nvPr/>
        </p:nvSpPr>
        <p:spPr>
          <a:xfrm>
            <a:off x="4773168" y="3456432"/>
            <a:ext cx="822960" cy="117043"/>
          </a:xfrm>
          <a:prstGeom prst="rect">
            <a:avLst/>
          </a:prstGeom>
          <a:noFill/>
          <a:ln/>
        </p:spPr>
        <p:txBody>
          <a:bodyPr wrap="square" lIns="0" tIns="0" rIns="0" bIns="0" rtlCol="0" anchor="t"/>
          <a:lstStyle/>
          <a:p>
            <a:pPr marL="0" indent="0">
              <a:buNone/>
            </a:pPr>
            <a:r>
              <a:rPr lang="en-US" sz="700" dirty="0">
                <a:solidFill>
                  <a:srgbClr val="1F2937"/>
                </a:solidFill>
              </a:rPr>
              <a:t>Product name</a:t>
            </a:r>
            <a:endParaRPr lang="en-US" sz="700" dirty="0"/>
          </a:p>
        </p:txBody>
      </p:sp>
      <p:sp>
        <p:nvSpPr>
          <p:cNvPr id="49" name="Text 46"/>
          <p:cNvSpPr txBox="1"/>
          <p:nvPr/>
        </p:nvSpPr>
        <p:spPr>
          <a:xfrm>
            <a:off x="4773168" y="3588106"/>
            <a:ext cx="438912" cy="117043"/>
          </a:xfrm>
          <a:prstGeom prst="rect">
            <a:avLst/>
          </a:prstGeom>
          <a:noFill/>
          <a:ln/>
        </p:spPr>
        <p:txBody>
          <a:bodyPr wrap="square" lIns="0" tIns="0" rIns="0" bIns="0" rtlCol="0" anchor="t"/>
          <a:lstStyle/>
          <a:p>
            <a:pPr marL="0" indent="0">
              <a:buNone/>
            </a:pPr>
            <a:r>
              <a:rPr lang="en-US" sz="700" b="1" dirty="0">
                <a:solidFill>
                  <a:srgbClr val="0B1F4B"/>
                </a:solidFill>
              </a:rPr>
              <a:t>₹ Price</a:t>
            </a:r>
            <a:endParaRPr lang="en-US" sz="700" dirty="0"/>
          </a:p>
        </p:txBody>
      </p:sp>
      <p:sp>
        <p:nvSpPr>
          <p:cNvPr id="50" name="Shape 47"/>
          <p:cNvSpPr/>
          <p:nvPr/>
        </p:nvSpPr>
        <p:spPr>
          <a:xfrm>
            <a:off x="5321808" y="3588106"/>
            <a:ext cx="274320" cy="117043"/>
          </a:xfrm>
          <a:prstGeom prst="roundRect">
            <a:avLst>
              <a:gd name="adj" fmla="val 15625"/>
            </a:avLst>
          </a:prstGeom>
          <a:solidFill>
            <a:srgbClr val="2F5BFF"/>
          </a:solidFill>
          <a:ln w="12700">
            <a:solidFill>
              <a:srgbClr val="2F5BFF"/>
            </a:solidFill>
            <a:prstDash val="solid"/>
          </a:ln>
        </p:spPr>
      </p:sp>
      <p:sp>
        <p:nvSpPr>
          <p:cNvPr id="51" name="Shape 48"/>
          <p:cNvSpPr/>
          <p:nvPr/>
        </p:nvSpPr>
        <p:spPr>
          <a:xfrm>
            <a:off x="5660136" y="3119933"/>
            <a:ext cx="822960" cy="292608"/>
          </a:xfrm>
          <a:prstGeom prst="roundRect">
            <a:avLst>
              <a:gd name="adj" fmla="val 9375"/>
            </a:avLst>
          </a:prstGeom>
          <a:solidFill>
            <a:srgbClr val="FBCFE8"/>
          </a:solidFill>
          <a:ln w="12700">
            <a:solidFill>
              <a:srgbClr val="FBCFE8"/>
            </a:solidFill>
            <a:prstDash val="solid"/>
          </a:ln>
        </p:spPr>
      </p:sp>
      <p:sp>
        <p:nvSpPr>
          <p:cNvPr id="52" name="Text 49"/>
          <p:cNvSpPr txBox="1"/>
          <p:nvPr/>
        </p:nvSpPr>
        <p:spPr>
          <a:xfrm>
            <a:off x="5660136" y="3456432"/>
            <a:ext cx="822960" cy="117043"/>
          </a:xfrm>
          <a:prstGeom prst="rect">
            <a:avLst/>
          </a:prstGeom>
          <a:noFill/>
          <a:ln/>
        </p:spPr>
        <p:txBody>
          <a:bodyPr wrap="square" lIns="0" tIns="0" rIns="0" bIns="0" rtlCol="0" anchor="t"/>
          <a:lstStyle/>
          <a:p>
            <a:pPr marL="0" indent="0">
              <a:buNone/>
            </a:pPr>
            <a:r>
              <a:rPr lang="en-US" sz="700" dirty="0">
                <a:solidFill>
                  <a:srgbClr val="1F2937"/>
                </a:solidFill>
              </a:rPr>
              <a:t>Product name</a:t>
            </a:r>
            <a:endParaRPr lang="en-US" sz="700" dirty="0"/>
          </a:p>
        </p:txBody>
      </p:sp>
      <p:sp>
        <p:nvSpPr>
          <p:cNvPr id="53" name="Text 50"/>
          <p:cNvSpPr txBox="1"/>
          <p:nvPr/>
        </p:nvSpPr>
        <p:spPr>
          <a:xfrm>
            <a:off x="5660136" y="3588106"/>
            <a:ext cx="438912" cy="117043"/>
          </a:xfrm>
          <a:prstGeom prst="rect">
            <a:avLst/>
          </a:prstGeom>
          <a:noFill/>
          <a:ln/>
        </p:spPr>
        <p:txBody>
          <a:bodyPr wrap="square" lIns="0" tIns="0" rIns="0" bIns="0" rtlCol="0" anchor="t"/>
          <a:lstStyle/>
          <a:p>
            <a:pPr marL="0" indent="0">
              <a:buNone/>
            </a:pPr>
            <a:r>
              <a:rPr lang="en-US" sz="700" b="1" dirty="0">
                <a:solidFill>
                  <a:srgbClr val="0B1F4B"/>
                </a:solidFill>
              </a:rPr>
              <a:t>₹ Price</a:t>
            </a:r>
            <a:endParaRPr lang="en-US" sz="700" dirty="0"/>
          </a:p>
        </p:txBody>
      </p:sp>
      <p:sp>
        <p:nvSpPr>
          <p:cNvPr id="54" name="Shape 51"/>
          <p:cNvSpPr/>
          <p:nvPr/>
        </p:nvSpPr>
        <p:spPr>
          <a:xfrm>
            <a:off x="6208776" y="3588106"/>
            <a:ext cx="274320" cy="117043"/>
          </a:xfrm>
          <a:prstGeom prst="roundRect">
            <a:avLst>
              <a:gd name="adj" fmla="val 15625"/>
            </a:avLst>
          </a:prstGeom>
          <a:solidFill>
            <a:srgbClr val="2F5BFF"/>
          </a:solidFill>
          <a:ln w="12700">
            <a:solidFill>
              <a:srgbClr val="2F5BFF"/>
            </a:solidFill>
            <a:prstDash val="solid"/>
          </a:ln>
        </p:spPr>
      </p:sp>
      <p:sp>
        <p:nvSpPr>
          <p:cNvPr id="55" name="Shape 52"/>
          <p:cNvSpPr/>
          <p:nvPr/>
        </p:nvSpPr>
        <p:spPr>
          <a:xfrm>
            <a:off x="6547104" y="3119933"/>
            <a:ext cx="822960" cy="292608"/>
          </a:xfrm>
          <a:prstGeom prst="roundRect">
            <a:avLst>
              <a:gd name="adj" fmla="val 9375"/>
            </a:avLst>
          </a:prstGeom>
          <a:solidFill>
            <a:srgbClr val="BFDBFE"/>
          </a:solidFill>
          <a:ln w="12700">
            <a:solidFill>
              <a:srgbClr val="BFDBFE"/>
            </a:solidFill>
            <a:prstDash val="solid"/>
          </a:ln>
        </p:spPr>
      </p:sp>
      <p:sp>
        <p:nvSpPr>
          <p:cNvPr id="56" name="Text 53"/>
          <p:cNvSpPr txBox="1"/>
          <p:nvPr/>
        </p:nvSpPr>
        <p:spPr>
          <a:xfrm>
            <a:off x="6547104" y="3456432"/>
            <a:ext cx="822960" cy="117043"/>
          </a:xfrm>
          <a:prstGeom prst="rect">
            <a:avLst/>
          </a:prstGeom>
          <a:noFill/>
          <a:ln/>
        </p:spPr>
        <p:txBody>
          <a:bodyPr wrap="square" lIns="0" tIns="0" rIns="0" bIns="0" rtlCol="0" anchor="t"/>
          <a:lstStyle/>
          <a:p>
            <a:pPr marL="0" indent="0">
              <a:buNone/>
            </a:pPr>
            <a:r>
              <a:rPr lang="en-US" sz="700" dirty="0">
                <a:solidFill>
                  <a:srgbClr val="1F2937"/>
                </a:solidFill>
              </a:rPr>
              <a:t>Product name</a:t>
            </a:r>
            <a:endParaRPr lang="en-US" sz="700" dirty="0"/>
          </a:p>
        </p:txBody>
      </p:sp>
      <p:sp>
        <p:nvSpPr>
          <p:cNvPr id="57" name="Text 54"/>
          <p:cNvSpPr txBox="1"/>
          <p:nvPr/>
        </p:nvSpPr>
        <p:spPr>
          <a:xfrm>
            <a:off x="6547104" y="3588106"/>
            <a:ext cx="438912" cy="117043"/>
          </a:xfrm>
          <a:prstGeom prst="rect">
            <a:avLst/>
          </a:prstGeom>
          <a:noFill/>
          <a:ln/>
        </p:spPr>
        <p:txBody>
          <a:bodyPr wrap="square" lIns="0" tIns="0" rIns="0" bIns="0" rtlCol="0" anchor="t"/>
          <a:lstStyle/>
          <a:p>
            <a:pPr marL="0" indent="0">
              <a:buNone/>
            </a:pPr>
            <a:r>
              <a:rPr lang="en-US" sz="700" b="1" dirty="0">
                <a:solidFill>
                  <a:srgbClr val="0B1F4B"/>
                </a:solidFill>
              </a:rPr>
              <a:t>₹ Price</a:t>
            </a:r>
            <a:endParaRPr lang="en-US" sz="700" dirty="0"/>
          </a:p>
        </p:txBody>
      </p:sp>
      <p:sp>
        <p:nvSpPr>
          <p:cNvPr id="58" name="Shape 55"/>
          <p:cNvSpPr/>
          <p:nvPr/>
        </p:nvSpPr>
        <p:spPr>
          <a:xfrm>
            <a:off x="7095744" y="3588106"/>
            <a:ext cx="274320" cy="117043"/>
          </a:xfrm>
          <a:prstGeom prst="roundRect">
            <a:avLst>
              <a:gd name="adj" fmla="val 15625"/>
            </a:avLst>
          </a:prstGeom>
          <a:solidFill>
            <a:srgbClr val="2F5BFF"/>
          </a:solidFill>
          <a:ln w="12700">
            <a:solidFill>
              <a:srgbClr val="2F5BFF"/>
            </a:solidFill>
            <a:prstDash val="solid"/>
          </a:ln>
        </p:spPr>
      </p:sp>
      <p:sp>
        <p:nvSpPr>
          <p:cNvPr id="59" name="Shape 56"/>
          <p:cNvSpPr/>
          <p:nvPr/>
        </p:nvSpPr>
        <p:spPr>
          <a:xfrm>
            <a:off x="7434072" y="3119933"/>
            <a:ext cx="822960" cy="292608"/>
          </a:xfrm>
          <a:prstGeom prst="roundRect">
            <a:avLst>
              <a:gd name="adj" fmla="val 9375"/>
            </a:avLst>
          </a:prstGeom>
          <a:solidFill>
            <a:srgbClr val="DDD6FE"/>
          </a:solidFill>
          <a:ln w="12700">
            <a:solidFill>
              <a:srgbClr val="DDD6FE"/>
            </a:solidFill>
            <a:prstDash val="solid"/>
          </a:ln>
        </p:spPr>
      </p:sp>
      <p:sp>
        <p:nvSpPr>
          <p:cNvPr id="60" name="Text 57"/>
          <p:cNvSpPr txBox="1"/>
          <p:nvPr/>
        </p:nvSpPr>
        <p:spPr>
          <a:xfrm>
            <a:off x="7434072" y="3456432"/>
            <a:ext cx="822960" cy="117043"/>
          </a:xfrm>
          <a:prstGeom prst="rect">
            <a:avLst/>
          </a:prstGeom>
          <a:noFill/>
          <a:ln/>
        </p:spPr>
        <p:txBody>
          <a:bodyPr wrap="square" lIns="0" tIns="0" rIns="0" bIns="0" rtlCol="0" anchor="t"/>
          <a:lstStyle/>
          <a:p>
            <a:pPr marL="0" indent="0">
              <a:buNone/>
            </a:pPr>
            <a:r>
              <a:rPr lang="en-US" sz="700" dirty="0">
                <a:solidFill>
                  <a:srgbClr val="1F2937"/>
                </a:solidFill>
              </a:rPr>
              <a:t>Product name</a:t>
            </a:r>
            <a:endParaRPr lang="en-US" sz="700" dirty="0"/>
          </a:p>
        </p:txBody>
      </p:sp>
      <p:sp>
        <p:nvSpPr>
          <p:cNvPr id="61" name="Text 58"/>
          <p:cNvSpPr txBox="1"/>
          <p:nvPr/>
        </p:nvSpPr>
        <p:spPr>
          <a:xfrm>
            <a:off x="7434072" y="3588106"/>
            <a:ext cx="438912" cy="117043"/>
          </a:xfrm>
          <a:prstGeom prst="rect">
            <a:avLst/>
          </a:prstGeom>
          <a:noFill/>
          <a:ln/>
        </p:spPr>
        <p:txBody>
          <a:bodyPr wrap="square" lIns="0" tIns="0" rIns="0" bIns="0" rtlCol="0" anchor="t"/>
          <a:lstStyle/>
          <a:p>
            <a:pPr marL="0" indent="0">
              <a:buNone/>
            </a:pPr>
            <a:r>
              <a:rPr lang="en-US" sz="700" b="1" dirty="0">
                <a:solidFill>
                  <a:srgbClr val="0B1F4B"/>
                </a:solidFill>
              </a:rPr>
              <a:t>₹ Price</a:t>
            </a:r>
            <a:endParaRPr lang="en-US" sz="700" dirty="0"/>
          </a:p>
        </p:txBody>
      </p:sp>
      <p:sp>
        <p:nvSpPr>
          <p:cNvPr id="62" name="Shape 59"/>
          <p:cNvSpPr/>
          <p:nvPr/>
        </p:nvSpPr>
        <p:spPr>
          <a:xfrm>
            <a:off x="7982712" y="3588106"/>
            <a:ext cx="274320" cy="117043"/>
          </a:xfrm>
          <a:prstGeom prst="roundRect">
            <a:avLst>
              <a:gd name="adj" fmla="val 15625"/>
            </a:avLst>
          </a:prstGeom>
          <a:solidFill>
            <a:srgbClr val="2F5BFF"/>
          </a:solidFill>
          <a:ln w="12700">
            <a:solidFill>
              <a:srgbClr val="2F5BFF"/>
            </a:solidFill>
            <a:prstDash val="solid"/>
          </a:ln>
        </p:spPr>
      </p:sp>
      <p:sp>
        <p:nvSpPr>
          <p:cNvPr id="63" name="Shape 60"/>
          <p:cNvSpPr/>
          <p:nvPr/>
        </p:nvSpPr>
        <p:spPr>
          <a:xfrm>
            <a:off x="7635240" y="1417320"/>
            <a:ext cx="1188720" cy="2560320"/>
          </a:xfrm>
          <a:prstGeom prst="roundRect">
            <a:avLst>
              <a:gd name="adj" fmla="val 10769"/>
            </a:avLst>
          </a:prstGeom>
          <a:solidFill>
            <a:srgbClr val="FFFFFF"/>
          </a:solidFill>
          <a:ln w="9525">
            <a:solidFill>
              <a:srgbClr val="1E293B"/>
            </a:solidFill>
            <a:prstDash val="solid"/>
          </a:ln>
          <a:effectLst>
            <a:outerShdw blurRad="101600" dist="25400" dir="5400000" algn="bl" rotWithShape="0">
              <a:srgbClr val="000000">
                <a:alpha val="14000"/>
              </a:srgbClr>
            </a:outerShdw>
          </a:effectLst>
        </p:spPr>
      </p:sp>
      <p:sp>
        <p:nvSpPr>
          <p:cNvPr id="64" name="Shape 61"/>
          <p:cNvSpPr/>
          <p:nvPr/>
        </p:nvSpPr>
        <p:spPr>
          <a:xfrm>
            <a:off x="8086954" y="1448044"/>
            <a:ext cx="285293" cy="30724"/>
          </a:xfrm>
          <a:prstGeom prst="roundRect">
            <a:avLst>
              <a:gd name="adj" fmla="val 29762"/>
            </a:avLst>
          </a:prstGeom>
          <a:solidFill>
            <a:srgbClr val="1E293B"/>
          </a:solidFill>
          <a:ln w="12700">
            <a:solidFill>
              <a:srgbClr val="1E293B"/>
            </a:solidFill>
            <a:prstDash val="solid"/>
          </a:ln>
        </p:spPr>
      </p:sp>
      <p:sp>
        <p:nvSpPr>
          <p:cNvPr id="65" name="Shape 62"/>
          <p:cNvSpPr/>
          <p:nvPr/>
        </p:nvSpPr>
        <p:spPr>
          <a:xfrm>
            <a:off x="7706563" y="1545336"/>
            <a:ext cx="1046074" cy="179222"/>
          </a:xfrm>
          <a:prstGeom prst="roundRect">
            <a:avLst>
              <a:gd name="adj" fmla="val 15306"/>
            </a:avLst>
          </a:prstGeom>
          <a:solidFill>
            <a:srgbClr val="0B1F4B"/>
          </a:solidFill>
          <a:ln w="12700">
            <a:solidFill>
              <a:srgbClr val="0B1F4B"/>
            </a:solidFill>
            <a:prstDash val="solid"/>
          </a:ln>
        </p:spPr>
      </p:sp>
      <p:sp>
        <p:nvSpPr>
          <p:cNvPr id="66" name="Text 63"/>
          <p:cNvSpPr txBox="1"/>
          <p:nvPr/>
        </p:nvSpPr>
        <p:spPr>
          <a:xfrm>
            <a:off x="7754112" y="1545336"/>
            <a:ext cx="594360" cy="179222"/>
          </a:xfrm>
          <a:prstGeom prst="rect">
            <a:avLst/>
          </a:prstGeom>
          <a:noFill/>
          <a:ln/>
        </p:spPr>
        <p:txBody>
          <a:bodyPr wrap="square" lIns="0" tIns="0" rIns="0" bIns="0" rtlCol="0" anchor="ctr"/>
          <a:lstStyle/>
          <a:p>
            <a:pPr marL="0" indent="0">
              <a:buNone/>
            </a:pPr>
            <a:r>
              <a:rPr lang="en-US" sz="650" b="1" dirty="0">
                <a:solidFill>
                  <a:srgbClr val="FFFFFF"/>
                </a:solidFill>
              </a:rPr>
              <a:t>ShopEase</a:t>
            </a:r>
            <a:endParaRPr lang="en-US" sz="650" dirty="0"/>
          </a:p>
        </p:txBody>
      </p:sp>
      <p:sp>
        <p:nvSpPr>
          <p:cNvPr id="67" name="Shape 64"/>
          <p:cNvSpPr/>
          <p:nvPr/>
        </p:nvSpPr>
        <p:spPr>
          <a:xfrm>
            <a:off x="7706563" y="1775765"/>
            <a:ext cx="1046074" cy="512064"/>
          </a:xfrm>
          <a:prstGeom prst="roundRect">
            <a:avLst>
              <a:gd name="adj" fmla="val 8929"/>
            </a:avLst>
          </a:prstGeom>
          <a:solidFill>
            <a:srgbClr val="E6ECFF"/>
          </a:solidFill>
          <a:ln w="12700">
            <a:solidFill>
              <a:srgbClr val="E6ECFF"/>
            </a:solidFill>
            <a:prstDash val="solid"/>
          </a:ln>
        </p:spPr>
      </p:sp>
      <p:sp>
        <p:nvSpPr>
          <p:cNvPr id="68" name="Shape 65"/>
          <p:cNvSpPr/>
          <p:nvPr/>
        </p:nvSpPr>
        <p:spPr>
          <a:xfrm>
            <a:off x="8372246" y="1826971"/>
            <a:ext cx="307238" cy="307238"/>
          </a:xfrm>
          <a:prstGeom prst="ellipse">
            <a:avLst/>
          </a:prstGeom>
          <a:solidFill>
            <a:srgbClr val="2F5BFF">
              <a:alpha val="30000"/>
            </a:srgbClr>
          </a:solidFill>
          <a:ln w="12700">
            <a:solidFill>
              <a:srgbClr val="2F5BFF"/>
            </a:solidFill>
            <a:prstDash val="solid"/>
          </a:ln>
        </p:spPr>
      </p:sp>
      <p:sp>
        <p:nvSpPr>
          <p:cNvPr id="69" name="Text 66"/>
          <p:cNvSpPr txBox="1"/>
          <p:nvPr/>
        </p:nvSpPr>
        <p:spPr>
          <a:xfrm>
            <a:off x="7754112" y="1852574"/>
            <a:ext cx="594360" cy="256032"/>
          </a:xfrm>
          <a:prstGeom prst="rect">
            <a:avLst/>
          </a:prstGeom>
          <a:noFill/>
          <a:ln/>
        </p:spPr>
        <p:txBody>
          <a:bodyPr wrap="square" lIns="0" tIns="0" rIns="0" bIns="0" rtlCol="0" anchor="t"/>
          <a:lstStyle/>
          <a:p>
            <a:pPr marL="0" indent="0">
              <a:buNone/>
            </a:pPr>
            <a:r>
              <a:rPr lang="en-US" sz="650" b="1" dirty="0">
                <a:solidFill>
                  <a:srgbClr val="0B1F4B"/>
                </a:solidFill>
              </a:rPr>
              <a:t>Find what you need, faster</a:t>
            </a:r>
            <a:endParaRPr lang="en-US" sz="650" dirty="0"/>
          </a:p>
        </p:txBody>
      </p:sp>
      <p:sp>
        <p:nvSpPr>
          <p:cNvPr id="70" name="Shape 67"/>
          <p:cNvSpPr/>
          <p:nvPr/>
        </p:nvSpPr>
        <p:spPr>
          <a:xfrm>
            <a:off x="7706563" y="2364638"/>
            <a:ext cx="499262" cy="358445"/>
          </a:xfrm>
          <a:prstGeom prst="roundRect">
            <a:avLst>
              <a:gd name="adj" fmla="val 10204"/>
            </a:avLst>
          </a:prstGeom>
          <a:solidFill>
            <a:srgbClr val="C7D2FE"/>
          </a:solidFill>
          <a:ln w="12700">
            <a:solidFill>
              <a:srgbClr val="C7D2FE"/>
            </a:solidFill>
            <a:prstDash val="solid"/>
          </a:ln>
        </p:spPr>
      </p:sp>
      <p:sp>
        <p:nvSpPr>
          <p:cNvPr id="71" name="Text 68"/>
          <p:cNvSpPr txBox="1"/>
          <p:nvPr/>
        </p:nvSpPr>
        <p:spPr>
          <a:xfrm>
            <a:off x="7706563" y="2748686"/>
            <a:ext cx="499262" cy="102413"/>
          </a:xfrm>
          <a:prstGeom prst="rect">
            <a:avLst/>
          </a:prstGeom>
          <a:noFill/>
          <a:ln/>
        </p:spPr>
        <p:txBody>
          <a:bodyPr wrap="square" lIns="0" tIns="0" rIns="0" bIns="0" rtlCol="0" anchor="t"/>
          <a:lstStyle/>
          <a:p>
            <a:pPr marL="0" indent="0">
              <a:buNone/>
            </a:pPr>
            <a:r>
              <a:rPr lang="en-US" sz="500" dirty="0">
                <a:solidFill>
                  <a:srgbClr val="1F2937"/>
                </a:solidFill>
              </a:rPr>
              <a:t>Product · ₹ Price</a:t>
            </a:r>
            <a:endParaRPr lang="en-US" sz="500" dirty="0"/>
          </a:p>
        </p:txBody>
      </p:sp>
      <p:sp>
        <p:nvSpPr>
          <p:cNvPr id="72" name="Shape 69"/>
          <p:cNvSpPr/>
          <p:nvPr/>
        </p:nvSpPr>
        <p:spPr>
          <a:xfrm>
            <a:off x="8253374" y="2364638"/>
            <a:ext cx="499262" cy="358445"/>
          </a:xfrm>
          <a:prstGeom prst="roundRect">
            <a:avLst>
              <a:gd name="adj" fmla="val 10204"/>
            </a:avLst>
          </a:prstGeom>
          <a:solidFill>
            <a:srgbClr val="FBCFE8"/>
          </a:solidFill>
          <a:ln w="12700">
            <a:solidFill>
              <a:srgbClr val="FBCFE8"/>
            </a:solidFill>
            <a:prstDash val="solid"/>
          </a:ln>
        </p:spPr>
      </p:sp>
      <p:sp>
        <p:nvSpPr>
          <p:cNvPr id="73" name="Text 70"/>
          <p:cNvSpPr txBox="1"/>
          <p:nvPr/>
        </p:nvSpPr>
        <p:spPr>
          <a:xfrm>
            <a:off x="8253374" y="2748686"/>
            <a:ext cx="499262" cy="102413"/>
          </a:xfrm>
          <a:prstGeom prst="rect">
            <a:avLst/>
          </a:prstGeom>
          <a:noFill/>
          <a:ln/>
        </p:spPr>
        <p:txBody>
          <a:bodyPr wrap="square" lIns="0" tIns="0" rIns="0" bIns="0" rtlCol="0" anchor="t"/>
          <a:lstStyle/>
          <a:p>
            <a:pPr marL="0" indent="0">
              <a:buNone/>
            </a:pPr>
            <a:r>
              <a:rPr lang="en-US" sz="500" dirty="0">
                <a:solidFill>
                  <a:srgbClr val="1F2937"/>
                </a:solidFill>
              </a:rPr>
              <a:t>Product · ₹ Price</a:t>
            </a:r>
            <a:endParaRPr lang="en-US" sz="500" dirty="0"/>
          </a:p>
        </p:txBody>
      </p:sp>
      <p:sp>
        <p:nvSpPr>
          <p:cNvPr id="74" name="Shape 71"/>
          <p:cNvSpPr/>
          <p:nvPr/>
        </p:nvSpPr>
        <p:spPr>
          <a:xfrm>
            <a:off x="7706563" y="2953512"/>
            <a:ext cx="499262" cy="358445"/>
          </a:xfrm>
          <a:prstGeom prst="roundRect">
            <a:avLst>
              <a:gd name="adj" fmla="val 10204"/>
            </a:avLst>
          </a:prstGeom>
          <a:solidFill>
            <a:srgbClr val="BFDBFE"/>
          </a:solidFill>
          <a:ln w="12700">
            <a:solidFill>
              <a:srgbClr val="BFDBFE"/>
            </a:solidFill>
            <a:prstDash val="solid"/>
          </a:ln>
        </p:spPr>
      </p:sp>
      <p:sp>
        <p:nvSpPr>
          <p:cNvPr id="75" name="Text 72"/>
          <p:cNvSpPr txBox="1"/>
          <p:nvPr/>
        </p:nvSpPr>
        <p:spPr>
          <a:xfrm>
            <a:off x="7706563" y="3337560"/>
            <a:ext cx="499262" cy="102413"/>
          </a:xfrm>
          <a:prstGeom prst="rect">
            <a:avLst/>
          </a:prstGeom>
          <a:noFill/>
          <a:ln/>
        </p:spPr>
        <p:txBody>
          <a:bodyPr wrap="square" lIns="0" tIns="0" rIns="0" bIns="0" rtlCol="0" anchor="t"/>
          <a:lstStyle/>
          <a:p>
            <a:pPr marL="0" indent="0">
              <a:buNone/>
            </a:pPr>
            <a:r>
              <a:rPr lang="en-US" sz="500" dirty="0">
                <a:solidFill>
                  <a:srgbClr val="1F2937"/>
                </a:solidFill>
              </a:rPr>
              <a:t>Product · ₹ Price</a:t>
            </a:r>
            <a:endParaRPr lang="en-US" sz="500" dirty="0"/>
          </a:p>
        </p:txBody>
      </p:sp>
      <p:sp>
        <p:nvSpPr>
          <p:cNvPr id="76" name="Shape 73"/>
          <p:cNvSpPr/>
          <p:nvPr/>
        </p:nvSpPr>
        <p:spPr>
          <a:xfrm>
            <a:off x="8253374" y="2953512"/>
            <a:ext cx="499262" cy="358445"/>
          </a:xfrm>
          <a:prstGeom prst="roundRect">
            <a:avLst>
              <a:gd name="adj" fmla="val 10204"/>
            </a:avLst>
          </a:prstGeom>
          <a:solidFill>
            <a:srgbClr val="DDD6FE"/>
          </a:solidFill>
          <a:ln w="12700">
            <a:solidFill>
              <a:srgbClr val="DDD6FE"/>
            </a:solidFill>
            <a:prstDash val="solid"/>
          </a:ln>
        </p:spPr>
      </p:sp>
      <p:sp>
        <p:nvSpPr>
          <p:cNvPr id="77" name="Text 74"/>
          <p:cNvSpPr txBox="1"/>
          <p:nvPr/>
        </p:nvSpPr>
        <p:spPr>
          <a:xfrm>
            <a:off x="8253374" y="3337560"/>
            <a:ext cx="499262" cy="102413"/>
          </a:xfrm>
          <a:prstGeom prst="rect">
            <a:avLst/>
          </a:prstGeom>
          <a:noFill/>
          <a:ln/>
        </p:spPr>
        <p:txBody>
          <a:bodyPr wrap="square" lIns="0" tIns="0" rIns="0" bIns="0" rtlCol="0" anchor="t"/>
          <a:lstStyle/>
          <a:p>
            <a:pPr marL="0" indent="0">
              <a:buNone/>
            </a:pPr>
            <a:r>
              <a:rPr lang="en-US" sz="500" dirty="0">
                <a:solidFill>
                  <a:srgbClr val="1F2937"/>
                </a:solidFill>
              </a:rPr>
              <a:t>Product · ₹ Price</a:t>
            </a:r>
            <a:endParaRPr lang="en-US" sz="500" dirty="0"/>
          </a:p>
        </p:txBody>
      </p:sp>
      <p:sp>
        <p:nvSpPr>
          <p:cNvPr id="78" name="Shape 75"/>
          <p:cNvSpPr/>
          <p:nvPr/>
        </p:nvSpPr>
        <p:spPr>
          <a:xfrm>
            <a:off x="7706563" y="3619195"/>
            <a:ext cx="1046074" cy="204826"/>
          </a:xfrm>
          <a:prstGeom prst="roundRect">
            <a:avLst>
              <a:gd name="adj" fmla="val 17857"/>
            </a:avLst>
          </a:prstGeom>
          <a:solidFill>
            <a:srgbClr val="2F5BFF"/>
          </a:solidFill>
          <a:ln w="12700">
            <a:solidFill>
              <a:srgbClr val="2F5BFF"/>
            </a:solidFill>
            <a:prstDash val="solid"/>
          </a:ln>
        </p:spPr>
      </p:sp>
      <p:sp>
        <p:nvSpPr>
          <p:cNvPr id="79" name="Text 76"/>
          <p:cNvSpPr txBox="1"/>
          <p:nvPr/>
        </p:nvSpPr>
        <p:spPr>
          <a:xfrm>
            <a:off x="7706563" y="3619195"/>
            <a:ext cx="1046074" cy="204826"/>
          </a:xfrm>
          <a:prstGeom prst="rect">
            <a:avLst/>
          </a:prstGeom>
          <a:noFill/>
          <a:ln/>
        </p:spPr>
        <p:txBody>
          <a:bodyPr wrap="square" lIns="0" tIns="0" rIns="0" bIns="0" rtlCol="0" anchor="ctr"/>
          <a:lstStyle/>
          <a:p>
            <a:pPr marL="0" indent="0" algn="ctr">
              <a:buNone/>
            </a:pPr>
            <a:r>
              <a:rPr lang="en-US" sz="650" b="1" dirty="0">
                <a:solidFill>
                  <a:srgbClr val="FFFFFF"/>
                </a:solidFill>
              </a:rPr>
              <a:t>Add to cart</a:t>
            </a:r>
            <a:endParaRPr lang="en-US" sz="650" dirty="0"/>
          </a:p>
        </p:txBody>
      </p:sp>
      <p:sp>
        <p:nvSpPr>
          <p:cNvPr id="80" name="Shape 77"/>
          <p:cNvSpPr/>
          <p:nvPr/>
        </p:nvSpPr>
        <p:spPr>
          <a:xfrm>
            <a:off x="4663440" y="4160520"/>
            <a:ext cx="2834640" cy="256032"/>
          </a:xfrm>
          <a:prstGeom prst="roundRect">
            <a:avLst>
              <a:gd name="adj" fmla="val 50000"/>
            </a:avLst>
          </a:prstGeom>
          <a:solidFill>
            <a:srgbClr val="1B2C66"/>
          </a:solidFill>
          <a:ln w="12700">
            <a:solidFill>
              <a:srgbClr val="1B2C66"/>
            </a:solidFill>
            <a:prstDash val="solid"/>
          </a:ln>
        </p:spPr>
      </p:sp>
      <p:sp>
        <p:nvSpPr>
          <p:cNvPr id="81" name="Text 78"/>
          <p:cNvSpPr txBox="1"/>
          <p:nvPr/>
        </p:nvSpPr>
        <p:spPr>
          <a:xfrm>
            <a:off x="4663440" y="4160520"/>
            <a:ext cx="2834640" cy="256032"/>
          </a:xfrm>
          <a:prstGeom prst="rect">
            <a:avLst/>
          </a:prstGeom>
          <a:noFill/>
          <a:ln/>
        </p:spPr>
        <p:txBody>
          <a:bodyPr wrap="square" lIns="0" tIns="0" rIns="0" bIns="0" rtlCol="0" anchor="ctr"/>
          <a:lstStyle/>
          <a:p>
            <a:pPr marL="0" indent="0" algn="ctr">
              <a:buNone/>
            </a:pPr>
            <a:r>
              <a:rPr lang="en-US" sz="1050" b="1" dirty="0">
                <a:solidFill>
                  <a:srgbClr val="BFD0FF"/>
                </a:solidFill>
              </a:rPr>
              <a:t>Illustrative ShopEase concept mockup</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01 · INTERNSHIP</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Internship Overview</a:t>
            </a:r>
            <a:endParaRPr lang="en-US" sz="2500" dirty="0"/>
          </a:p>
        </p:txBody>
      </p:sp>
      <p:sp>
        <p:nvSpPr>
          <p:cNvPr id="5" name="Shape 2"/>
          <p:cNvSpPr/>
          <p:nvPr/>
        </p:nvSpPr>
        <p:spPr>
          <a:xfrm>
            <a:off x="457200" y="1143000"/>
            <a:ext cx="2606040" cy="868680"/>
          </a:xfrm>
          <a:prstGeom prst="roundRect">
            <a:avLst>
              <a:gd name="adj" fmla="val 7368"/>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6" name="Shape 3"/>
          <p:cNvSpPr/>
          <p:nvPr/>
        </p:nvSpPr>
        <p:spPr>
          <a:xfrm>
            <a:off x="594360" y="1344168"/>
            <a:ext cx="457200" cy="457200"/>
          </a:xfrm>
          <a:prstGeom prst="roundRect">
            <a:avLst>
              <a:gd name="adj" fmla="val 22000"/>
            </a:avLst>
          </a:prstGeom>
          <a:solidFill>
            <a:srgbClr val="2F5BFF"/>
          </a:solidFill>
          <a:ln w="12700">
            <a:solidFill>
              <a:srgbClr val="2F5BFF"/>
            </a:solidFill>
            <a:prstDash val="solid"/>
          </a:ln>
        </p:spPr>
      </p:sp>
      <p:pic>
        <p:nvPicPr>
          <p:cNvPr id="7" name="Image 0" descr="preencoded.png"/>
          <p:cNvPicPr>
            <a:picLocks noChangeAspect="1"/>
          </p:cNvPicPr>
          <p:nvPr/>
        </p:nvPicPr>
        <p:blipFill>
          <a:blip r:embed="rId3"/>
          <a:stretch>
            <a:fillRect/>
          </a:stretch>
        </p:blipFill>
        <p:spPr>
          <a:xfrm>
            <a:off x="704088" y="1453896"/>
            <a:ext cx="237744" cy="237744"/>
          </a:xfrm>
          <a:prstGeom prst="rect">
            <a:avLst/>
          </a:prstGeom>
        </p:spPr>
      </p:pic>
      <p:sp>
        <p:nvSpPr>
          <p:cNvPr id="8" name="Text 4"/>
          <p:cNvSpPr txBox="1"/>
          <p:nvPr/>
        </p:nvSpPr>
        <p:spPr>
          <a:xfrm>
            <a:off x="1188720" y="1271016"/>
            <a:ext cx="1783080" cy="201168"/>
          </a:xfrm>
          <a:prstGeom prst="rect">
            <a:avLst/>
          </a:prstGeom>
          <a:noFill/>
          <a:ln/>
        </p:spPr>
        <p:txBody>
          <a:bodyPr wrap="square" lIns="0" tIns="0" rIns="0" bIns="0" rtlCol="0" anchor="t"/>
          <a:lstStyle/>
          <a:p>
            <a:pPr marL="0" indent="0">
              <a:buNone/>
            </a:pPr>
            <a:r>
              <a:rPr lang="en-US" sz="1000" b="1" kern="0" spc="100" dirty="0">
                <a:solidFill>
                  <a:srgbClr val="2F5BFF"/>
                </a:solidFill>
              </a:rPr>
              <a:t>COMPANY</a:t>
            </a:r>
            <a:endParaRPr lang="en-US" sz="1000" dirty="0"/>
          </a:p>
        </p:txBody>
      </p:sp>
      <p:sp>
        <p:nvSpPr>
          <p:cNvPr id="9" name="Text 5"/>
          <p:cNvSpPr txBox="1"/>
          <p:nvPr/>
        </p:nvSpPr>
        <p:spPr>
          <a:xfrm>
            <a:off x="1188720" y="1490472"/>
            <a:ext cx="1783080" cy="502920"/>
          </a:xfrm>
          <a:prstGeom prst="rect">
            <a:avLst/>
          </a:prstGeom>
          <a:noFill/>
          <a:ln/>
        </p:spPr>
        <p:txBody>
          <a:bodyPr wrap="square" lIns="0" tIns="0" rIns="0" bIns="0" rtlCol="0" anchor="t"/>
          <a:lstStyle/>
          <a:p>
            <a:pPr marL="0" indent="0">
              <a:buNone/>
            </a:pPr>
            <a:r>
              <a:rPr lang="en-US" sz="1300" b="1" dirty="0">
                <a:solidFill>
                  <a:srgbClr val="0B1F4B"/>
                </a:solidFill>
              </a:rPr>
              <a:t>Astonish InfoTech Private Limited, Tiruchirappalli</a:t>
            </a:r>
            <a:endParaRPr lang="en-US" sz="1300" dirty="0"/>
          </a:p>
        </p:txBody>
      </p:sp>
      <p:sp>
        <p:nvSpPr>
          <p:cNvPr id="10" name="Shape 6"/>
          <p:cNvSpPr/>
          <p:nvPr/>
        </p:nvSpPr>
        <p:spPr>
          <a:xfrm>
            <a:off x="3246120" y="1143000"/>
            <a:ext cx="2606040" cy="868680"/>
          </a:xfrm>
          <a:prstGeom prst="roundRect">
            <a:avLst>
              <a:gd name="adj" fmla="val 7368"/>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1" name="Shape 7"/>
          <p:cNvSpPr/>
          <p:nvPr/>
        </p:nvSpPr>
        <p:spPr>
          <a:xfrm>
            <a:off x="3383280" y="1344168"/>
            <a:ext cx="457200" cy="457200"/>
          </a:xfrm>
          <a:prstGeom prst="roundRect">
            <a:avLst>
              <a:gd name="adj" fmla="val 22000"/>
            </a:avLst>
          </a:prstGeom>
          <a:solidFill>
            <a:srgbClr val="2F5BFF"/>
          </a:solidFill>
          <a:ln w="12700">
            <a:solidFill>
              <a:srgbClr val="2F5BFF"/>
            </a:solidFill>
            <a:prstDash val="solid"/>
          </a:ln>
        </p:spPr>
      </p:sp>
      <p:pic>
        <p:nvPicPr>
          <p:cNvPr id="12" name="Image 1" descr="preencoded.png"/>
          <p:cNvPicPr>
            <a:picLocks noChangeAspect="1"/>
          </p:cNvPicPr>
          <p:nvPr/>
        </p:nvPicPr>
        <p:blipFill>
          <a:blip r:embed="rId4"/>
          <a:stretch>
            <a:fillRect/>
          </a:stretch>
        </p:blipFill>
        <p:spPr>
          <a:xfrm>
            <a:off x="3493008" y="1453896"/>
            <a:ext cx="237744" cy="237744"/>
          </a:xfrm>
          <a:prstGeom prst="rect">
            <a:avLst/>
          </a:prstGeom>
        </p:spPr>
      </p:pic>
      <p:sp>
        <p:nvSpPr>
          <p:cNvPr id="13" name="Text 8"/>
          <p:cNvSpPr txBox="1"/>
          <p:nvPr/>
        </p:nvSpPr>
        <p:spPr>
          <a:xfrm>
            <a:off x="3977640" y="1271016"/>
            <a:ext cx="1783080" cy="201168"/>
          </a:xfrm>
          <a:prstGeom prst="rect">
            <a:avLst/>
          </a:prstGeom>
          <a:noFill/>
          <a:ln/>
        </p:spPr>
        <p:txBody>
          <a:bodyPr wrap="square" lIns="0" tIns="0" rIns="0" bIns="0" rtlCol="0" anchor="t"/>
          <a:lstStyle/>
          <a:p>
            <a:pPr marL="0" indent="0">
              <a:buNone/>
            </a:pPr>
            <a:r>
              <a:rPr lang="en-US" sz="1000" b="1" kern="0" spc="100" dirty="0">
                <a:solidFill>
                  <a:srgbClr val="2F5BFF"/>
                </a:solidFill>
              </a:rPr>
              <a:t>ROLE</a:t>
            </a:r>
            <a:endParaRPr lang="en-US" sz="1000" dirty="0"/>
          </a:p>
        </p:txBody>
      </p:sp>
      <p:sp>
        <p:nvSpPr>
          <p:cNvPr id="14" name="Text 9"/>
          <p:cNvSpPr txBox="1"/>
          <p:nvPr/>
        </p:nvSpPr>
        <p:spPr>
          <a:xfrm>
            <a:off x="3977640" y="1490472"/>
            <a:ext cx="1783080" cy="502920"/>
          </a:xfrm>
          <a:prstGeom prst="rect">
            <a:avLst/>
          </a:prstGeom>
          <a:noFill/>
          <a:ln/>
        </p:spPr>
        <p:txBody>
          <a:bodyPr wrap="square" lIns="0" tIns="0" rIns="0" bIns="0" rtlCol="0" anchor="t"/>
          <a:lstStyle/>
          <a:p>
            <a:pPr marL="0" indent="0">
              <a:buNone/>
            </a:pPr>
            <a:r>
              <a:rPr lang="en-US" sz="1300" b="1" dirty="0">
                <a:solidFill>
                  <a:srgbClr val="0B1F4B"/>
                </a:solidFill>
              </a:rPr>
              <a:t>UI/UX Design Intern</a:t>
            </a:r>
            <a:endParaRPr lang="en-US" sz="1300" dirty="0"/>
          </a:p>
        </p:txBody>
      </p:sp>
      <p:sp>
        <p:nvSpPr>
          <p:cNvPr id="15" name="Shape 10"/>
          <p:cNvSpPr/>
          <p:nvPr/>
        </p:nvSpPr>
        <p:spPr>
          <a:xfrm>
            <a:off x="6035040" y="1143000"/>
            <a:ext cx="2606040" cy="868680"/>
          </a:xfrm>
          <a:prstGeom prst="roundRect">
            <a:avLst>
              <a:gd name="adj" fmla="val 7368"/>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6" name="Shape 11"/>
          <p:cNvSpPr/>
          <p:nvPr/>
        </p:nvSpPr>
        <p:spPr>
          <a:xfrm>
            <a:off x="6172200" y="1344168"/>
            <a:ext cx="457200" cy="457200"/>
          </a:xfrm>
          <a:prstGeom prst="roundRect">
            <a:avLst>
              <a:gd name="adj" fmla="val 22000"/>
            </a:avLst>
          </a:prstGeom>
          <a:solidFill>
            <a:srgbClr val="2F5BFF"/>
          </a:solidFill>
          <a:ln w="12700">
            <a:solidFill>
              <a:srgbClr val="2F5BFF"/>
            </a:solidFill>
            <a:prstDash val="solid"/>
          </a:ln>
        </p:spPr>
      </p:sp>
      <p:pic>
        <p:nvPicPr>
          <p:cNvPr id="17" name="Image 2" descr="preencoded.png"/>
          <p:cNvPicPr>
            <a:picLocks noChangeAspect="1"/>
          </p:cNvPicPr>
          <p:nvPr/>
        </p:nvPicPr>
        <p:blipFill>
          <a:blip r:embed="rId5"/>
          <a:stretch>
            <a:fillRect/>
          </a:stretch>
        </p:blipFill>
        <p:spPr>
          <a:xfrm>
            <a:off x="6281928" y="1453896"/>
            <a:ext cx="237744" cy="237744"/>
          </a:xfrm>
          <a:prstGeom prst="rect">
            <a:avLst/>
          </a:prstGeom>
        </p:spPr>
      </p:pic>
      <p:sp>
        <p:nvSpPr>
          <p:cNvPr id="18" name="Text 12"/>
          <p:cNvSpPr txBox="1"/>
          <p:nvPr/>
        </p:nvSpPr>
        <p:spPr>
          <a:xfrm>
            <a:off x="6766560" y="1271016"/>
            <a:ext cx="1783080" cy="201168"/>
          </a:xfrm>
          <a:prstGeom prst="rect">
            <a:avLst/>
          </a:prstGeom>
          <a:noFill/>
          <a:ln/>
        </p:spPr>
        <p:txBody>
          <a:bodyPr wrap="square" lIns="0" tIns="0" rIns="0" bIns="0" rtlCol="0" anchor="t"/>
          <a:lstStyle/>
          <a:p>
            <a:pPr marL="0" indent="0">
              <a:buNone/>
            </a:pPr>
            <a:r>
              <a:rPr lang="en-US" sz="1000" b="1" kern="0" spc="100" dirty="0">
                <a:solidFill>
                  <a:srgbClr val="2F5BFF"/>
                </a:solidFill>
              </a:rPr>
              <a:t>DURATION</a:t>
            </a:r>
            <a:endParaRPr lang="en-US" sz="1000" dirty="0"/>
          </a:p>
        </p:txBody>
      </p:sp>
      <p:sp>
        <p:nvSpPr>
          <p:cNvPr id="19" name="Text 13"/>
          <p:cNvSpPr txBox="1"/>
          <p:nvPr/>
        </p:nvSpPr>
        <p:spPr>
          <a:xfrm>
            <a:off x="6766560" y="1490472"/>
            <a:ext cx="1783080" cy="502920"/>
          </a:xfrm>
          <a:prstGeom prst="rect">
            <a:avLst/>
          </a:prstGeom>
          <a:noFill/>
          <a:ln/>
        </p:spPr>
        <p:txBody>
          <a:bodyPr wrap="square" lIns="0" tIns="0" rIns="0" bIns="0" rtlCol="0" anchor="t"/>
          <a:lstStyle/>
          <a:p>
            <a:pPr marL="0" indent="0">
              <a:buNone/>
            </a:pPr>
            <a:r>
              <a:rPr lang="en-US" sz="1300" b="1" dirty="0">
                <a:solidFill>
                  <a:srgbClr val="0B1F4B"/>
                </a:solidFill>
              </a:rPr>
              <a:t>1 June 2026 – 30 June 2026</a:t>
            </a:r>
            <a:endParaRPr lang="en-US" sz="1300" dirty="0"/>
          </a:p>
        </p:txBody>
      </p:sp>
      <p:sp>
        <p:nvSpPr>
          <p:cNvPr id="20" name="Shape 14"/>
          <p:cNvSpPr/>
          <p:nvPr/>
        </p:nvSpPr>
        <p:spPr>
          <a:xfrm>
            <a:off x="457200" y="2148840"/>
            <a:ext cx="2606040" cy="868680"/>
          </a:xfrm>
          <a:prstGeom prst="roundRect">
            <a:avLst>
              <a:gd name="adj" fmla="val 7368"/>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1" name="Shape 15"/>
          <p:cNvSpPr/>
          <p:nvPr/>
        </p:nvSpPr>
        <p:spPr>
          <a:xfrm>
            <a:off x="594360" y="2350008"/>
            <a:ext cx="457200" cy="457200"/>
          </a:xfrm>
          <a:prstGeom prst="roundRect">
            <a:avLst>
              <a:gd name="adj" fmla="val 22000"/>
            </a:avLst>
          </a:prstGeom>
          <a:solidFill>
            <a:srgbClr val="2F5BFF"/>
          </a:solidFill>
          <a:ln w="12700">
            <a:solidFill>
              <a:srgbClr val="2F5BFF"/>
            </a:solidFill>
            <a:prstDash val="solid"/>
          </a:ln>
        </p:spPr>
      </p:sp>
      <p:pic>
        <p:nvPicPr>
          <p:cNvPr id="22" name="Image 3" descr="preencoded.png"/>
          <p:cNvPicPr>
            <a:picLocks noChangeAspect="1"/>
          </p:cNvPicPr>
          <p:nvPr/>
        </p:nvPicPr>
        <p:blipFill>
          <a:blip r:embed="rId6"/>
          <a:stretch>
            <a:fillRect/>
          </a:stretch>
        </p:blipFill>
        <p:spPr>
          <a:xfrm>
            <a:off x="704088" y="2459736"/>
            <a:ext cx="237744" cy="237744"/>
          </a:xfrm>
          <a:prstGeom prst="rect">
            <a:avLst/>
          </a:prstGeom>
        </p:spPr>
      </p:pic>
      <p:sp>
        <p:nvSpPr>
          <p:cNvPr id="23" name="Text 16"/>
          <p:cNvSpPr txBox="1"/>
          <p:nvPr/>
        </p:nvSpPr>
        <p:spPr>
          <a:xfrm>
            <a:off x="1188720" y="2276856"/>
            <a:ext cx="1783080" cy="201168"/>
          </a:xfrm>
          <a:prstGeom prst="rect">
            <a:avLst/>
          </a:prstGeom>
          <a:noFill/>
          <a:ln/>
        </p:spPr>
        <p:txBody>
          <a:bodyPr wrap="square" lIns="0" tIns="0" rIns="0" bIns="0" rtlCol="0" anchor="t"/>
          <a:lstStyle/>
          <a:p>
            <a:pPr marL="0" indent="0">
              <a:buNone/>
            </a:pPr>
            <a:r>
              <a:rPr lang="en-US" sz="1000" b="1" kern="0" spc="100" dirty="0">
                <a:solidFill>
                  <a:srgbClr val="2F5BFF"/>
                </a:solidFill>
              </a:rPr>
              <a:t>MODE</a:t>
            </a:r>
            <a:endParaRPr lang="en-US" sz="1000" dirty="0"/>
          </a:p>
        </p:txBody>
      </p:sp>
      <p:sp>
        <p:nvSpPr>
          <p:cNvPr id="24" name="Text 17"/>
          <p:cNvSpPr txBox="1"/>
          <p:nvPr/>
        </p:nvSpPr>
        <p:spPr>
          <a:xfrm>
            <a:off x="1188720" y="2496312"/>
            <a:ext cx="1783080" cy="502920"/>
          </a:xfrm>
          <a:prstGeom prst="rect">
            <a:avLst/>
          </a:prstGeom>
          <a:noFill/>
          <a:ln/>
        </p:spPr>
        <p:txBody>
          <a:bodyPr wrap="square" lIns="0" tIns="0" rIns="0" bIns="0" rtlCol="0" anchor="t"/>
          <a:lstStyle/>
          <a:p>
            <a:pPr marL="0" indent="0">
              <a:buNone/>
            </a:pPr>
            <a:r>
              <a:rPr lang="en-US" sz="1300" b="1" dirty="0">
                <a:solidFill>
                  <a:srgbClr val="0B1F4B"/>
                </a:solidFill>
              </a:rPr>
              <a:t>Offline</a:t>
            </a:r>
            <a:endParaRPr lang="en-US" sz="1300" dirty="0"/>
          </a:p>
        </p:txBody>
      </p:sp>
      <p:sp>
        <p:nvSpPr>
          <p:cNvPr id="25" name="Shape 18"/>
          <p:cNvSpPr/>
          <p:nvPr/>
        </p:nvSpPr>
        <p:spPr>
          <a:xfrm>
            <a:off x="3246120" y="2148840"/>
            <a:ext cx="2606040" cy="868680"/>
          </a:xfrm>
          <a:prstGeom prst="roundRect">
            <a:avLst>
              <a:gd name="adj" fmla="val 7368"/>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6" name="Shape 19"/>
          <p:cNvSpPr/>
          <p:nvPr/>
        </p:nvSpPr>
        <p:spPr>
          <a:xfrm>
            <a:off x="3383280" y="2350008"/>
            <a:ext cx="457200" cy="457200"/>
          </a:xfrm>
          <a:prstGeom prst="roundRect">
            <a:avLst>
              <a:gd name="adj" fmla="val 22000"/>
            </a:avLst>
          </a:prstGeom>
          <a:solidFill>
            <a:srgbClr val="2F5BFF"/>
          </a:solidFill>
          <a:ln w="12700">
            <a:solidFill>
              <a:srgbClr val="2F5BFF"/>
            </a:solidFill>
            <a:prstDash val="solid"/>
          </a:ln>
        </p:spPr>
      </p:sp>
      <p:pic>
        <p:nvPicPr>
          <p:cNvPr id="27" name="Image 4" descr="preencoded.png"/>
          <p:cNvPicPr>
            <a:picLocks noChangeAspect="1"/>
          </p:cNvPicPr>
          <p:nvPr/>
        </p:nvPicPr>
        <p:blipFill>
          <a:blip r:embed="rId7"/>
          <a:stretch>
            <a:fillRect/>
          </a:stretch>
        </p:blipFill>
        <p:spPr>
          <a:xfrm>
            <a:off x="3493008" y="2459736"/>
            <a:ext cx="237744" cy="237744"/>
          </a:xfrm>
          <a:prstGeom prst="rect">
            <a:avLst/>
          </a:prstGeom>
        </p:spPr>
      </p:pic>
      <p:sp>
        <p:nvSpPr>
          <p:cNvPr id="28" name="Text 20"/>
          <p:cNvSpPr txBox="1"/>
          <p:nvPr/>
        </p:nvSpPr>
        <p:spPr>
          <a:xfrm>
            <a:off x="3977640" y="2276856"/>
            <a:ext cx="1783080" cy="201168"/>
          </a:xfrm>
          <a:prstGeom prst="rect">
            <a:avLst/>
          </a:prstGeom>
          <a:noFill/>
          <a:ln/>
        </p:spPr>
        <p:txBody>
          <a:bodyPr wrap="square" lIns="0" tIns="0" rIns="0" bIns="0" rtlCol="0" anchor="t"/>
          <a:lstStyle/>
          <a:p>
            <a:pPr marL="0" indent="0">
              <a:buNone/>
            </a:pPr>
            <a:r>
              <a:rPr lang="en-US" sz="1000" b="1" kern="0" spc="100" dirty="0">
                <a:solidFill>
                  <a:srgbClr val="2F5BFF"/>
                </a:solidFill>
              </a:rPr>
              <a:t>DOMAIN / TOPIC</a:t>
            </a:r>
            <a:endParaRPr lang="en-US" sz="1000" dirty="0"/>
          </a:p>
        </p:txBody>
      </p:sp>
      <p:sp>
        <p:nvSpPr>
          <p:cNvPr id="29" name="Text 21"/>
          <p:cNvSpPr txBox="1"/>
          <p:nvPr/>
        </p:nvSpPr>
        <p:spPr>
          <a:xfrm>
            <a:off x="3977640" y="2496312"/>
            <a:ext cx="1783080" cy="502920"/>
          </a:xfrm>
          <a:prstGeom prst="rect">
            <a:avLst/>
          </a:prstGeom>
          <a:noFill/>
          <a:ln/>
        </p:spPr>
        <p:txBody>
          <a:bodyPr wrap="square" lIns="0" tIns="0" rIns="0" bIns="0" rtlCol="0" anchor="t"/>
          <a:lstStyle/>
          <a:p>
            <a:pPr marL="0" indent="0">
              <a:buNone/>
            </a:pPr>
            <a:r>
              <a:rPr lang="en-US" sz="1300" b="1" dirty="0">
                <a:solidFill>
                  <a:srgbClr val="0B1F4B"/>
                </a:solidFill>
              </a:rPr>
              <a:t>UI/UX Design (certificate)</a:t>
            </a:r>
            <a:endParaRPr lang="en-US" sz="1300" dirty="0"/>
          </a:p>
        </p:txBody>
      </p:sp>
      <p:sp>
        <p:nvSpPr>
          <p:cNvPr id="30" name="Shape 22"/>
          <p:cNvSpPr/>
          <p:nvPr/>
        </p:nvSpPr>
        <p:spPr>
          <a:xfrm>
            <a:off x="6035040" y="2148840"/>
            <a:ext cx="2606040" cy="868680"/>
          </a:xfrm>
          <a:prstGeom prst="roundRect">
            <a:avLst>
              <a:gd name="adj" fmla="val 7368"/>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1" name="Shape 23"/>
          <p:cNvSpPr/>
          <p:nvPr/>
        </p:nvSpPr>
        <p:spPr>
          <a:xfrm>
            <a:off x="6172200" y="2350008"/>
            <a:ext cx="457200" cy="457200"/>
          </a:xfrm>
          <a:prstGeom prst="roundRect">
            <a:avLst>
              <a:gd name="adj" fmla="val 22000"/>
            </a:avLst>
          </a:prstGeom>
          <a:solidFill>
            <a:srgbClr val="2F5BFF"/>
          </a:solidFill>
          <a:ln w="12700">
            <a:solidFill>
              <a:srgbClr val="2F5BFF"/>
            </a:solidFill>
            <a:prstDash val="solid"/>
          </a:ln>
        </p:spPr>
      </p:sp>
      <p:pic>
        <p:nvPicPr>
          <p:cNvPr id="32" name="Image 5" descr="preencoded.png"/>
          <p:cNvPicPr>
            <a:picLocks noChangeAspect="1"/>
          </p:cNvPicPr>
          <p:nvPr/>
        </p:nvPicPr>
        <p:blipFill>
          <a:blip r:embed="rId8"/>
          <a:stretch>
            <a:fillRect/>
          </a:stretch>
        </p:blipFill>
        <p:spPr>
          <a:xfrm>
            <a:off x="6281928" y="2459736"/>
            <a:ext cx="237744" cy="237744"/>
          </a:xfrm>
          <a:prstGeom prst="rect">
            <a:avLst/>
          </a:prstGeom>
        </p:spPr>
      </p:pic>
      <p:sp>
        <p:nvSpPr>
          <p:cNvPr id="33" name="Text 24"/>
          <p:cNvSpPr txBox="1"/>
          <p:nvPr/>
        </p:nvSpPr>
        <p:spPr>
          <a:xfrm>
            <a:off x="6766560" y="2276856"/>
            <a:ext cx="1783080" cy="201168"/>
          </a:xfrm>
          <a:prstGeom prst="rect">
            <a:avLst/>
          </a:prstGeom>
          <a:noFill/>
          <a:ln/>
        </p:spPr>
        <p:txBody>
          <a:bodyPr wrap="square" lIns="0" tIns="0" rIns="0" bIns="0" rtlCol="0" anchor="t"/>
          <a:lstStyle/>
          <a:p>
            <a:pPr marL="0" indent="0">
              <a:buNone/>
            </a:pPr>
            <a:r>
              <a:rPr lang="en-US" sz="1000" b="1" kern="0" spc="100" dirty="0">
                <a:solidFill>
                  <a:srgbClr val="2F5BFF"/>
                </a:solidFill>
              </a:rPr>
              <a:t>PROJECT WORK</a:t>
            </a:r>
            <a:endParaRPr lang="en-US" sz="1000" dirty="0"/>
          </a:p>
        </p:txBody>
      </p:sp>
      <p:sp>
        <p:nvSpPr>
          <p:cNvPr id="34" name="Text 25"/>
          <p:cNvSpPr txBox="1"/>
          <p:nvPr/>
        </p:nvSpPr>
        <p:spPr>
          <a:xfrm>
            <a:off x="6766560" y="2496312"/>
            <a:ext cx="1783080" cy="502920"/>
          </a:xfrm>
          <a:prstGeom prst="rect">
            <a:avLst/>
          </a:prstGeom>
          <a:noFill/>
          <a:ln/>
        </p:spPr>
        <p:txBody>
          <a:bodyPr wrap="square" lIns="0" tIns="0" rIns="0" bIns="0" rtlCol="0" anchor="t"/>
          <a:lstStyle/>
          <a:p>
            <a:pPr marL="0" indent="0">
              <a:buNone/>
            </a:pPr>
            <a:r>
              <a:rPr lang="en-US" sz="1300" b="1" dirty="0">
                <a:solidFill>
                  <a:srgbClr val="0B1F4B"/>
                </a:solidFill>
              </a:rPr>
              <a:t>E-Commerce (annexure)</a:t>
            </a:r>
            <a:endParaRPr lang="en-US" sz="1300" dirty="0"/>
          </a:p>
        </p:txBody>
      </p:sp>
      <p:sp>
        <p:nvSpPr>
          <p:cNvPr id="35" name="Shape 26"/>
          <p:cNvSpPr/>
          <p:nvPr/>
        </p:nvSpPr>
        <p:spPr>
          <a:xfrm>
            <a:off x="457200" y="3291840"/>
            <a:ext cx="8229600" cy="1234440"/>
          </a:xfrm>
          <a:prstGeom prst="roundRect">
            <a:avLst>
              <a:gd name="adj" fmla="val 5185"/>
            </a:avLst>
          </a:prstGeom>
          <a:solidFill>
            <a:srgbClr val="0B1F4B"/>
          </a:solidFill>
          <a:ln w="12700">
            <a:solidFill>
              <a:srgbClr val="0B1F4B"/>
            </a:solidFill>
            <a:prstDash val="solid"/>
          </a:ln>
        </p:spPr>
      </p:sp>
      <p:sp>
        <p:nvSpPr>
          <p:cNvPr id="36" name="Text 27"/>
          <p:cNvSpPr txBox="1"/>
          <p:nvPr/>
        </p:nvSpPr>
        <p:spPr>
          <a:xfrm>
            <a:off x="685800" y="3383280"/>
            <a:ext cx="3657600" cy="201168"/>
          </a:xfrm>
          <a:prstGeom prst="rect">
            <a:avLst/>
          </a:prstGeom>
          <a:noFill/>
          <a:ln/>
        </p:spPr>
        <p:txBody>
          <a:bodyPr wrap="square" lIns="0" tIns="0" rIns="0" bIns="0" rtlCol="0" anchor="t"/>
          <a:lstStyle/>
          <a:p>
            <a:pPr marL="0" indent="0">
              <a:buNone/>
            </a:pPr>
            <a:r>
              <a:rPr lang="en-US" sz="1000" b="1" kern="0" spc="200" dirty="0">
                <a:solidFill>
                  <a:srgbClr val="9DB4F5"/>
                </a:solidFill>
              </a:rPr>
              <a:t>WHAT I DID IN 30 DAYS</a:t>
            </a:r>
            <a:endParaRPr lang="en-US" sz="1000" dirty="0"/>
          </a:p>
        </p:txBody>
      </p:sp>
      <p:sp>
        <p:nvSpPr>
          <p:cNvPr id="37" name="Text 28"/>
          <p:cNvSpPr txBox="1"/>
          <p:nvPr/>
        </p:nvSpPr>
        <p:spPr>
          <a:xfrm>
            <a:off x="685800" y="3657600"/>
            <a:ext cx="1828800" cy="548640"/>
          </a:xfrm>
          <a:prstGeom prst="rect">
            <a:avLst/>
          </a:prstGeom>
          <a:noFill/>
          <a:ln/>
        </p:spPr>
        <p:txBody>
          <a:bodyPr wrap="square" lIns="0" tIns="0" rIns="0" bIns="0" rtlCol="0" anchor="t"/>
          <a:lstStyle/>
          <a:p>
            <a:pPr marL="0" indent="0">
              <a:buNone/>
            </a:pPr>
            <a:r>
              <a:rPr lang="en-US" sz="3400" b="1" dirty="0">
                <a:solidFill>
                  <a:srgbClr val="FFFFFF"/>
                </a:solidFill>
                <a:latin typeface="Georgia" pitchFamily="34" charset="0"/>
                <a:ea typeface="Georgia" pitchFamily="34" charset="-122"/>
                <a:cs typeface="Georgia" pitchFamily="34" charset="-120"/>
              </a:rPr>
              <a:t>30</a:t>
            </a:r>
            <a:endParaRPr lang="en-US" sz="3400" dirty="0"/>
          </a:p>
        </p:txBody>
      </p:sp>
      <p:sp>
        <p:nvSpPr>
          <p:cNvPr id="38" name="Text 29"/>
          <p:cNvSpPr txBox="1"/>
          <p:nvPr/>
        </p:nvSpPr>
        <p:spPr>
          <a:xfrm>
            <a:off x="685800" y="4224528"/>
            <a:ext cx="1828800" cy="365760"/>
          </a:xfrm>
          <a:prstGeom prst="rect">
            <a:avLst/>
          </a:prstGeom>
          <a:noFill/>
          <a:ln/>
        </p:spPr>
        <p:txBody>
          <a:bodyPr wrap="square" lIns="0" tIns="0" rIns="0" bIns="0" rtlCol="0" anchor="t"/>
          <a:lstStyle/>
          <a:p>
            <a:pPr marL="0" indent="0">
              <a:buNone/>
            </a:pPr>
            <a:r>
              <a:rPr lang="en-US" sz="1250" dirty="0">
                <a:solidFill>
                  <a:srgbClr val="A9B8E8"/>
                </a:solidFill>
              </a:rPr>
              <a:t>days</a:t>
            </a:r>
            <a:endParaRPr lang="en-US" sz="1250" dirty="0"/>
          </a:p>
        </p:txBody>
      </p:sp>
      <p:sp>
        <p:nvSpPr>
          <p:cNvPr id="39" name="Text 30"/>
          <p:cNvSpPr txBox="1"/>
          <p:nvPr/>
        </p:nvSpPr>
        <p:spPr>
          <a:xfrm>
            <a:off x="2697480" y="3657600"/>
            <a:ext cx="1828800" cy="548640"/>
          </a:xfrm>
          <a:prstGeom prst="rect">
            <a:avLst/>
          </a:prstGeom>
          <a:noFill/>
          <a:ln/>
        </p:spPr>
        <p:txBody>
          <a:bodyPr wrap="square" lIns="0" tIns="0" rIns="0" bIns="0" rtlCol="0" anchor="t"/>
          <a:lstStyle/>
          <a:p>
            <a:pPr marL="0" indent="0">
              <a:buNone/>
            </a:pPr>
            <a:r>
              <a:rPr lang="en-US" sz="3400" b="1" dirty="0">
                <a:solidFill>
                  <a:srgbClr val="FFFFFF"/>
                </a:solidFill>
                <a:latin typeface="Georgia" pitchFamily="34" charset="0"/>
                <a:ea typeface="Georgia" pitchFamily="34" charset="-122"/>
                <a:cs typeface="Georgia" pitchFamily="34" charset="-120"/>
              </a:rPr>
              <a:t>3</a:t>
            </a:r>
            <a:endParaRPr lang="en-US" sz="3400" dirty="0"/>
          </a:p>
        </p:txBody>
      </p:sp>
      <p:sp>
        <p:nvSpPr>
          <p:cNvPr id="40" name="Text 31"/>
          <p:cNvSpPr txBox="1"/>
          <p:nvPr/>
        </p:nvSpPr>
        <p:spPr>
          <a:xfrm>
            <a:off x="2697480" y="4224528"/>
            <a:ext cx="1828800" cy="365760"/>
          </a:xfrm>
          <a:prstGeom prst="rect">
            <a:avLst/>
          </a:prstGeom>
          <a:noFill/>
          <a:ln/>
        </p:spPr>
        <p:txBody>
          <a:bodyPr wrap="square" lIns="0" tIns="0" rIns="0" bIns="0" rtlCol="0" anchor="t"/>
          <a:lstStyle/>
          <a:p>
            <a:pPr marL="0" indent="0">
              <a:buNone/>
            </a:pPr>
            <a:r>
              <a:rPr lang="en-US" sz="1250" dirty="0">
                <a:solidFill>
                  <a:srgbClr val="A9B8E8"/>
                </a:solidFill>
              </a:rPr>
              <a:t>learning phases</a:t>
            </a:r>
            <a:endParaRPr lang="en-US" sz="1250" dirty="0"/>
          </a:p>
        </p:txBody>
      </p:sp>
      <p:sp>
        <p:nvSpPr>
          <p:cNvPr id="41" name="Text 32"/>
          <p:cNvSpPr txBox="1"/>
          <p:nvPr/>
        </p:nvSpPr>
        <p:spPr>
          <a:xfrm>
            <a:off x="4709160" y="3657600"/>
            <a:ext cx="1828800" cy="548640"/>
          </a:xfrm>
          <a:prstGeom prst="rect">
            <a:avLst/>
          </a:prstGeom>
          <a:noFill/>
          <a:ln/>
        </p:spPr>
        <p:txBody>
          <a:bodyPr wrap="square" lIns="0" tIns="0" rIns="0" bIns="0" rtlCol="0" anchor="t"/>
          <a:lstStyle/>
          <a:p>
            <a:pPr marL="0" indent="0">
              <a:buNone/>
            </a:pPr>
            <a:r>
              <a:rPr lang="en-US" sz="3400" b="1" dirty="0">
                <a:solidFill>
                  <a:srgbClr val="FFFFFF"/>
                </a:solidFill>
                <a:latin typeface="Georgia" pitchFamily="34" charset="0"/>
                <a:ea typeface="Georgia" pitchFamily="34" charset="-122"/>
                <a:cs typeface="Georgia" pitchFamily="34" charset="-120"/>
              </a:rPr>
              <a:t>5</a:t>
            </a:r>
            <a:endParaRPr lang="en-US" sz="3400" dirty="0"/>
          </a:p>
        </p:txBody>
      </p:sp>
      <p:sp>
        <p:nvSpPr>
          <p:cNvPr id="42" name="Text 33"/>
          <p:cNvSpPr txBox="1"/>
          <p:nvPr/>
        </p:nvSpPr>
        <p:spPr>
          <a:xfrm>
            <a:off x="4709160" y="4224528"/>
            <a:ext cx="1828800" cy="365760"/>
          </a:xfrm>
          <a:prstGeom prst="rect">
            <a:avLst/>
          </a:prstGeom>
          <a:noFill/>
          <a:ln/>
        </p:spPr>
        <p:txBody>
          <a:bodyPr wrap="square" lIns="0" tIns="0" rIns="0" bIns="0" rtlCol="0" anchor="t"/>
          <a:lstStyle/>
          <a:p>
            <a:pPr marL="0" indent="0">
              <a:buNone/>
            </a:pPr>
            <a:r>
              <a:rPr lang="en-US" sz="1250" dirty="0">
                <a:solidFill>
                  <a:srgbClr val="A9B8E8"/>
                </a:solidFill>
              </a:rPr>
              <a:t>core screens designed</a:t>
            </a:r>
            <a:endParaRPr lang="en-US" sz="1250" dirty="0"/>
          </a:p>
        </p:txBody>
      </p:sp>
      <p:sp>
        <p:nvSpPr>
          <p:cNvPr id="43" name="Text 34"/>
          <p:cNvSpPr txBox="1"/>
          <p:nvPr/>
        </p:nvSpPr>
        <p:spPr>
          <a:xfrm>
            <a:off x="6720840" y="3657600"/>
            <a:ext cx="1828800" cy="548640"/>
          </a:xfrm>
          <a:prstGeom prst="rect">
            <a:avLst/>
          </a:prstGeom>
          <a:noFill/>
          <a:ln/>
        </p:spPr>
        <p:txBody>
          <a:bodyPr wrap="square" lIns="0" tIns="0" rIns="0" bIns="0" rtlCol="0" anchor="t"/>
          <a:lstStyle/>
          <a:p>
            <a:pPr marL="0" indent="0">
              <a:buNone/>
            </a:pPr>
            <a:r>
              <a:rPr lang="en-US" sz="3400" b="1" dirty="0">
                <a:solidFill>
                  <a:srgbClr val="FFFFFF"/>
                </a:solidFill>
                <a:latin typeface="Georgia" pitchFamily="34" charset="0"/>
                <a:ea typeface="Georgia" pitchFamily="34" charset="-122"/>
                <a:cs typeface="Georgia" pitchFamily="34" charset="-120"/>
              </a:rPr>
              <a:t>12</a:t>
            </a:r>
            <a:endParaRPr lang="en-US" sz="3400" dirty="0"/>
          </a:p>
        </p:txBody>
      </p:sp>
      <p:sp>
        <p:nvSpPr>
          <p:cNvPr id="44" name="Text 35"/>
          <p:cNvSpPr txBox="1"/>
          <p:nvPr/>
        </p:nvSpPr>
        <p:spPr>
          <a:xfrm>
            <a:off x="6720840" y="4224528"/>
            <a:ext cx="1828800" cy="365760"/>
          </a:xfrm>
          <a:prstGeom prst="rect">
            <a:avLst/>
          </a:prstGeom>
          <a:noFill/>
          <a:ln/>
        </p:spPr>
        <p:txBody>
          <a:bodyPr wrap="square" lIns="0" tIns="0" rIns="0" bIns="0" rtlCol="0" anchor="t"/>
          <a:lstStyle/>
          <a:p>
            <a:pPr marL="0" indent="0">
              <a:buNone/>
            </a:pPr>
            <a:r>
              <a:rPr lang="en-US" sz="1250" dirty="0">
                <a:solidFill>
                  <a:srgbClr val="A9B8E8"/>
                </a:solidFill>
              </a:rPr>
              <a:t>experience requirements</a:t>
            </a:r>
            <a:endParaRPr lang="en-US" sz="1250" dirty="0"/>
          </a:p>
        </p:txBody>
      </p:sp>
      <p:sp>
        <p:nvSpPr>
          <p:cNvPr id="45" name="Text 36"/>
          <p:cNvSpPr txBox="1"/>
          <p:nvPr/>
        </p:nvSpPr>
        <p:spPr>
          <a:xfrm>
            <a:off x="457200" y="4572000"/>
            <a:ext cx="7315200" cy="182880"/>
          </a:xfrm>
          <a:prstGeom prst="rect">
            <a:avLst/>
          </a:prstGeom>
          <a:noFill/>
          <a:ln/>
        </p:spPr>
        <p:txBody>
          <a:bodyPr wrap="square" lIns="0" tIns="0" rIns="0" bIns="0" rtlCol="0" anchor="t"/>
          <a:lstStyle/>
          <a:p>
            <a:pPr marL="0" indent="0">
              <a:buNone/>
            </a:pPr>
            <a:r>
              <a:rPr lang="en-US" sz="950" dirty="0">
                <a:solidFill>
                  <a:srgbClr val="6B7280"/>
                </a:solidFill>
              </a:rPr>
              <a:t>Source: offer letter, completion certificate, annexure and internship report.</a:t>
            </a:r>
            <a:endParaRPr lang="en-US" sz="95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01 · INTERNSHIP</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About the Internship Organization</a:t>
            </a:r>
            <a:endParaRPr lang="en-US" sz="2500" dirty="0"/>
          </a:p>
        </p:txBody>
      </p:sp>
      <p:sp>
        <p:nvSpPr>
          <p:cNvPr id="5" name="Shape 2"/>
          <p:cNvSpPr/>
          <p:nvPr/>
        </p:nvSpPr>
        <p:spPr>
          <a:xfrm>
            <a:off x="457200" y="1143000"/>
            <a:ext cx="3931920" cy="3291840"/>
          </a:xfrm>
          <a:prstGeom prst="roundRect">
            <a:avLst>
              <a:gd name="adj" fmla="val 1944"/>
            </a:avLst>
          </a:prstGeom>
          <a:solidFill>
            <a:srgbClr val="0B1F4B"/>
          </a:solidFill>
          <a:ln w="12700">
            <a:solidFill>
              <a:srgbClr val="0B1F4B"/>
            </a:solidFill>
            <a:prstDash val="solid"/>
          </a:ln>
          <a:effectLst>
            <a:outerShdw blurRad="101600" dist="25400" dir="5400000" algn="bl" rotWithShape="0">
              <a:srgbClr val="000000">
                <a:alpha val="14000"/>
              </a:srgbClr>
            </a:outerShdw>
          </a:effectLst>
        </p:spPr>
      </p:sp>
      <p:sp>
        <p:nvSpPr>
          <p:cNvPr id="6" name="Text 3"/>
          <p:cNvSpPr txBox="1"/>
          <p:nvPr/>
        </p:nvSpPr>
        <p:spPr>
          <a:xfrm>
            <a:off x="731520" y="1371600"/>
            <a:ext cx="3383280" cy="822960"/>
          </a:xfrm>
          <a:prstGeom prst="rect">
            <a:avLst/>
          </a:prstGeom>
          <a:noFill/>
          <a:ln/>
        </p:spPr>
        <p:txBody>
          <a:bodyPr wrap="square" lIns="0" tIns="0" rIns="0" bIns="0" rtlCol="0" anchor="t"/>
          <a:lstStyle/>
          <a:p>
            <a:pPr marL="0" indent="0">
              <a:buNone/>
            </a:pPr>
            <a:r>
              <a:rPr lang="en-US" sz="2200" b="1" dirty="0">
                <a:solidFill>
                  <a:srgbClr val="FFFFFF"/>
                </a:solidFill>
                <a:latin typeface="Georgia" pitchFamily="34" charset="0"/>
                <a:ea typeface="Georgia" pitchFamily="34" charset="-122"/>
                <a:cs typeface="Georgia" pitchFamily="34" charset="-120"/>
              </a:rPr>
              <a:t>Astonish InfoTech</a:t>
            </a:r>
            <a:endParaRPr lang="en-US" sz="2200" dirty="0"/>
          </a:p>
          <a:p>
            <a:pPr marL="0" indent="0">
              <a:buNone/>
            </a:pPr>
            <a:r>
              <a:rPr lang="en-US" sz="2200" b="1" dirty="0">
                <a:solidFill>
                  <a:srgbClr val="FFFFFF"/>
                </a:solidFill>
                <a:latin typeface="Georgia" pitchFamily="34" charset="0"/>
                <a:ea typeface="Georgia" pitchFamily="34" charset="-122"/>
                <a:cs typeface="Georgia" pitchFamily="34" charset="-120"/>
              </a:rPr>
              <a:t>Private Limited</a:t>
            </a:r>
            <a:endParaRPr lang="en-US" sz="2200" dirty="0"/>
          </a:p>
        </p:txBody>
      </p:sp>
      <p:sp>
        <p:nvSpPr>
          <p:cNvPr id="7" name="Shape 4"/>
          <p:cNvSpPr/>
          <p:nvPr/>
        </p:nvSpPr>
        <p:spPr>
          <a:xfrm>
            <a:off x="731520" y="2331720"/>
            <a:ext cx="365760" cy="365760"/>
          </a:xfrm>
          <a:prstGeom prst="roundRect">
            <a:avLst>
              <a:gd name="adj" fmla="val 22000"/>
            </a:avLst>
          </a:prstGeom>
          <a:solidFill>
            <a:srgbClr val="2A3F85"/>
          </a:solidFill>
          <a:ln w="12700">
            <a:solidFill>
              <a:srgbClr val="2A3F85"/>
            </a:solidFill>
            <a:prstDash val="solid"/>
          </a:ln>
        </p:spPr>
      </p:sp>
      <p:pic>
        <p:nvPicPr>
          <p:cNvPr id="8" name="Image 0" descr="preencoded.png"/>
          <p:cNvPicPr>
            <a:picLocks noChangeAspect="1"/>
          </p:cNvPicPr>
          <p:nvPr/>
        </p:nvPicPr>
        <p:blipFill>
          <a:blip r:embed="rId3"/>
          <a:stretch>
            <a:fillRect/>
          </a:stretch>
        </p:blipFill>
        <p:spPr>
          <a:xfrm>
            <a:off x="819302" y="2419502"/>
            <a:ext cx="190195" cy="190195"/>
          </a:xfrm>
          <a:prstGeom prst="rect">
            <a:avLst/>
          </a:prstGeom>
        </p:spPr>
      </p:pic>
      <p:sp>
        <p:nvSpPr>
          <p:cNvPr id="9" name="Text 5"/>
          <p:cNvSpPr txBox="1"/>
          <p:nvPr/>
        </p:nvSpPr>
        <p:spPr>
          <a:xfrm>
            <a:off x="1234440" y="2331720"/>
            <a:ext cx="2926080" cy="548640"/>
          </a:xfrm>
          <a:prstGeom prst="rect">
            <a:avLst/>
          </a:prstGeom>
          <a:noFill/>
          <a:ln/>
        </p:spPr>
        <p:txBody>
          <a:bodyPr wrap="square" lIns="0" tIns="0" rIns="0" bIns="0" rtlCol="0" anchor="ctr"/>
          <a:lstStyle/>
          <a:p>
            <a:pPr marL="0" indent="0">
              <a:buNone/>
            </a:pPr>
            <a:r>
              <a:rPr lang="en-US" sz="1200" dirty="0">
                <a:solidFill>
                  <a:srgbClr val="DCE4FA"/>
                </a:solidFill>
              </a:rPr>
              <a:t>G7, Technology Park, Bharathidasan University (BUTP), Kajamalai Campus, Tiruchirappalli – 620 023</a:t>
            </a:r>
            <a:endParaRPr lang="en-US" sz="1200" dirty="0"/>
          </a:p>
        </p:txBody>
      </p:sp>
      <p:sp>
        <p:nvSpPr>
          <p:cNvPr id="10" name="Shape 6"/>
          <p:cNvSpPr/>
          <p:nvPr/>
        </p:nvSpPr>
        <p:spPr>
          <a:xfrm>
            <a:off x="731520" y="3017520"/>
            <a:ext cx="365760" cy="365760"/>
          </a:xfrm>
          <a:prstGeom prst="roundRect">
            <a:avLst>
              <a:gd name="adj" fmla="val 22000"/>
            </a:avLst>
          </a:prstGeom>
          <a:solidFill>
            <a:srgbClr val="2A3F85"/>
          </a:solidFill>
          <a:ln w="12700">
            <a:solidFill>
              <a:srgbClr val="2A3F85"/>
            </a:solidFill>
            <a:prstDash val="solid"/>
          </a:ln>
        </p:spPr>
      </p:sp>
      <p:pic>
        <p:nvPicPr>
          <p:cNvPr id="11" name="Image 1" descr="preencoded.png"/>
          <p:cNvPicPr>
            <a:picLocks noChangeAspect="1"/>
          </p:cNvPicPr>
          <p:nvPr/>
        </p:nvPicPr>
        <p:blipFill>
          <a:blip r:embed="rId4"/>
          <a:stretch>
            <a:fillRect/>
          </a:stretch>
        </p:blipFill>
        <p:spPr>
          <a:xfrm>
            <a:off x="819302" y="3105302"/>
            <a:ext cx="190195" cy="190195"/>
          </a:xfrm>
          <a:prstGeom prst="rect">
            <a:avLst/>
          </a:prstGeom>
        </p:spPr>
      </p:pic>
      <p:sp>
        <p:nvSpPr>
          <p:cNvPr id="12" name="Text 7"/>
          <p:cNvSpPr txBox="1"/>
          <p:nvPr/>
        </p:nvSpPr>
        <p:spPr>
          <a:xfrm>
            <a:off x="1234440" y="3017520"/>
            <a:ext cx="2926080" cy="548640"/>
          </a:xfrm>
          <a:prstGeom prst="rect">
            <a:avLst/>
          </a:prstGeom>
          <a:noFill/>
          <a:ln/>
        </p:spPr>
        <p:txBody>
          <a:bodyPr wrap="square" lIns="0" tIns="0" rIns="0" bIns="0" rtlCol="0" anchor="ctr"/>
          <a:lstStyle/>
          <a:p>
            <a:pPr marL="0" indent="0">
              <a:buNone/>
            </a:pPr>
            <a:r>
              <a:rPr lang="en-US" sz="1200" dirty="0">
                <a:solidFill>
                  <a:srgbClr val="DCE4FA"/>
                </a:solidFill>
              </a:rPr>
              <a:t>www.astonishinfotech.com</a:t>
            </a:r>
            <a:endParaRPr lang="en-US" sz="1200" dirty="0"/>
          </a:p>
        </p:txBody>
      </p:sp>
      <p:sp>
        <p:nvSpPr>
          <p:cNvPr id="13" name="Shape 8"/>
          <p:cNvSpPr/>
          <p:nvPr/>
        </p:nvSpPr>
        <p:spPr>
          <a:xfrm>
            <a:off x="731520" y="3703320"/>
            <a:ext cx="365760" cy="365760"/>
          </a:xfrm>
          <a:prstGeom prst="roundRect">
            <a:avLst>
              <a:gd name="adj" fmla="val 22000"/>
            </a:avLst>
          </a:prstGeom>
          <a:solidFill>
            <a:srgbClr val="2A3F85"/>
          </a:solidFill>
          <a:ln w="12700">
            <a:solidFill>
              <a:srgbClr val="2A3F85"/>
            </a:solidFill>
            <a:prstDash val="solid"/>
          </a:ln>
        </p:spPr>
      </p:sp>
      <p:pic>
        <p:nvPicPr>
          <p:cNvPr id="14" name="Image 2" descr="preencoded.png"/>
          <p:cNvPicPr>
            <a:picLocks noChangeAspect="1"/>
          </p:cNvPicPr>
          <p:nvPr/>
        </p:nvPicPr>
        <p:blipFill>
          <a:blip r:embed="rId5"/>
          <a:stretch>
            <a:fillRect/>
          </a:stretch>
        </p:blipFill>
        <p:spPr>
          <a:xfrm>
            <a:off x="819302" y="3791102"/>
            <a:ext cx="190195" cy="190195"/>
          </a:xfrm>
          <a:prstGeom prst="rect">
            <a:avLst/>
          </a:prstGeom>
        </p:spPr>
      </p:pic>
      <p:sp>
        <p:nvSpPr>
          <p:cNvPr id="15" name="Text 9"/>
          <p:cNvSpPr txBox="1"/>
          <p:nvPr/>
        </p:nvSpPr>
        <p:spPr>
          <a:xfrm>
            <a:off x="1234440" y="3703320"/>
            <a:ext cx="2926080" cy="548640"/>
          </a:xfrm>
          <a:prstGeom prst="rect">
            <a:avLst/>
          </a:prstGeom>
          <a:noFill/>
          <a:ln/>
        </p:spPr>
        <p:txBody>
          <a:bodyPr wrap="square" lIns="0" tIns="0" rIns="0" bIns="0" rtlCol="0" anchor="ctr"/>
          <a:lstStyle/>
          <a:p>
            <a:pPr marL="0" indent="0">
              <a:buNone/>
            </a:pPr>
            <a:r>
              <a:rPr lang="en-US" sz="1200" dirty="0">
                <a:solidFill>
                  <a:srgbClr val="DCE4FA"/>
                </a:solidFill>
              </a:rPr>
              <a:t>Offer letter dated 30.05.2026 for the UI/UX internship</a:t>
            </a:r>
            <a:endParaRPr lang="en-US" sz="1200" dirty="0"/>
          </a:p>
        </p:txBody>
      </p:sp>
      <p:sp>
        <p:nvSpPr>
          <p:cNvPr id="16" name="Text 10"/>
          <p:cNvSpPr txBox="1"/>
          <p:nvPr/>
        </p:nvSpPr>
        <p:spPr>
          <a:xfrm>
            <a:off x="4709160" y="1143000"/>
            <a:ext cx="3931920" cy="274320"/>
          </a:xfrm>
          <a:prstGeom prst="rect">
            <a:avLst/>
          </a:prstGeom>
          <a:noFill/>
          <a:ln/>
        </p:spPr>
        <p:txBody>
          <a:bodyPr wrap="square" lIns="0" tIns="0" rIns="0" bIns="0" rtlCol="0" anchor="t"/>
          <a:lstStyle/>
          <a:p>
            <a:pPr marL="0" indent="0">
              <a:buNone/>
            </a:pPr>
            <a:r>
              <a:rPr lang="en-US" sz="1400" b="1" dirty="0">
                <a:solidFill>
                  <a:srgbClr val="0B1F4B"/>
                </a:solidFill>
              </a:rPr>
              <a:t>Service areas listed on the company letterhead</a:t>
            </a:r>
            <a:endParaRPr lang="en-US" sz="1400" dirty="0"/>
          </a:p>
        </p:txBody>
      </p:sp>
      <p:sp>
        <p:nvSpPr>
          <p:cNvPr id="17" name="Shape 11"/>
          <p:cNvSpPr/>
          <p:nvPr/>
        </p:nvSpPr>
        <p:spPr>
          <a:xfrm>
            <a:off x="4709160" y="1554480"/>
            <a:ext cx="1874520" cy="777240"/>
          </a:xfrm>
          <a:prstGeom prst="roundRect">
            <a:avLst>
              <a:gd name="adj" fmla="val 8235"/>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8" name="Shape 12"/>
          <p:cNvSpPr/>
          <p:nvPr/>
        </p:nvSpPr>
        <p:spPr>
          <a:xfrm>
            <a:off x="4818888" y="1737360"/>
            <a:ext cx="411480" cy="411480"/>
          </a:xfrm>
          <a:prstGeom prst="roundRect">
            <a:avLst>
              <a:gd name="adj" fmla="val 22000"/>
            </a:avLst>
          </a:prstGeom>
          <a:solidFill>
            <a:srgbClr val="2F5BFF"/>
          </a:solidFill>
          <a:ln w="12700">
            <a:solidFill>
              <a:srgbClr val="2F5BFF"/>
            </a:solidFill>
            <a:prstDash val="solid"/>
          </a:ln>
        </p:spPr>
      </p:sp>
      <p:pic>
        <p:nvPicPr>
          <p:cNvPr id="19" name="Image 3" descr="preencoded.png"/>
          <p:cNvPicPr>
            <a:picLocks noChangeAspect="1"/>
          </p:cNvPicPr>
          <p:nvPr/>
        </p:nvPicPr>
        <p:blipFill>
          <a:blip r:embed="rId6"/>
          <a:stretch>
            <a:fillRect/>
          </a:stretch>
        </p:blipFill>
        <p:spPr>
          <a:xfrm>
            <a:off x="4917643" y="1836115"/>
            <a:ext cx="213970" cy="213970"/>
          </a:xfrm>
          <a:prstGeom prst="rect">
            <a:avLst/>
          </a:prstGeom>
        </p:spPr>
      </p:pic>
      <p:sp>
        <p:nvSpPr>
          <p:cNvPr id="20" name="Text 13"/>
          <p:cNvSpPr txBox="1"/>
          <p:nvPr/>
        </p:nvSpPr>
        <p:spPr>
          <a:xfrm>
            <a:off x="5330952" y="1554480"/>
            <a:ext cx="1188720" cy="777240"/>
          </a:xfrm>
          <a:prstGeom prst="rect">
            <a:avLst/>
          </a:prstGeom>
          <a:noFill/>
          <a:ln/>
        </p:spPr>
        <p:txBody>
          <a:bodyPr wrap="square" lIns="0" tIns="0" rIns="0" bIns="0" rtlCol="0" anchor="ctr"/>
          <a:lstStyle/>
          <a:p>
            <a:pPr marL="0" indent="0">
              <a:buNone/>
            </a:pPr>
            <a:r>
              <a:rPr lang="en-US" sz="1250" b="1" dirty="0">
                <a:solidFill>
                  <a:srgbClr val="0B1F4B"/>
                </a:solidFill>
              </a:rPr>
              <a:t>Web design</a:t>
            </a:r>
            <a:endParaRPr lang="en-US" sz="1250" dirty="0"/>
          </a:p>
        </p:txBody>
      </p:sp>
      <p:sp>
        <p:nvSpPr>
          <p:cNvPr id="21" name="Shape 14"/>
          <p:cNvSpPr/>
          <p:nvPr/>
        </p:nvSpPr>
        <p:spPr>
          <a:xfrm>
            <a:off x="6720840" y="1554480"/>
            <a:ext cx="1874520" cy="777240"/>
          </a:xfrm>
          <a:prstGeom prst="roundRect">
            <a:avLst>
              <a:gd name="adj" fmla="val 8235"/>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2" name="Shape 15"/>
          <p:cNvSpPr/>
          <p:nvPr/>
        </p:nvSpPr>
        <p:spPr>
          <a:xfrm>
            <a:off x="6830568" y="1737360"/>
            <a:ext cx="411480" cy="411480"/>
          </a:xfrm>
          <a:prstGeom prst="roundRect">
            <a:avLst>
              <a:gd name="adj" fmla="val 22000"/>
            </a:avLst>
          </a:prstGeom>
          <a:solidFill>
            <a:srgbClr val="2F5BFF"/>
          </a:solidFill>
          <a:ln w="12700">
            <a:solidFill>
              <a:srgbClr val="2F5BFF"/>
            </a:solidFill>
            <a:prstDash val="solid"/>
          </a:ln>
        </p:spPr>
      </p:sp>
      <p:pic>
        <p:nvPicPr>
          <p:cNvPr id="23" name="Image 4" descr="preencoded.png"/>
          <p:cNvPicPr>
            <a:picLocks noChangeAspect="1"/>
          </p:cNvPicPr>
          <p:nvPr/>
        </p:nvPicPr>
        <p:blipFill>
          <a:blip r:embed="rId7"/>
          <a:stretch>
            <a:fillRect/>
          </a:stretch>
        </p:blipFill>
        <p:spPr>
          <a:xfrm>
            <a:off x="6929323" y="1836115"/>
            <a:ext cx="213970" cy="213970"/>
          </a:xfrm>
          <a:prstGeom prst="rect">
            <a:avLst/>
          </a:prstGeom>
        </p:spPr>
      </p:pic>
      <p:sp>
        <p:nvSpPr>
          <p:cNvPr id="24" name="Text 16"/>
          <p:cNvSpPr txBox="1"/>
          <p:nvPr/>
        </p:nvSpPr>
        <p:spPr>
          <a:xfrm>
            <a:off x="7342632" y="1554480"/>
            <a:ext cx="1188720" cy="777240"/>
          </a:xfrm>
          <a:prstGeom prst="rect">
            <a:avLst/>
          </a:prstGeom>
          <a:noFill/>
          <a:ln/>
        </p:spPr>
        <p:txBody>
          <a:bodyPr wrap="square" lIns="0" tIns="0" rIns="0" bIns="0" rtlCol="0" anchor="ctr"/>
          <a:lstStyle/>
          <a:p>
            <a:pPr marL="0" indent="0">
              <a:buNone/>
            </a:pPr>
            <a:r>
              <a:rPr lang="en-US" sz="1250" b="1" dirty="0">
                <a:solidFill>
                  <a:srgbClr val="0B1F4B"/>
                </a:solidFill>
              </a:rPr>
              <a:t>Web development</a:t>
            </a:r>
            <a:endParaRPr lang="en-US" sz="1250" dirty="0"/>
          </a:p>
        </p:txBody>
      </p:sp>
      <p:sp>
        <p:nvSpPr>
          <p:cNvPr id="25" name="Shape 17"/>
          <p:cNvSpPr/>
          <p:nvPr/>
        </p:nvSpPr>
        <p:spPr>
          <a:xfrm>
            <a:off x="4709160" y="2468880"/>
            <a:ext cx="1874520" cy="777240"/>
          </a:xfrm>
          <a:prstGeom prst="roundRect">
            <a:avLst>
              <a:gd name="adj" fmla="val 8235"/>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6" name="Shape 18"/>
          <p:cNvSpPr/>
          <p:nvPr/>
        </p:nvSpPr>
        <p:spPr>
          <a:xfrm>
            <a:off x="4818888" y="2651760"/>
            <a:ext cx="411480" cy="411480"/>
          </a:xfrm>
          <a:prstGeom prst="roundRect">
            <a:avLst>
              <a:gd name="adj" fmla="val 22000"/>
            </a:avLst>
          </a:prstGeom>
          <a:solidFill>
            <a:srgbClr val="2F5BFF"/>
          </a:solidFill>
          <a:ln w="12700">
            <a:solidFill>
              <a:srgbClr val="2F5BFF"/>
            </a:solidFill>
            <a:prstDash val="solid"/>
          </a:ln>
        </p:spPr>
      </p:sp>
      <p:pic>
        <p:nvPicPr>
          <p:cNvPr id="27" name="Image 5" descr="preencoded.png"/>
          <p:cNvPicPr>
            <a:picLocks noChangeAspect="1"/>
          </p:cNvPicPr>
          <p:nvPr/>
        </p:nvPicPr>
        <p:blipFill>
          <a:blip r:embed="rId8"/>
          <a:stretch>
            <a:fillRect/>
          </a:stretch>
        </p:blipFill>
        <p:spPr>
          <a:xfrm>
            <a:off x="4917643" y="2750515"/>
            <a:ext cx="213970" cy="213970"/>
          </a:xfrm>
          <a:prstGeom prst="rect">
            <a:avLst/>
          </a:prstGeom>
        </p:spPr>
      </p:pic>
      <p:sp>
        <p:nvSpPr>
          <p:cNvPr id="28" name="Text 19"/>
          <p:cNvSpPr txBox="1"/>
          <p:nvPr/>
        </p:nvSpPr>
        <p:spPr>
          <a:xfrm>
            <a:off x="5330952" y="2468880"/>
            <a:ext cx="1188720" cy="777240"/>
          </a:xfrm>
          <a:prstGeom prst="rect">
            <a:avLst/>
          </a:prstGeom>
          <a:noFill/>
          <a:ln/>
        </p:spPr>
        <p:txBody>
          <a:bodyPr wrap="square" lIns="0" tIns="0" rIns="0" bIns="0" rtlCol="0" anchor="ctr"/>
          <a:lstStyle/>
          <a:p>
            <a:pPr marL="0" indent="0">
              <a:buNone/>
            </a:pPr>
            <a:r>
              <a:rPr lang="en-US" sz="1250" b="1" dirty="0">
                <a:solidFill>
                  <a:srgbClr val="0B1F4B"/>
                </a:solidFill>
              </a:rPr>
              <a:t>Web hosting</a:t>
            </a:r>
            <a:endParaRPr lang="en-US" sz="1250" dirty="0"/>
          </a:p>
        </p:txBody>
      </p:sp>
      <p:sp>
        <p:nvSpPr>
          <p:cNvPr id="29" name="Shape 20"/>
          <p:cNvSpPr/>
          <p:nvPr/>
        </p:nvSpPr>
        <p:spPr>
          <a:xfrm>
            <a:off x="6720840" y="2468880"/>
            <a:ext cx="1874520" cy="777240"/>
          </a:xfrm>
          <a:prstGeom prst="roundRect">
            <a:avLst>
              <a:gd name="adj" fmla="val 8235"/>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0" name="Shape 21"/>
          <p:cNvSpPr/>
          <p:nvPr/>
        </p:nvSpPr>
        <p:spPr>
          <a:xfrm>
            <a:off x="6830568" y="2651760"/>
            <a:ext cx="411480" cy="411480"/>
          </a:xfrm>
          <a:prstGeom prst="roundRect">
            <a:avLst>
              <a:gd name="adj" fmla="val 22000"/>
            </a:avLst>
          </a:prstGeom>
          <a:solidFill>
            <a:srgbClr val="2F5BFF"/>
          </a:solidFill>
          <a:ln w="12700">
            <a:solidFill>
              <a:srgbClr val="2F5BFF"/>
            </a:solidFill>
            <a:prstDash val="solid"/>
          </a:ln>
        </p:spPr>
      </p:sp>
      <p:pic>
        <p:nvPicPr>
          <p:cNvPr id="31" name="Image 6" descr="preencoded.png"/>
          <p:cNvPicPr>
            <a:picLocks noChangeAspect="1"/>
          </p:cNvPicPr>
          <p:nvPr/>
        </p:nvPicPr>
        <p:blipFill>
          <a:blip r:embed="rId4"/>
          <a:stretch>
            <a:fillRect/>
          </a:stretch>
        </p:blipFill>
        <p:spPr>
          <a:xfrm>
            <a:off x="6929323" y="2750515"/>
            <a:ext cx="213970" cy="213970"/>
          </a:xfrm>
          <a:prstGeom prst="rect">
            <a:avLst/>
          </a:prstGeom>
        </p:spPr>
      </p:pic>
      <p:sp>
        <p:nvSpPr>
          <p:cNvPr id="32" name="Text 22"/>
          <p:cNvSpPr txBox="1"/>
          <p:nvPr/>
        </p:nvSpPr>
        <p:spPr>
          <a:xfrm>
            <a:off x="7342632" y="2468880"/>
            <a:ext cx="1188720" cy="777240"/>
          </a:xfrm>
          <a:prstGeom prst="rect">
            <a:avLst/>
          </a:prstGeom>
          <a:noFill/>
          <a:ln/>
        </p:spPr>
        <p:txBody>
          <a:bodyPr wrap="square" lIns="0" tIns="0" rIns="0" bIns="0" rtlCol="0" anchor="ctr"/>
          <a:lstStyle/>
          <a:p>
            <a:pPr marL="0" indent="0">
              <a:buNone/>
            </a:pPr>
            <a:r>
              <a:rPr lang="en-US" sz="1250" b="1" dirty="0">
                <a:solidFill>
                  <a:srgbClr val="0B1F4B"/>
                </a:solidFill>
              </a:rPr>
              <a:t>Domain registration</a:t>
            </a:r>
            <a:endParaRPr lang="en-US" sz="1250" dirty="0"/>
          </a:p>
        </p:txBody>
      </p:sp>
      <p:sp>
        <p:nvSpPr>
          <p:cNvPr id="33" name="Shape 23"/>
          <p:cNvSpPr/>
          <p:nvPr/>
        </p:nvSpPr>
        <p:spPr>
          <a:xfrm>
            <a:off x="4709160" y="3383280"/>
            <a:ext cx="1874520" cy="777240"/>
          </a:xfrm>
          <a:prstGeom prst="roundRect">
            <a:avLst>
              <a:gd name="adj" fmla="val 8235"/>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4" name="Shape 24"/>
          <p:cNvSpPr/>
          <p:nvPr/>
        </p:nvSpPr>
        <p:spPr>
          <a:xfrm>
            <a:off x="4818888" y="3566160"/>
            <a:ext cx="411480" cy="411480"/>
          </a:xfrm>
          <a:prstGeom prst="roundRect">
            <a:avLst>
              <a:gd name="adj" fmla="val 22000"/>
            </a:avLst>
          </a:prstGeom>
          <a:solidFill>
            <a:srgbClr val="2F5BFF"/>
          </a:solidFill>
          <a:ln w="12700">
            <a:solidFill>
              <a:srgbClr val="2F5BFF"/>
            </a:solidFill>
            <a:prstDash val="solid"/>
          </a:ln>
        </p:spPr>
      </p:sp>
      <p:pic>
        <p:nvPicPr>
          <p:cNvPr id="35" name="Image 7" descr="preencoded.png"/>
          <p:cNvPicPr>
            <a:picLocks noChangeAspect="1"/>
          </p:cNvPicPr>
          <p:nvPr/>
        </p:nvPicPr>
        <p:blipFill>
          <a:blip r:embed="rId9"/>
          <a:stretch>
            <a:fillRect/>
          </a:stretch>
        </p:blipFill>
        <p:spPr>
          <a:xfrm>
            <a:off x="4917643" y="3664915"/>
            <a:ext cx="213970" cy="213970"/>
          </a:xfrm>
          <a:prstGeom prst="rect">
            <a:avLst/>
          </a:prstGeom>
        </p:spPr>
      </p:pic>
      <p:sp>
        <p:nvSpPr>
          <p:cNvPr id="36" name="Text 25"/>
          <p:cNvSpPr txBox="1"/>
          <p:nvPr/>
        </p:nvSpPr>
        <p:spPr>
          <a:xfrm>
            <a:off x="5330952" y="3383280"/>
            <a:ext cx="1188720" cy="777240"/>
          </a:xfrm>
          <a:prstGeom prst="rect">
            <a:avLst/>
          </a:prstGeom>
          <a:noFill/>
          <a:ln/>
        </p:spPr>
        <p:txBody>
          <a:bodyPr wrap="square" lIns="0" tIns="0" rIns="0" bIns="0" rtlCol="0" anchor="ctr"/>
          <a:lstStyle/>
          <a:p>
            <a:pPr marL="0" indent="0">
              <a:buNone/>
            </a:pPr>
            <a:r>
              <a:rPr lang="en-US" sz="1250" b="1" dirty="0">
                <a:solidFill>
                  <a:srgbClr val="0B1F4B"/>
                </a:solidFill>
              </a:rPr>
              <a:t>Digital marketing</a:t>
            </a:r>
            <a:endParaRPr lang="en-US" sz="1250" dirty="0"/>
          </a:p>
        </p:txBody>
      </p:sp>
      <p:sp>
        <p:nvSpPr>
          <p:cNvPr id="37" name="Shape 26"/>
          <p:cNvSpPr/>
          <p:nvPr/>
        </p:nvSpPr>
        <p:spPr>
          <a:xfrm>
            <a:off x="6720840" y="3383280"/>
            <a:ext cx="1874520" cy="777240"/>
          </a:xfrm>
          <a:prstGeom prst="roundRect">
            <a:avLst>
              <a:gd name="adj" fmla="val 8235"/>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8" name="Shape 27"/>
          <p:cNvSpPr/>
          <p:nvPr/>
        </p:nvSpPr>
        <p:spPr>
          <a:xfrm>
            <a:off x="6830568" y="3566160"/>
            <a:ext cx="411480" cy="411480"/>
          </a:xfrm>
          <a:prstGeom prst="roundRect">
            <a:avLst>
              <a:gd name="adj" fmla="val 22000"/>
            </a:avLst>
          </a:prstGeom>
          <a:solidFill>
            <a:srgbClr val="2F5BFF"/>
          </a:solidFill>
          <a:ln w="12700">
            <a:solidFill>
              <a:srgbClr val="2F5BFF"/>
            </a:solidFill>
            <a:prstDash val="solid"/>
          </a:ln>
        </p:spPr>
      </p:sp>
      <p:pic>
        <p:nvPicPr>
          <p:cNvPr id="39" name="Image 8" descr="preencoded.png"/>
          <p:cNvPicPr>
            <a:picLocks noChangeAspect="1"/>
          </p:cNvPicPr>
          <p:nvPr/>
        </p:nvPicPr>
        <p:blipFill>
          <a:blip r:embed="rId10"/>
          <a:stretch>
            <a:fillRect/>
          </a:stretch>
        </p:blipFill>
        <p:spPr>
          <a:xfrm>
            <a:off x="6929323" y="3664915"/>
            <a:ext cx="213970" cy="213970"/>
          </a:xfrm>
          <a:prstGeom prst="rect">
            <a:avLst/>
          </a:prstGeom>
        </p:spPr>
      </p:pic>
      <p:sp>
        <p:nvSpPr>
          <p:cNvPr id="40" name="Text 28"/>
          <p:cNvSpPr txBox="1"/>
          <p:nvPr/>
        </p:nvSpPr>
        <p:spPr>
          <a:xfrm>
            <a:off x="7342632" y="3383280"/>
            <a:ext cx="1188720" cy="777240"/>
          </a:xfrm>
          <a:prstGeom prst="rect">
            <a:avLst/>
          </a:prstGeom>
          <a:noFill/>
          <a:ln/>
        </p:spPr>
        <p:txBody>
          <a:bodyPr wrap="square" lIns="0" tIns="0" rIns="0" bIns="0" rtlCol="0" anchor="ctr"/>
          <a:lstStyle/>
          <a:p>
            <a:pPr marL="0" indent="0">
              <a:buNone/>
            </a:pPr>
            <a:r>
              <a:rPr lang="en-US" sz="1250" b="1" dirty="0">
                <a:solidFill>
                  <a:srgbClr val="0B1F4B"/>
                </a:solidFill>
              </a:rPr>
              <a:t>Android</a:t>
            </a:r>
            <a:endParaRPr lang="en-US" sz="1250" dirty="0"/>
          </a:p>
        </p:txBody>
      </p:sp>
      <p:sp>
        <p:nvSpPr>
          <p:cNvPr id="41" name="Text 29"/>
          <p:cNvSpPr txBox="1"/>
          <p:nvPr/>
        </p:nvSpPr>
        <p:spPr>
          <a:xfrm>
            <a:off x="4709160" y="4343400"/>
            <a:ext cx="3931920" cy="365760"/>
          </a:xfrm>
          <a:prstGeom prst="rect">
            <a:avLst/>
          </a:prstGeom>
          <a:noFill/>
          <a:ln/>
        </p:spPr>
        <p:txBody>
          <a:bodyPr wrap="square" lIns="0" tIns="0" rIns="0" bIns="0" rtlCol="0" anchor="t"/>
          <a:lstStyle/>
          <a:p>
            <a:pPr marL="0" indent="0">
              <a:buNone/>
            </a:pPr>
            <a:r>
              <a:rPr lang="en-US" sz="1050" dirty="0">
                <a:solidFill>
                  <a:srgbClr val="6B7280"/>
                </a:solidFill>
              </a:rPr>
              <a:t>Details taken from the offer letter and annexure letterhead; not independently verified.</a:t>
            </a:r>
            <a:endParaRPr lang="en-US" sz="105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02 · LEARNING GOALS</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Internship Objectives</a:t>
            </a:r>
            <a:endParaRPr lang="en-US" sz="2500" dirty="0"/>
          </a:p>
        </p:txBody>
      </p:sp>
      <p:sp>
        <p:nvSpPr>
          <p:cNvPr id="5" name="Shape 2"/>
          <p:cNvSpPr/>
          <p:nvPr/>
        </p:nvSpPr>
        <p:spPr>
          <a:xfrm>
            <a:off x="457200" y="1188720"/>
            <a:ext cx="1536192" cy="2514600"/>
          </a:xfrm>
          <a:prstGeom prst="roundRect">
            <a:avLst>
              <a:gd name="adj" fmla="val 416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6" name="Shape 3"/>
          <p:cNvSpPr/>
          <p:nvPr/>
        </p:nvSpPr>
        <p:spPr>
          <a:xfrm>
            <a:off x="457200" y="1188720"/>
            <a:ext cx="1536192" cy="64008"/>
          </a:xfrm>
          <a:prstGeom prst="rect">
            <a:avLst/>
          </a:prstGeom>
          <a:solidFill>
            <a:srgbClr val="2F5BFF"/>
          </a:solidFill>
          <a:ln w="12700">
            <a:solidFill>
              <a:srgbClr val="2F5BFF"/>
            </a:solidFill>
            <a:prstDash val="solid"/>
          </a:ln>
        </p:spPr>
      </p:sp>
      <p:sp>
        <p:nvSpPr>
          <p:cNvPr id="7" name="Shape 4"/>
          <p:cNvSpPr/>
          <p:nvPr/>
        </p:nvSpPr>
        <p:spPr>
          <a:xfrm>
            <a:off x="640080" y="1508760"/>
            <a:ext cx="548640" cy="548640"/>
          </a:xfrm>
          <a:prstGeom prst="roundRect">
            <a:avLst>
              <a:gd name="adj" fmla="val 22000"/>
            </a:avLst>
          </a:prstGeom>
          <a:solidFill>
            <a:srgbClr val="2F5BFF"/>
          </a:solidFill>
          <a:ln w="12700">
            <a:solidFill>
              <a:srgbClr val="2F5BFF"/>
            </a:solidFill>
            <a:prstDash val="solid"/>
          </a:ln>
        </p:spPr>
      </p:sp>
      <p:pic>
        <p:nvPicPr>
          <p:cNvPr id="8" name="Image 0" descr="preencoded.png"/>
          <p:cNvPicPr>
            <a:picLocks noChangeAspect="1"/>
          </p:cNvPicPr>
          <p:nvPr/>
        </p:nvPicPr>
        <p:blipFill>
          <a:blip r:embed="rId3"/>
          <a:stretch>
            <a:fillRect/>
          </a:stretch>
        </p:blipFill>
        <p:spPr>
          <a:xfrm>
            <a:off x="771754" y="1640434"/>
            <a:ext cx="285293" cy="285293"/>
          </a:xfrm>
          <a:prstGeom prst="rect">
            <a:avLst/>
          </a:prstGeom>
        </p:spPr>
      </p:pic>
      <p:sp>
        <p:nvSpPr>
          <p:cNvPr id="9" name="Text 5"/>
          <p:cNvSpPr txBox="1"/>
          <p:nvPr/>
        </p:nvSpPr>
        <p:spPr>
          <a:xfrm>
            <a:off x="1371600" y="1554480"/>
            <a:ext cx="548640" cy="457200"/>
          </a:xfrm>
          <a:prstGeom prst="rect">
            <a:avLst/>
          </a:prstGeom>
          <a:noFill/>
          <a:ln/>
        </p:spPr>
        <p:txBody>
          <a:bodyPr wrap="square" lIns="0" tIns="0" rIns="0" bIns="0" rtlCol="0" anchor="t"/>
          <a:lstStyle/>
          <a:p>
            <a:pPr marL="0" indent="0" algn="r">
              <a:buNone/>
            </a:pPr>
            <a:r>
              <a:rPr lang="en-US" sz="2200" b="1" dirty="0">
                <a:solidFill>
                  <a:srgbClr val="DDE3F0"/>
                </a:solidFill>
                <a:latin typeface="Georgia" pitchFamily="34" charset="0"/>
                <a:ea typeface="Georgia" pitchFamily="34" charset="-122"/>
                <a:cs typeface="Georgia" pitchFamily="34" charset="-120"/>
              </a:rPr>
              <a:t>01</a:t>
            </a:r>
            <a:endParaRPr lang="en-US" sz="2200" dirty="0"/>
          </a:p>
        </p:txBody>
      </p:sp>
      <p:sp>
        <p:nvSpPr>
          <p:cNvPr id="10" name="Text 6"/>
          <p:cNvSpPr txBox="1"/>
          <p:nvPr/>
        </p:nvSpPr>
        <p:spPr>
          <a:xfrm>
            <a:off x="640080" y="2240280"/>
            <a:ext cx="1234440" cy="548640"/>
          </a:xfrm>
          <a:prstGeom prst="rect">
            <a:avLst/>
          </a:prstGeom>
          <a:noFill/>
          <a:ln/>
        </p:spPr>
        <p:txBody>
          <a:bodyPr wrap="square" lIns="0" tIns="0" rIns="0" bIns="0" rtlCol="0" anchor="t"/>
          <a:lstStyle/>
          <a:p>
            <a:pPr marL="0" indent="0">
              <a:buNone/>
            </a:pPr>
            <a:r>
              <a:rPr lang="en-US" sz="1400" b="1" dirty="0">
                <a:solidFill>
                  <a:srgbClr val="0B1F4B"/>
                </a:solidFill>
              </a:rPr>
              <a:t>UI/UX fundamentals</a:t>
            </a:r>
            <a:endParaRPr lang="en-US" sz="1400" dirty="0"/>
          </a:p>
        </p:txBody>
      </p:sp>
      <p:sp>
        <p:nvSpPr>
          <p:cNvPr id="11" name="Text 7"/>
          <p:cNvSpPr txBox="1"/>
          <p:nvPr/>
        </p:nvSpPr>
        <p:spPr>
          <a:xfrm>
            <a:off x="640080" y="2834640"/>
            <a:ext cx="1234440" cy="777240"/>
          </a:xfrm>
          <a:prstGeom prst="rect">
            <a:avLst/>
          </a:prstGeom>
          <a:noFill/>
          <a:ln/>
        </p:spPr>
        <p:txBody>
          <a:bodyPr wrap="square" lIns="0" tIns="0" rIns="0" bIns="0" rtlCol="0" anchor="t"/>
          <a:lstStyle/>
          <a:p>
            <a:pPr marL="0" indent="0">
              <a:buNone/>
            </a:pPr>
            <a:r>
              <a:rPr lang="en-US" sz="1200" dirty="0">
                <a:solidFill>
                  <a:srgbClr val="6B7280"/>
                </a:solidFill>
              </a:rPr>
              <a:t>Principles, colour, typography, spacing</a:t>
            </a:r>
            <a:endParaRPr lang="en-US" sz="1200" dirty="0"/>
          </a:p>
        </p:txBody>
      </p:sp>
      <p:sp>
        <p:nvSpPr>
          <p:cNvPr id="12" name="Shape 8"/>
          <p:cNvSpPr/>
          <p:nvPr/>
        </p:nvSpPr>
        <p:spPr>
          <a:xfrm>
            <a:off x="2139696" y="1188720"/>
            <a:ext cx="1536192" cy="2514600"/>
          </a:xfrm>
          <a:prstGeom prst="roundRect">
            <a:avLst>
              <a:gd name="adj" fmla="val 416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3" name="Shape 9"/>
          <p:cNvSpPr/>
          <p:nvPr/>
        </p:nvSpPr>
        <p:spPr>
          <a:xfrm>
            <a:off x="2139696" y="1188720"/>
            <a:ext cx="1536192" cy="64008"/>
          </a:xfrm>
          <a:prstGeom prst="rect">
            <a:avLst/>
          </a:prstGeom>
          <a:solidFill>
            <a:srgbClr val="2F5BFF"/>
          </a:solidFill>
          <a:ln w="12700">
            <a:solidFill>
              <a:srgbClr val="2F5BFF"/>
            </a:solidFill>
            <a:prstDash val="solid"/>
          </a:ln>
        </p:spPr>
      </p:sp>
      <p:sp>
        <p:nvSpPr>
          <p:cNvPr id="14" name="Shape 10"/>
          <p:cNvSpPr/>
          <p:nvPr/>
        </p:nvSpPr>
        <p:spPr>
          <a:xfrm>
            <a:off x="2322576" y="1508760"/>
            <a:ext cx="548640" cy="548640"/>
          </a:xfrm>
          <a:prstGeom prst="roundRect">
            <a:avLst>
              <a:gd name="adj" fmla="val 22000"/>
            </a:avLst>
          </a:prstGeom>
          <a:solidFill>
            <a:srgbClr val="2F5BFF"/>
          </a:solidFill>
          <a:ln w="12700">
            <a:solidFill>
              <a:srgbClr val="2F5BFF"/>
            </a:solidFill>
            <a:prstDash val="solid"/>
          </a:ln>
        </p:spPr>
      </p:sp>
      <p:pic>
        <p:nvPicPr>
          <p:cNvPr id="15" name="Image 1" descr="preencoded.png"/>
          <p:cNvPicPr>
            <a:picLocks noChangeAspect="1"/>
          </p:cNvPicPr>
          <p:nvPr/>
        </p:nvPicPr>
        <p:blipFill>
          <a:blip r:embed="rId4"/>
          <a:stretch>
            <a:fillRect/>
          </a:stretch>
        </p:blipFill>
        <p:spPr>
          <a:xfrm>
            <a:off x="2454250" y="1640434"/>
            <a:ext cx="285293" cy="285293"/>
          </a:xfrm>
          <a:prstGeom prst="rect">
            <a:avLst/>
          </a:prstGeom>
        </p:spPr>
      </p:pic>
      <p:sp>
        <p:nvSpPr>
          <p:cNvPr id="16" name="Text 11"/>
          <p:cNvSpPr txBox="1"/>
          <p:nvPr/>
        </p:nvSpPr>
        <p:spPr>
          <a:xfrm>
            <a:off x="3054096" y="1554480"/>
            <a:ext cx="548640" cy="457200"/>
          </a:xfrm>
          <a:prstGeom prst="rect">
            <a:avLst/>
          </a:prstGeom>
          <a:noFill/>
          <a:ln/>
        </p:spPr>
        <p:txBody>
          <a:bodyPr wrap="square" lIns="0" tIns="0" rIns="0" bIns="0" rtlCol="0" anchor="t"/>
          <a:lstStyle/>
          <a:p>
            <a:pPr marL="0" indent="0" algn="r">
              <a:buNone/>
            </a:pPr>
            <a:r>
              <a:rPr lang="en-US" sz="2200" b="1" dirty="0">
                <a:solidFill>
                  <a:srgbClr val="DDE3F0"/>
                </a:solidFill>
                <a:latin typeface="Georgia" pitchFamily="34" charset="0"/>
                <a:ea typeface="Georgia" pitchFamily="34" charset="-122"/>
                <a:cs typeface="Georgia" pitchFamily="34" charset="-120"/>
              </a:rPr>
              <a:t>02</a:t>
            </a:r>
            <a:endParaRPr lang="en-US" sz="2200" dirty="0"/>
          </a:p>
        </p:txBody>
      </p:sp>
      <p:sp>
        <p:nvSpPr>
          <p:cNvPr id="17" name="Text 12"/>
          <p:cNvSpPr txBox="1"/>
          <p:nvPr/>
        </p:nvSpPr>
        <p:spPr>
          <a:xfrm>
            <a:off x="2322576" y="2240280"/>
            <a:ext cx="1234440" cy="548640"/>
          </a:xfrm>
          <a:prstGeom prst="rect">
            <a:avLst/>
          </a:prstGeom>
          <a:noFill/>
          <a:ln/>
        </p:spPr>
        <p:txBody>
          <a:bodyPr wrap="square" lIns="0" tIns="0" rIns="0" bIns="0" rtlCol="0" anchor="t"/>
          <a:lstStyle/>
          <a:p>
            <a:pPr marL="0" indent="0">
              <a:buNone/>
            </a:pPr>
            <a:r>
              <a:rPr lang="en-US" sz="1400" b="1" dirty="0">
                <a:solidFill>
                  <a:srgbClr val="0B1F4B"/>
                </a:solidFill>
              </a:rPr>
              <a:t>Figma</a:t>
            </a:r>
            <a:endParaRPr lang="en-US" sz="1400" dirty="0"/>
          </a:p>
        </p:txBody>
      </p:sp>
      <p:sp>
        <p:nvSpPr>
          <p:cNvPr id="18" name="Text 13"/>
          <p:cNvSpPr txBox="1"/>
          <p:nvPr/>
        </p:nvSpPr>
        <p:spPr>
          <a:xfrm>
            <a:off x="2322576" y="2834640"/>
            <a:ext cx="1234440" cy="777240"/>
          </a:xfrm>
          <a:prstGeom prst="rect">
            <a:avLst/>
          </a:prstGeom>
          <a:noFill/>
          <a:ln/>
        </p:spPr>
        <p:txBody>
          <a:bodyPr wrap="square" lIns="0" tIns="0" rIns="0" bIns="0" rtlCol="0" anchor="t"/>
          <a:lstStyle/>
          <a:p>
            <a:pPr marL="0" indent="0">
              <a:buNone/>
            </a:pPr>
            <a:r>
              <a:rPr lang="en-US" sz="1200" dirty="0">
                <a:solidFill>
                  <a:srgbClr val="6B7280"/>
                </a:solidFill>
              </a:rPr>
              <a:t>Frames, components, prototypes</a:t>
            </a:r>
            <a:endParaRPr lang="en-US" sz="1200" dirty="0"/>
          </a:p>
        </p:txBody>
      </p:sp>
      <p:sp>
        <p:nvSpPr>
          <p:cNvPr id="19" name="Shape 14"/>
          <p:cNvSpPr/>
          <p:nvPr/>
        </p:nvSpPr>
        <p:spPr>
          <a:xfrm>
            <a:off x="3822192" y="1188720"/>
            <a:ext cx="1536192" cy="2514600"/>
          </a:xfrm>
          <a:prstGeom prst="roundRect">
            <a:avLst>
              <a:gd name="adj" fmla="val 416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0" name="Shape 15"/>
          <p:cNvSpPr/>
          <p:nvPr/>
        </p:nvSpPr>
        <p:spPr>
          <a:xfrm>
            <a:off x="3822192" y="1188720"/>
            <a:ext cx="1536192" cy="64008"/>
          </a:xfrm>
          <a:prstGeom prst="rect">
            <a:avLst/>
          </a:prstGeom>
          <a:solidFill>
            <a:srgbClr val="2F5BFF"/>
          </a:solidFill>
          <a:ln w="12700">
            <a:solidFill>
              <a:srgbClr val="2F5BFF"/>
            </a:solidFill>
            <a:prstDash val="solid"/>
          </a:ln>
        </p:spPr>
      </p:sp>
      <p:sp>
        <p:nvSpPr>
          <p:cNvPr id="21" name="Shape 16"/>
          <p:cNvSpPr/>
          <p:nvPr/>
        </p:nvSpPr>
        <p:spPr>
          <a:xfrm>
            <a:off x="4005072" y="1508760"/>
            <a:ext cx="548640" cy="548640"/>
          </a:xfrm>
          <a:prstGeom prst="roundRect">
            <a:avLst>
              <a:gd name="adj" fmla="val 22000"/>
            </a:avLst>
          </a:prstGeom>
          <a:solidFill>
            <a:srgbClr val="2F5BFF"/>
          </a:solidFill>
          <a:ln w="12700">
            <a:solidFill>
              <a:srgbClr val="2F5BFF"/>
            </a:solidFill>
            <a:prstDash val="solid"/>
          </a:ln>
        </p:spPr>
      </p:sp>
      <p:pic>
        <p:nvPicPr>
          <p:cNvPr id="22" name="Image 2" descr="preencoded.png"/>
          <p:cNvPicPr>
            <a:picLocks noChangeAspect="1"/>
          </p:cNvPicPr>
          <p:nvPr/>
        </p:nvPicPr>
        <p:blipFill>
          <a:blip r:embed="rId5"/>
          <a:stretch>
            <a:fillRect/>
          </a:stretch>
        </p:blipFill>
        <p:spPr>
          <a:xfrm>
            <a:off x="4136746" y="1640434"/>
            <a:ext cx="285293" cy="285293"/>
          </a:xfrm>
          <a:prstGeom prst="rect">
            <a:avLst/>
          </a:prstGeom>
        </p:spPr>
      </p:pic>
      <p:sp>
        <p:nvSpPr>
          <p:cNvPr id="23" name="Text 17"/>
          <p:cNvSpPr txBox="1"/>
          <p:nvPr/>
        </p:nvSpPr>
        <p:spPr>
          <a:xfrm>
            <a:off x="4736592" y="1554480"/>
            <a:ext cx="548640" cy="457200"/>
          </a:xfrm>
          <a:prstGeom prst="rect">
            <a:avLst/>
          </a:prstGeom>
          <a:noFill/>
          <a:ln/>
        </p:spPr>
        <p:txBody>
          <a:bodyPr wrap="square" lIns="0" tIns="0" rIns="0" bIns="0" rtlCol="0" anchor="t"/>
          <a:lstStyle/>
          <a:p>
            <a:pPr marL="0" indent="0" algn="r">
              <a:buNone/>
            </a:pPr>
            <a:r>
              <a:rPr lang="en-US" sz="2200" b="1" dirty="0">
                <a:solidFill>
                  <a:srgbClr val="DDE3F0"/>
                </a:solidFill>
                <a:latin typeface="Georgia" pitchFamily="34" charset="0"/>
                <a:ea typeface="Georgia" pitchFamily="34" charset="-122"/>
                <a:cs typeface="Georgia" pitchFamily="34" charset="-120"/>
              </a:rPr>
              <a:t>03</a:t>
            </a:r>
            <a:endParaRPr lang="en-US" sz="2200" dirty="0"/>
          </a:p>
        </p:txBody>
      </p:sp>
      <p:sp>
        <p:nvSpPr>
          <p:cNvPr id="24" name="Text 18"/>
          <p:cNvSpPr txBox="1"/>
          <p:nvPr/>
        </p:nvSpPr>
        <p:spPr>
          <a:xfrm>
            <a:off x="4005072" y="2240280"/>
            <a:ext cx="1234440" cy="548640"/>
          </a:xfrm>
          <a:prstGeom prst="rect">
            <a:avLst/>
          </a:prstGeom>
          <a:noFill/>
          <a:ln/>
        </p:spPr>
        <p:txBody>
          <a:bodyPr wrap="square" lIns="0" tIns="0" rIns="0" bIns="0" rtlCol="0" anchor="t"/>
          <a:lstStyle/>
          <a:p>
            <a:pPr marL="0" indent="0">
              <a:buNone/>
            </a:pPr>
            <a:r>
              <a:rPr lang="en-US" sz="1400" b="1" dirty="0">
                <a:solidFill>
                  <a:srgbClr val="0B1F4B"/>
                </a:solidFill>
              </a:rPr>
              <a:t>Interface design</a:t>
            </a:r>
            <a:endParaRPr lang="en-US" sz="1400" dirty="0"/>
          </a:p>
        </p:txBody>
      </p:sp>
      <p:sp>
        <p:nvSpPr>
          <p:cNvPr id="25" name="Text 19"/>
          <p:cNvSpPr txBox="1"/>
          <p:nvPr/>
        </p:nvSpPr>
        <p:spPr>
          <a:xfrm>
            <a:off x="4005072" y="2834640"/>
            <a:ext cx="1234440" cy="777240"/>
          </a:xfrm>
          <a:prstGeom prst="rect">
            <a:avLst/>
          </a:prstGeom>
          <a:noFill/>
          <a:ln/>
        </p:spPr>
        <p:txBody>
          <a:bodyPr wrap="square" lIns="0" tIns="0" rIns="0" bIns="0" rtlCol="0" anchor="t"/>
          <a:lstStyle/>
          <a:p>
            <a:pPr marL="0" indent="0">
              <a:buNone/>
            </a:pPr>
            <a:r>
              <a:rPr lang="en-US" sz="1200" dirty="0">
                <a:solidFill>
                  <a:srgbClr val="6B7280"/>
                </a:solidFill>
              </a:rPr>
              <a:t>Layout, hierarchy, consistency</a:t>
            </a:r>
            <a:endParaRPr lang="en-US" sz="1200" dirty="0"/>
          </a:p>
        </p:txBody>
      </p:sp>
      <p:sp>
        <p:nvSpPr>
          <p:cNvPr id="26" name="Shape 20"/>
          <p:cNvSpPr/>
          <p:nvPr/>
        </p:nvSpPr>
        <p:spPr>
          <a:xfrm>
            <a:off x="5504688" y="1188720"/>
            <a:ext cx="1536192" cy="2514600"/>
          </a:xfrm>
          <a:prstGeom prst="roundRect">
            <a:avLst>
              <a:gd name="adj" fmla="val 416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7" name="Shape 21"/>
          <p:cNvSpPr/>
          <p:nvPr/>
        </p:nvSpPr>
        <p:spPr>
          <a:xfrm>
            <a:off x="5504688" y="1188720"/>
            <a:ext cx="1536192" cy="64008"/>
          </a:xfrm>
          <a:prstGeom prst="rect">
            <a:avLst/>
          </a:prstGeom>
          <a:solidFill>
            <a:srgbClr val="2F5BFF"/>
          </a:solidFill>
          <a:ln w="12700">
            <a:solidFill>
              <a:srgbClr val="2F5BFF"/>
            </a:solidFill>
            <a:prstDash val="solid"/>
          </a:ln>
        </p:spPr>
      </p:sp>
      <p:sp>
        <p:nvSpPr>
          <p:cNvPr id="28" name="Shape 22"/>
          <p:cNvSpPr/>
          <p:nvPr/>
        </p:nvSpPr>
        <p:spPr>
          <a:xfrm>
            <a:off x="5687568" y="1508760"/>
            <a:ext cx="548640" cy="548640"/>
          </a:xfrm>
          <a:prstGeom prst="roundRect">
            <a:avLst>
              <a:gd name="adj" fmla="val 22000"/>
            </a:avLst>
          </a:prstGeom>
          <a:solidFill>
            <a:srgbClr val="2F5BFF"/>
          </a:solidFill>
          <a:ln w="12700">
            <a:solidFill>
              <a:srgbClr val="2F5BFF"/>
            </a:solidFill>
            <a:prstDash val="solid"/>
          </a:ln>
        </p:spPr>
      </p:sp>
      <p:pic>
        <p:nvPicPr>
          <p:cNvPr id="29" name="Image 3" descr="preencoded.png"/>
          <p:cNvPicPr>
            <a:picLocks noChangeAspect="1"/>
          </p:cNvPicPr>
          <p:nvPr/>
        </p:nvPicPr>
        <p:blipFill>
          <a:blip r:embed="rId6"/>
          <a:stretch>
            <a:fillRect/>
          </a:stretch>
        </p:blipFill>
        <p:spPr>
          <a:xfrm>
            <a:off x="5819242" y="1640434"/>
            <a:ext cx="285293" cy="285293"/>
          </a:xfrm>
          <a:prstGeom prst="rect">
            <a:avLst/>
          </a:prstGeom>
        </p:spPr>
      </p:pic>
      <p:sp>
        <p:nvSpPr>
          <p:cNvPr id="30" name="Text 23"/>
          <p:cNvSpPr txBox="1"/>
          <p:nvPr/>
        </p:nvSpPr>
        <p:spPr>
          <a:xfrm>
            <a:off x="6419088" y="1554480"/>
            <a:ext cx="548640" cy="457200"/>
          </a:xfrm>
          <a:prstGeom prst="rect">
            <a:avLst/>
          </a:prstGeom>
          <a:noFill/>
          <a:ln/>
        </p:spPr>
        <p:txBody>
          <a:bodyPr wrap="square" lIns="0" tIns="0" rIns="0" bIns="0" rtlCol="0" anchor="t"/>
          <a:lstStyle/>
          <a:p>
            <a:pPr marL="0" indent="0" algn="r">
              <a:buNone/>
            </a:pPr>
            <a:r>
              <a:rPr lang="en-US" sz="2200" b="1" dirty="0">
                <a:solidFill>
                  <a:srgbClr val="DDE3F0"/>
                </a:solidFill>
                <a:latin typeface="Georgia" pitchFamily="34" charset="0"/>
                <a:ea typeface="Georgia" pitchFamily="34" charset="-122"/>
                <a:cs typeface="Georgia" pitchFamily="34" charset="-120"/>
              </a:rPr>
              <a:t>04</a:t>
            </a:r>
            <a:endParaRPr lang="en-US" sz="2200" dirty="0"/>
          </a:p>
        </p:txBody>
      </p:sp>
      <p:sp>
        <p:nvSpPr>
          <p:cNvPr id="31" name="Text 24"/>
          <p:cNvSpPr txBox="1"/>
          <p:nvPr/>
        </p:nvSpPr>
        <p:spPr>
          <a:xfrm>
            <a:off x="5687568" y="2240280"/>
            <a:ext cx="1234440" cy="548640"/>
          </a:xfrm>
          <a:prstGeom prst="rect">
            <a:avLst/>
          </a:prstGeom>
          <a:noFill/>
          <a:ln/>
        </p:spPr>
        <p:txBody>
          <a:bodyPr wrap="square" lIns="0" tIns="0" rIns="0" bIns="0" rtlCol="0" anchor="t"/>
          <a:lstStyle/>
          <a:p>
            <a:pPr marL="0" indent="0">
              <a:buNone/>
            </a:pPr>
            <a:r>
              <a:rPr lang="en-US" sz="1400" b="1" dirty="0">
                <a:solidFill>
                  <a:srgbClr val="0B1F4B"/>
                </a:solidFill>
              </a:rPr>
              <a:t>Usability</a:t>
            </a:r>
            <a:endParaRPr lang="en-US" sz="1400" dirty="0"/>
          </a:p>
        </p:txBody>
      </p:sp>
      <p:sp>
        <p:nvSpPr>
          <p:cNvPr id="32" name="Text 25"/>
          <p:cNvSpPr txBox="1"/>
          <p:nvPr/>
        </p:nvSpPr>
        <p:spPr>
          <a:xfrm>
            <a:off x="5687568" y="2834640"/>
            <a:ext cx="1234440" cy="777240"/>
          </a:xfrm>
          <a:prstGeom prst="rect">
            <a:avLst/>
          </a:prstGeom>
          <a:noFill/>
          <a:ln/>
        </p:spPr>
        <p:txBody>
          <a:bodyPr wrap="square" lIns="0" tIns="0" rIns="0" bIns="0" rtlCol="0" anchor="t"/>
          <a:lstStyle/>
          <a:p>
            <a:pPr marL="0" indent="0">
              <a:buNone/>
            </a:pPr>
            <a:r>
              <a:rPr lang="en-US" sz="1200" dirty="0">
                <a:solidFill>
                  <a:srgbClr val="6B7280"/>
                </a:solidFill>
              </a:rPr>
              <a:t>Clear, readable and easy to use</a:t>
            </a:r>
            <a:endParaRPr lang="en-US" sz="1200" dirty="0"/>
          </a:p>
        </p:txBody>
      </p:sp>
      <p:sp>
        <p:nvSpPr>
          <p:cNvPr id="33" name="Shape 26"/>
          <p:cNvSpPr/>
          <p:nvPr/>
        </p:nvSpPr>
        <p:spPr>
          <a:xfrm>
            <a:off x="7187184" y="1188720"/>
            <a:ext cx="1536192" cy="2514600"/>
          </a:xfrm>
          <a:prstGeom prst="roundRect">
            <a:avLst>
              <a:gd name="adj" fmla="val 416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4" name="Shape 27"/>
          <p:cNvSpPr/>
          <p:nvPr/>
        </p:nvSpPr>
        <p:spPr>
          <a:xfrm>
            <a:off x="7187184" y="1188720"/>
            <a:ext cx="1536192" cy="64008"/>
          </a:xfrm>
          <a:prstGeom prst="rect">
            <a:avLst/>
          </a:prstGeom>
          <a:solidFill>
            <a:srgbClr val="2F5BFF"/>
          </a:solidFill>
          <a:ln w="12700">
            <a:solidFill>
              <a:srgbClr val="2F5BFF"/>
            </a:solidFill>
            <a:prstDash val="solid"/>
          </a:ln>
        </p:spPr>
      </p:sp>
      <p:sp>
        <p:nvSpPr>
          <p:cNvPr id="35" name="Shape 28"/>
          <p:cNvSpPr/>
          <p:nvPr/>
        </p:nvSpPr>
        <p:spPr>
          <a:xfrm>
            <a:off x="7370064" y="1508760"/>
            <a:ext cx="548640" cy="548640"/>
          </a:xfrm>
          <a:prstGeom prst="roundRect">
            <a:avLst>
              <a:gd name="adj" fmla="val 22000"/>
            </a:avLst>
          </a:prstGeom>
          <a:solidFill>
            <a:srgbClr val="2F5BFF"/>
          </a:solidFill>
          <a:ln w="12700">
            <a:solidFill>
              <a:srgbClr val="2F5BFF"/>
            </a:solidFill>
            <a:prstDash val="solid"/>
          </a:ln>
        </p:spPr>
      </p:sp>
      <p:pic>
        <p:nvPicPr>
          <p:cNvPr id="36" name="Image 4" descr="preencoded.png"/>
          <p:cNvPicPr>
            <a:picLocks noChangeAspect="1"/>
          </p:cNvPicPr>
          <p:nvPr/>
        </p:nvPicPr>
        <p:blipFill>
          <a:blip r:embed="rId7"/>
          <a:stretch>
            <a:fillRect/>
          </a:stretch>
        </p:blipFill>
        <p:spPr>
          <a:xfrm>
            <a:off x="7501738" y="1640434"/>
            <a:ext cx="285293" cy="285293"/>
          </a:xfrm>
          <a:prstGeom prst="rect">
            <a:avLst/>
          </a:prstGeom>
        </p:spPr>
      </p:pic>
      <p:sp>
        <p:nvSpPr>
          <p:cNvPr id="37" name="Text 29"/>
          <p:cNvSpPr txBox="1"/>
          <p:nvPr/>
        </p:nvSpPr>
        <p:spPr>
          <a:xfrm>
            <a:off x="8101584" y="1554480"/>
            <a:ext cx="548640" cy="457200"/>
          </a:xfrm>
          <a:prstGeom prst="rect">
            <a:avLst/>
          </a:prstGeom>
          <a:noFill/>
          <a:ln/>
        </p:spPr>
        <p:txBody>
          <a:bodyPr wrap="square" lIns="0" tIns="0" rIns="0" bIns="0" rtlCol="0" anchor="t"/>
          <a:lstStyle/>
          <a:p>
            <a:pPr marL="0" indent="0" algn="r">
              <a:buNone/>
            </a:pPr>
            <a:r>
              <a:rPr lang="en-US" sz="2200" b="1" dirty="0">
                <a:solidFill>
                  <a:srgbClr val="DDE3F0"/>
                </a:solidFill>
                <a:latin typeface="Georgia" pitchFamily="34" charset="0"/>
                <a:ea typeface="Georgia" pitchFamily="34" charset="-122"/>
                <a:cs typeface="Georgia" pitchFamily="34" charset="-120"/>
              </a:rPr>
              <a:t>05</a:t>
            </a:r>
            <a:endParaRPr lang="en-US" sz="2200" dirty="0"/>
          </a:p>
        </p:txBody>
      </p:sp>
      <p:sp>
        <p:nvSpPr>
          <p:cNvPr id="38" name="Text 30"/>
          <p:cNvSpPr txBox="1"/>
          <p:nvPr/>
        </p:nvSpPr>
        <p:spPr>
          <a:xfrm>
            <a:off x="7370064" y="2240280"/>
            <a:ext cx="1234440" cy="548640"/>
          </a:xfrm>
          <a:prstGeom prst="rect">
            <a:avLst/>
          </a:prstGeom>
          <a:noFill/>
          <a:ln/>
        </p:spPr>
        <p:txBody>
          <a:bodyPr wrap="square" lIns="0" tIns="0" rIns="0" bIns="0" rtlCol="0" anchor="t"/>
          <a:lstStyle/>
          <a:p>
            <a:pPr marL="0" indent="0">
              <a:buNone/>
            </a:pPr>
            <a:r>
              <a:rPr lang="en-US" sz="1400" b="1" dirty="0">
                <a:solidFill>
                  <a:srgbClr val="0B1F4B"/>
                </a:solidFill>
              </a:rPr>
              <a:t>E-commerce design</a:t>
            </a:r>
            <a:endParaRPr lang="en-US" sz="1400" dirty="0"/>
          </a:p>
        </p:txBody>
      </p:sp>
      <p:sp>
        <p:nvSpPr>
          <p:cNvPr id="39" name="Text 31"/>
          <p:cNvSpPr txBox="1"/>
          <p:nvPr/>
        </p:nvSpPr>
        <p:spPr>
          <a:xfrm>
            <a:off x="7370064" y="2834640"/>
            <a:ext cx="1234440" cy="777240"/>
          </a:xfrm>
          <a:prstGeom prst="rect">
            <a:avLst/>
          </a:prstGeom>
          <a:noFill/>
          <a:ln/>
        </p:spPr>
        <p:txBody>
          <a:bodyPr wrap="square" lIns="0" tIns="0" rIns="0" bIns="0" rtlCol="0" anchor="t"/>
          <a:lstStyle/>
          <a:p>
            <a:pPr marL="0" indent="0">
              <a:buNone/>
            </a:pPr>
            <a:r>
              <a:rPr lang="en-US" sz="1200" dirty="0">
                <a:solidFill>
                  <a:srgbClr val="6B7280"/>
                </a:solidFill>
              </a:rPr>
              <a:t>Apply it to a shopping journey</a:t>
            </a:r>
            <a:endParaRPr lang="en-US" sz="1200" dirty="0"/>
          </a:p>
        </p:txBody>
      </p:sp>
      <p:sp>
        <p:nvSpPr>
          <p:cNvPr id="40" name="Shape 32"/>
          <p:cNvSpPr/>
          <p:nvPr/>
        </p:nvSpPr>
        <p:spPr>
          <a:xfrm>
            <a:off x="457200" y="3886200"/>
            <a:ext cx="8229600" cy="594360"/>
          </a:xfrm>
          <a:prstGeom prst="roundRect">
            <a:avLst>
              <a:gd name="adj" fmla="val 10769"/>
            </a:avLst>
          </a:prstGeom>
          <a:solidFill>
            <a:srgbClr val="E6ECFF"/>
          </a:solidFill>
          <a:ln w="12700">
            <a:solidFill>
              <a:srgbClr val="E6ECFF"/>
            </a:solidFill>
            <a:prstDash val="solid"/>
          </a:ln>
        </p:spPr>
      </p:sp>
      <p:sp>
        <p:nvSpPr>
          <p:cNvPr id="41" name="Text 33"/>
          <p:cNvSpPr txBox="1"/>
          <p:nvPr/>
        </p:nvSpPr>
        <p:spPr>
          <a:xfrm>
            <a:off x="685800" y="3886200"/>
            <a:ext cx="7772400" cy="594360"/>
          </a:xfrm>
          <a:prstGeom prst="rect">
            <a:avLst/>
          </a:prstGeom>
          <a:noFill/>
          <a:ln/>
        </p:spPr>
        <p:txBody>
          <a:bodyPr wrap="square" lIns="0" tIns="0" rIns="0" bIns="0" rtlCol="0" anchor="ctr"/>
          <a:lstStyle/>
          <a:p>
            <a:pPr marL="0" indent="0">
              <a:buNone/>
            </a:pPr>
            <a:r>
              <a:rPr lang="en-US" sz="1350" b="1" dirty="0">
                <a:solidFill>
                  <a:srgbClr val="0B1F4B"/>
                </a:solidFill>
              </a:rPr>
              <a:t>Overall aim:  </a:t>
            </a:r>
            <a:r>
              <a:rPr lang="en-US" sz="1350" dirty="0">
                <a:solidFill>
                  <a:srgbClr val="1F2937"/>
                </a:solidFill>
              </a:rPr>
              <a:t>learn the design process and apply it to plan a clear, consistent online shopping interface.</a:t>
            </a:r>
            <a:endParaRPr lang="en-US" sz="135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03 · FOUNDATIONS</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Introduction to UI/UX Design</a:t>
            </a:r>
            <a:endParaRPr lang="en-US" sz="2500" dirty="0"/>
          </a:p>
        </p:txBody>
      </p:sp>
      <p:sp>
        <p:nvSpPr>
          <p:cNvPr id="5" name="Shape 2"/>
          <p:cNvSpPr/>
          <p:nvPr/>
        </p:nvSpPr>
        <p:spPr>
          <a:xfrm>
            <a:off x="457200" y="1143000"/>
            <a:ext cx="4023360" cy="2468880"/>
          </a:xfrm>
          <a:prstGeom prst="roundRect">
            <a:avLst>
              <a:gd name="adj" fmla="val 2593"/>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6" name="Shape 3"/>
          <p:cNvSpPr/>
          <p:nvPr/>
        </p:nvSpPr>
        <p:spPr>
          <a:xfrm>
            <a:off x="457200" y="1143000"/>
            <a:ext cx="4023360" cy="502920"/>
          </a:xfrm>
          <a:prstGeom prst="roundRect">
            <a:avLst>
              <a:gd name="adj" fmla="val 12727"/>
            </a:avLst>
          </a:prstGeom>
          <a:solidFill>
            <a:srgbClr val="0B1F4B"/>
          </a:solidFill>
          <a:ln w="12700">
            <a:solidFill>
              <a:srgbClr val="0B1F4B"/>
            </a:solidFill>
            <a:prstDash val="solid"/>
          </a:ln>
        </p:spPr>
      </p:sp>
      <p:sp>
        <p:nvSpPr>
          <p:cNvPr id="7" name="Text 4"/>
          <p:cNvSpPr txBox="1"/>
          <p:nvPr/>
        </p:nvSpPr>
        <p:spPr>
          <a:xfrm>
            <a:off x="685800" y="1143000"/>
            <a:ext cx="3657600" cy="502920"/>
          </a:xfrm>
          <a:prstGeom prst="rect">
            <a:avLst/>
          </a:prstGeom>
          <a:noFill/>
          <a:ln/>
        </p:spPr>
        <p:txBody>
          <a:bodyPr wrap="square" lIns="0" tIns="0" rIns="0" bIns="0" rtlCol="0" anchor="ctr"/>
          <a:lstStyle/>
          <a:p>
            <a:pPr marL="0" indent="0">
              <a:buNone/>
            </a:pPr>
            <a:r>
              <a:rPr lang="en-US" sz="1600" b="1" dirty="0">
                <a:solidFill>
                  <a:srgbClr val="FFFFFF"/>
                </a:solidFill>
              </a:rPr>
              <a:t>UI · User Interface</a:t>
            </a:r>
            <a:endParaRPr lang="en-US" sz="1600" dirty="0"/>
          </a:p>
        </p:txBody>
      </p:sp>
      <p:sp>
        <p:nvSpPr>
          <p:cNvPr id="8" name="Text 5"/>
          <p:cNvSpPr txBox="1"/>
          <p:nvPr/>
        </p:nvSpPr>
        <p:spPr>
          <a:xfrm>
            <a:off x="685800" y="1737360"/>
            <a:ext cx="2743200" cy="274320"/>
          </a:xfrm>
          <a:prstGeom prst="rect">
            <a:avLst/>
          </a:prstGeom>
          <a:noFill/>
          <a:ln/>
        </p:spPr>
        <p:txBody>
          <a:bodyPr wrap="square" lIns="0" tIns="0" rIns="0" bIns="0" rtlCol="0" anchor="t"/>
          <a:lstStyle/>
          <a:p>
            <a:pPr marL="0" indent="0">
              <a:buNone/>
            </a:pPr>
            <a:r>
              <a:rPr lang="en-US" sz="1300" b="1" dirty="0">
                <a:solidFill>
                  <a:srgbClr val="2F5BFF"/>
                </a:solidFill>
              </a:rPr>
              <a:t>How it looks and responds</a:t>
            </a:r>
            <a:endParaRPr lang="en-US" sz="1300" dirty="0"/>
          </a:p>
        </p:txBody>
      </p:sp>
      <p:sp>
        <p:nvSpPr>
          <p:cNvPr id="9" name="Text 6"/>
          <p:cNvSpPr txBox="1"/>
          <p:nvPr/>
        </p:nvSpPr>
        <p:spPr>
          <a:xfrm>
            <a:off x="685800" y="2057400"/>
            <a:ext cx="2011680" cy="1371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rPr>
              <a:t>Colour and typography</a:t>
            </a:r>
            <a:endParaRPr lang="en-US" sz="1250" dirty="0"/>
          </a:p>
          <a:p>
            <a:pPr marL="342900" indent="-342900">
              <a:spcAft>
                <a:spcPts val="600"/>
              </a:spcAft>
              <a:buSzPct val="100000"/>
              <a:buChar char="•"/>
            </a:pPr>
            <a:r>
              <a:rPr lang="en-US" sz="1250" dirty="0">
                <a:solidFill>
                  <a:srgbClr val="1F2937"/>
                </a:solidFill>
              </a:rPr>
              <a:t>Buttons, cards, menus</a:t>
            </a:r>
            <a:endParaRPr lang="en-US" sz="1250" dirty="0"/>
          </a:p>
          <a:p>
            <a:pPr marL="342900" indent="-342900">
              <a:spcAft>
                <a:spcPts val="600"/>
              </a:spcAft>
              <a:buSzPct val="100000"/>
              <a:buChar char="•"/>
            </a:pPr>
            <a:r>
              <a:rPr lang="en-US" sz="1250" dirty="0">
                <a:solidFill>
                  <a:srgbClr val="1F2937"/>
                </a:solidFill>
              </a:rPr>
              <a:t>Spacing and layout</a:t>
            </a:r>
            <a:endParaRPr lang="en-US" sz="1250" dirty="0"/>
          </a:p>
        </p:txBody>
      </p:sp>
      <p:sp>
        <p:nvSpPr>
          <p:cNvPr id="10" name="Shape 7"/>
          <p:cNvSpPr/>
          <p:nvPr/>
        </p:nvSpPr>
        <p:spPr>
          <a:xfrm>
            <a:off x="2926080" y="1920240"/>
            <a:ext cx="1371600" cy="365760"/>
          </a:xfrm>
          <a:prstGeom prst="roundRect">
            <a:avLst>
              <a:gd name="adj" fmla="val 15000"/>
            </a:avLst>
          </a:prstGeom>
          <a:solidFill>
            <a:srgbClr val="2F5BFF"/>
          </a:solidFill>
          <a:ln w="12700">
            <a:solidFill>
              <a:srgbClr val="2F5BFF"/>
            </a:solidFill>
            <a:prstDash val="solid"/>
          </a:ln>
        </p:spPr>
      </p:sp>
      <p:sp>
        <p:nvSpPr>
          <p:cNvPr id="11" name="Text 8"/>
          <p:cNvSpPr txBox="1"/>
          <p:nvPr/>
        </p:nvSpPr>
        <p:spPr>
          <a:xfrm>
            <a:off x="2926080" y="1920240"/>
            <a:ext cx="1371600" cy="365760"/>
          </a:xfrm>
          <a:prstGeom prst="rect">
            <a:avLst/>
          </a:prstGeom>
          <a:noFill/>
          <a:ln/>
        </p:spPr>
        <p:txBody>
          <a:bodyPr wrap="square" lIns="0" tIns="0" rIns="0" bIns="0" rtlCol="0" anchor="ctr"/>
          <a:lstStyle/>
          <a:p>
            <a:pPr marL="0" indent="0" algn="ctr">
              <a:buNone/>
            </a:pPr>
            <a:r>
              <a:rPr lang="en-US" sz="1200" b="1" dirty="0">
                <a:solidFill>
                  <a:srgbClr val="FFFFFF"/>
                </a:solidFill>
              </a:rPr>
              <a:t>Add to cart</a:t>
            </a:r>
            <a:endParaRPr lang="en-US" sz="1200" dirty="0"/>
          </a:p>
        </p:txBody>
      </p:sp>
      <p:sp>
        <p:nvSpPr>
          <p:cNvPr id="12" name="Shape 9"/>
          <p:cNvSpPr/>
          <p:nvPr/>
        </p:nvSpPr>
        <p:spPr>
          <a:xfrm>
            <a:off x="2926080" y="2423160"/>
            <a:ext cx="1371600" cy="822960"/>
          </a:xfrm>
          <a:prstGeom prst="roundRect">
            <a:avLst>
              <a:gd name="adj" fmla="val 6667"/>
            </a:avLst>
          </a:prstGeom>
          <a:solidFill>
            <a:srgbClr val="C7D2FE"/>
          </a:solidFill>
          <a:ln w="12700">
            <a:solidFill>
              <a:srgbClr val="C7D2FE"/>
            </a:solidFill>
            <a:prstDash val="solid"/>
          </a:ln>
        </p:spPr>
      </p:sp>
      <p:sp>
        <p:nvSpPr>
          <p:cNvPr id="13" name="Text 10"/>
          <p:cNvSpPr txBox="1"/>
          <p:nvPr/>
        </p:nvSpPr>
        <p:spPr>
          <a:xfrm>
            <a:off x="2926080" y="2926080"/>
            <a:ext cx="1371600" cy="274320"/>
          </a:xfrm>
          <a:prstGeom prst="rect">
            <a:avLst/>
          </a:prstGeom>
          <a:noFill/>
          <a:ln/>
        </p:spPr>
        <p:txBody>
          <a:bodyPr wrap="square" lIns="0" tIns="0" rIns="0" bIns="0" rtlCol="0" anchor="t"/>
          <a:lstStyle/>
          <a:p>
            <a:pPr marL="0" indent="0" algn="ctr">
              <a:buNone/>
            </a:pPr>
            <a:r>
              <a:rPr lang="en-US" sz="1050" dirty="0">
                <a:solidFill>
                  <a:srgbClr val="0B1F4B"/>
                </a:solidFill>
              </a:rPr>
              <a:t>Product card</a:t>
            </a:r>
            <a:endParaRPr lang="en-US" sz="1050" dirty="0"/>
          </a:p>
        </p:txBody>
      </p:sp>
      <p:sp>
        <p:nvSpPr>
          <p:cNvPr id="14" name="Shape 11"/>
          <p:cNvSpPr/>
          <p:nvPr/>
        </p:nvSpPr>
        <p:spPr>
          <a:xfrm>
            <a:off x="4663440" y="1143000"/>
            <a:ext cx="4023360" cy="2468880"/>
          </a:xfrm>
          <a:prstGeom prst="roundRect">
            <a:avLst>
              <a:gd name="adj" fmla="val 2593"/>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5" name="Shape 12"/>
          <p:cNvSpPr/>
          <p:nvPr/>
        </p:nvSpPr>
        <p:spPr>
          <a:xfrm>
            <a:off x="4663440" y="1143000"/>
            <a:ext cx="4023360" cy="502920"/>
          </a:xfrm>
          <a:prstGeom prst="roundRect">
            <a:avLst>
              <a:gd name="adj" fmla="val 12727"/>
            </a:avLst>
          </a:prstGeom>
          <a:solidFill>
            <a:srgbClr val="2F5BFF"/>
          </a:solidFill>
          <a:ln w="12700">
            <a:solidFill>
              <a:srgbClr val="2F5BFF"/>
            </a:solidFill>
            <a:prstDash val="solid"/>
          </a:ln>
        </p:spPr>
      </p:sp>
      <p:sp>
        <p:nvSpPr>
          <p:cNvPr id="16" name="Text 13"/>
          <p:cNvSpPr txBox="1"/>
          <p:nvPr/>
        </p:nvSpPr>
        <p:spPr>
          <a:xfrm>
            <a:off x="4892040" y="1143000"/>
            <a:ext cx="3657600" cy="502920"/>
          </a:xfrm>
          <a:prstGeom prst="rect">
            <a:avLst/>
          </a:prstGeom>
          <a:noFill/>
          <a:ln/>
        </p:spPr>
        <p:txBody>
          <a:bodyPr wrap="square" lIns="0" tIns="0" rIns="0" bIns="0" rtlCol="0" anchor="ctr"/>
          <a:lstStyle/>
          <a:p>
            <a:pPr marL="0" indent="0">
              <a:buNone/>
            </a:pPr>
            <a:r>
              <a:rPr lang="en-US" sz="1600" b="1" dirty="0">
                <a:solidFill>
                  <a:srgbClr val="FFFFFF"/>
                </a:solidFill>
              </a:rPr>
              <a:t>UX · User Experience</a:t>
            </a:r>
            <a:endParaRPr lang="en-US" sz="1600" dirty="0"/>
          </a:p>
        </p:txBody>
      </p:sp>
      <p:sp>
        <p:nvSpPr>
          <p:cNvPr id="17" name="Text 14"/>
          <p:cNvSpPr txBox="1"/>
          <p:nvPr/>
        </p:nvSpPr>
        <p:spPr>
          <a:xfrm>
            <a:off x="4892040" y="1737360"/>
            <a:ext cx="2743200" cy="274320"/>
          </a:xfrm>
          <a:prstGeom prst="rect">
            <a:avLst/>
          </a:prstGeom>
          <a:noFill/>
          <a:ln/>
        </p:spPr>
        <p:txBody>
          <a:bodyPr wrap="square" lIns="0" tIns="0" rIns="0" bIns="0" rtlCol="0" anchor="t"/>
          <a:lstStyle/>
          <a:p>
            <a:pPr marL="0" indent="0">
              <a:buNone/>
            </a:pPr>
            <a:r>
              <a:rPr lang="en-US" sz="1300" b="1" dirty="0">
                <a:solidFill>
                  <a:srgbClr val="2F5BFF"/>
                </a:solidFill>
              </a:rPr>
              <a:t>How well it works for the user</a:t>
            </a:r>
            <a:endParaRPr lang="en-US" sz="1300" dirty="0"/>
          </a:p>
        </p:txBody>
      </p:sp>
      <p:sp>
        <p:nvSpPr>
          <p:cNvPr id="18" name="Text 15"/>
          <p:cNvSpPr txBox="1"/>
          <p:nvPr/>
        </p:nvSpPr>
        <p:spPr>
          <a:xfrm>
            <a:off x="4892040" y="2057400"/>
            <a:ext cx="2103120" cy="1371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rPr>
              <a:t>Navigation and task flow</a:t>
            </a:r>
            <a:endParaRPr lang="en-US" sz="1250" dirty="0"/>
          </a:p>
          <a:p>
            <a:pPr marL="342900" indent="-342900">
              <a:spcAft>
                <a:spcPts val="600"/>
              </a:spcAft>
              <a:buSzPct val="100000"/>
              <a:buChar char="•"/>
            </a:pPr>
            <a:r>
              <a:rPr lang="en-US" sz="1250" dirty="0">
                <a:solidFill>
                  <a:srgbClr val="1F2937"/>
                </a:solidFill>
              </a:rPr>
              <a:t>Clear feedback</a:t>
            </a:r>
            <a:endParaRPr lang="en-US" sz="1250" dirty="0"/>
          </a:p>
          <a:p>
            <a:pPr marL="342900" indent="-342900">
              <a:spcAft>
                <a:spcPts val="600"/>
              </a:spcAft>
              <a:buSzPct val="100000"/>
              <a:buChar char="•"/>
            </a:pPr>
            <a:r>
              <a:rPr lang="en-US" sz="1250" dirty="0">
                <a:solidFill>
                  <a:srgbClr val="1F2937"/>
                </a:solidFill>
              </a:rPr>
              <a:t>Easy recovery from errors</a:t>
            </a:r>
            <a:endParaRPr lang="en-US" sz="1250" dirty="0"/>
          </a:p>
        </p:txBody>
      </p:sp>
      <p:sp>
        <p:nvSpPr>
          <p:cNvPr id="19" name="Shape 16"/>
          <p:cNvSpPr/>
          <p:nvPr/>
        </p:nvSpPr>
        <p:spPr>
          <a:xfrm>
            <a:off x="7315200" y="1874520"/>
            <a:ext cx="274320" cy="274320"/>
          </a:xfrm>
          <a:prstGeom prst="ellipse">
            <a:avLst/>
          </a:prstGeom>
          <a:solidFill>
            <a:srgbClr val="2F5BFF"/>
          </a:solidFill>
          <a:ln w="12700">
            <a:solidFill>
              <a:srgbClr val="2F5BFF"/>
            </a:solidFill>
            <a:prstDash val="solid"/>
          </a:ln>
        </p:spPr>
      </p:sp>
      <p:sp>
        <p:nvSpPr>
          <p:cNvPr id="20" name="Text 17"/>
          <p:cNvSpPr txBox="1"/>
          <p:nvPr/>
        </p:nvSpPr>
        <p:spPr>
          <a:xfrm>
            <a:off x="7315200" y="187452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21" name="Text 18"/>
          <p:cNvSpPr txBox="1"/>
          <p:nvPr/>
        </p:nvSpPr>
        <p:spPr>
          <a:xfrm>
            <a:off x="7680960" y="1874520"/>
            <a:ext cx="822960" cy="274320"/>
          </a:xfrm>
          <a:prstGeom prst="rect">
            <a:avLst/>
          </a:prstGeom>
          <a:noFill/>
          <a:ln/>
        </p:spPr>
        <p:txBody>
          <a:bodyPr wrap="square" lIns="0" tIns="0" rIns="0" bIns="0" rtlCol="0" anchor="ctr"/>
          <a:lstStyle/>
          <a:p>
            <a:pPr marL="0" indent="0">
              <a:buNone/>
            </a:pPr>
            <a:r>
              <a:rPr lang="en-US" sz="1200" dirty="0">
                <a:solidFill>
                  <a:srgbClr val="0B1F4B"/>
                </a:solidFill>
              </a:rPr>
              <a:t>Find</a:t>
            </a:r>
            <a:endParaRPr lang="en-US" sz="1200" dirty="0"/>
          </a:p>
        </p:txBody>
      </p:sp>
      <p:sp>
        <p:nvSpPr>
          <p:cNvPr id="22" name="Shape 19"/>
          <p:cNvSpPr/>
          <p:nvPr/>
        </p:nvSpPr>
        <p:spPr>
          <a:xfrm>
            <a:off x="7315200" y="2286000"/>
            <a:ext cx="274320" cy="274320"/>
          </a:xfrm>
          <a:prstGeom prst="ellipse">
            <a:avLst/>
          </a:prstGeom>
          <a:solidFill>
            <a:srgbClr val="2F5BFF"/>
          </a:solidFill>
          <a:ln w="12700">
            <a:solidFill>
              <a:srgbClr val="2F5BFF"/>
            </a:solidFill>
            <a:prstDash val="solid"/>
          </a:ln>
        </p:spPr>
      </p:sp>
      <p:sp>
        <p:nvSpPr>
          <p:cNvPr id="23" name="Text 20"/>
          <p:cNvSpPr txBox="1"/>
          <p:nvPr/>
        </p:nvSpPr>
        <p:spPr>
          <a:xfrm>
            <a:off x="7315200" y="22860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24" name="Text 21"/>
          <p:cNvSpPr txBox="1"/>
          <p:nvPr/>
        </p:nvSpPr>
        <p:spPr>
          <a:xfrm>
            <a:off x="7680960" y="2286000"/>
            <a:ext cx="822960" cy="274320"/>
          </a:xfrm>
          <a:prstGeom prst="rect">
            <a:avLst/>
          </a:prstGeom>
          <a:noFill/>
          <a:ln/>
        </p:spPr>
        <p:txBody>
          <a:bodyPr wrap="square" lIns="0" tIns="0" rIns="0" bIns="0" rtlCol="0" anchor="ctr"/>
          <a:lstStyle/>
          <a:p>
            <a:pPr marL="0" indent="0">
              <a:buNone/>
            </a:pPr>
            <a:r>
              <a:rPr lang="en-US" sz="1200" dirty="0">
                <a:solidFill>
                  <a:srgbClr val="0B1F4B"/>
                </a:solidFill>
              </a:rPr>
              <a:t>Choose</a:t>
            </a:r>
            <a:endParaRPr lang="en-US" sz="1200" dirty="0"/>
          </a:p>
        </p:txBody>
      </p:sp>
      <p:sp>
        <p:nvSpPr>
          <p:cNvPr id="25" name="Shape 22"/>
          <p:cNvSpPr/>
          <p:nvPr/>
        </p:nvSpPr>
        <p:spPr>
          <a:xfrm>
            <a:off x="7315200" y="2697480"/>
            <a:ext cx="274320" cy="274320"/>
          </a:xfrm>
          <a:prstGeom prst="ellipse">
            <a:avLst/>
          </a:prstGeom>
          <a:solidFill>
            <a:srgbClr val="2F5BFF"/>
          </a:solidFill>
          <a:ln w="12700">
            <a:solidFill>
              <a:srgbClr val="2F5BFF"/>
            </a:solidFill>
            <a:prstDash val="solid"/>
          </a:ln>
        </p:spPr>
      </p:sp>
      <p:sp>
        <p:nvSpPr>
          <p:cNvPr id="26" name="Text 23"/>
          <p:cNvSpPr txBox="1"/>
          <p:nvPr/>
        </p:nvSpPr>
        <p:spPr>
          <a:xfrm>
            <a:off x="7315200" y="269748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27" name="Text 24"/>
          <p:cNvSpPr txBox="1"/>
          <p:nvPr/>
        </p:nvSpPr>
        <p:spPr>
          <a:xfrm>
            <a:off x="7680960" y="2697480"/>
            <a:ext cx="822960" cy="274320"/>
          </a:xfrm>
          <a:prstGeom prst="rect">
            <a:avLst/>
          </a:prstGeom>
          <a:noFill/>
          <a:ln/>
        </p:spPr>
        <p:txBody>
          <a:bodyPr wrap="square" lIns="0" tIns="0" rIns="0" bIns="0" rtlCol="0" anchor="ctr"/>
          <a:lstStyle/>
          <a:p>
            <a:pPr marL="0" indent="0">
              <a:buNone/>
            </a:pPr>
            <a:r>
              <a:rPr lang="en-US" sz="1200" dirty="0">
                <a:solidFill>
                  <a:srgbClr val="0B1F4B"/>
                </a:solidFill>
              </a:rPr>
              <a:t>Cart</a:t>
            </a:r>
            <a:endParaRPr lang="en-US" sz="1200" dirty="0"/>
          </a:p>
        </p:txBody>
      </p:sp>
      <p:sp>
        <p:nvSpPr>
          <p:cNvPr id="28" name="Shape 25"/>
          <p:cNvSpPr/>
          <p:nvPr/>
        </p:nvSpPr>
        <p:spPr>
          <a:xfrm>
            <a:off x="7315200" y="3108960"/>
            <a:ext cx="274320" cy="274320"/>
          </a:xfrm>
          <a:prstGeom prst="ellipse">
            <a:avLst/>
          </a:prstGeom>
          <a:solidFill>
            <a:srgbClr val="0B1F4B"/>
          </a:solidFill>
          <a:ln w="12700">
            <a:solidFill>
              <a:srgbClr val="0B1F4B"/>
            </a:solidFill>
            <a:prstDash val="solid"/>
          </a:ln>
        </p:spPr>
      </p:sp>
      <p:sp>
        <p:nvSpPr>
          <p:cNvPr id="29" name="Text 26"/>
          <p:cNvSpPr txBox="1"/>
          <p:nvPr/>
        </p:nvSpPr>
        <p:spPr>
          <a:xfrm>
            <a:off x="7315200" y="310896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30" name="Text 27"/>
          <p:cNvSpPr txBox="1"/>
          <p:nvPr/>
        </p:nvSpPr>
        <p:spPr>
          <a:xfrm>
            <a:off x="7680960" y="3108960"/>
            <a:ext cx="822960" cy="274320"/>
          </a:xfrm>
          <a:prstGeom prst="rect">
            <a:avLst/>
          </a:prstGeom>
          <a:noFill/>
          <a:ln/>
        </p:spPr>
        <p:txBody>
          <a:bodyPr wrap="square" lIns="0" tIns="0" rIns="0" bIns="0" rtlCol="0" anchor="ctr"/>
          <a:lstStyle/>
          <a:p>
            <a:pPr marL="0" indent="0">
              <a:buNone/>
            </a:pPr>
            <a:r>
              <a:rPr lang="en-US" sz="1200" dirty="0">
                <a:solidFill>
                  <a:srgbClr val="0B1F4B"/>
                </a:solidFill>
              </a:rPr>
              <a:t>Pay</a:t>
            </a:r>
            <a:endParaRPr lang="en-US" sz="1200" dirty="0"/>
          </a:p>
        </p:txBody>
      </p:sp>
      <p:sp>
        <p:nvSpPr>
          <p:cNvPr id="31" name="Shape 28"/>
          <p:cNvSpPr/>
          <p:nvPr/>
        </p:nvSpPr>
        <p:spPr>
          <a:xfrm>
            <a:off x="457200" y="3794760"/>
            <a:ext cx="8229600" cy="685800"/>
          </a:xfrm>
          <a:prstGeom prst="roundRect">
            <a:avLst>
              <a:gd name="adj" fmla="val 9333"/>
            </a:avLst>
          </a:prstGeom>
          <a:solidFill>
            <a:srgbClr val="E6ECFF"/>
          </a:solidFill>
          <a:ln w="12700">
            <a:solidFill>
              <a:srgbClr val="E6ECFF"/>
            </a:solidFill>
            <a:prstDash val="solid"/>
          </a:ln>
        </p:spPr>
      </p:sp>
      <p:sp>
        <p:nvSpPr>
          <p:cNvPr id="32" name="Text 29"/>
          <p:cNvSpPr txBox="1"/>
          <p:nvPr/>
        </p:nvSpPr>
        <p:spPr>
          <a:xfrm>
            <a:off x="685800" y="3794760"/>
            <a:ext cx="7772400" cy="685800"/>
          </a:xfrm>
          <a:prstGeom prst="rect">
            <a:avLst/>
          </a:prstGeom>
          <a:noFill/>
          <a:ln/>
        </p:spPr>
        <p:txBody>
          <a:bodyPr wrap="square" lIns="0" tIns="0" rIns="0" bIns="0" rtlCol="0" anchor="ctr"/>
          <a:lstStyle/>
          <a:p>
            <a:pPr marL="0" indent="0">
              <a:buNone/>
            </a:pPr>
            <a:r>
              <a:rPr lang="en-US" sz="1300" b="1" dirty="0">
                <a:solidFill>
                  <a:srgbClr val="0B1F4B"/>
                </a:solidFill>
              </a:rPr>
              <a:t>In an online store:  </a:t>
            </a:r>
            <a:r>
              <a:rPr lang="en-US" sz="1300" dirty="0">
                <a:solidFill>
                  <a:srgbClr val="1F2937"/>
                </a:solidFill>
              </a:rPr>
              <a:t>UI is the style of the “Add to cart” button. UX is whether shoppers can filter, compare, edit the cart and understand checkout.</a:t>
            </a:r>
            <a:endParaRPr lang="en-US" sz="130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03 · FOUNDATIONS</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Tools and Technologies: Figma</a:t>
            </a:r>
            <a:endParaRPr lang="en-US" sz="2500" dirty="0"/>
          </a:p>
        </p:txBody>
      </p:sp>
      <p:sp>
        <p:nvSpPr>
          <p:cNvPr id="5" name="Shape 2"/>
          <p:cNvSpPr/>
          <p:nvPr/>
        </p:nvSpPr>
        <p:spPr>
          <a:xfrm>
            <a:off x="457200" y="1143000"/>
            <a:ext cx="3931920" cy="548640"/>
          </a:xfrm>
          <a:prstGeom prst="roundRect">
            <a:avLst>
              <a:gd name="adj" fmla="val 1166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6" name="Shape 3"/>
          <p:cNvSpPr/>
          <p:nvPr/>
        </p:nvSpPr>
        <p:spPr>
          <a:xfrm>
            <a:off x="566928" y="1216152"/>
            <a:ext cx="402336" cy="402336"/>
          </a:xfrm>
          <a:prstGeom prst="roundRect">
            <a:avLst>
              <a:gd name="adj" fmla="val 22000"/>
            </a:avLst>
          </a:prstGeom>
          <a:solidFill>
            <a:srgbClr val="2F5BFF"/>
          </a:solidFill>
          <a:ln w="12700">
            <a:solidFill>
              <a:srgbClr val="2F5BFF"/>
            </a:solidFill>
            <a:prstDash val="solid"/>
          </a:ln>
        </p:spPr>
      </p:sp>
      <p:pic>
        <p:nvPicPr>
          <p:cNvPr id="7" name="Image 0" descr="preencoded.png"/>
          <p:cNvPicPr>
            <a:picLocks noChangeAspect="1"/>
          </p:cNvPicPr>
          <p:nvPr/>
        </p:nvPicPr>
        <p:blipFill>
          <a:blip r:embed="rId3"/>
          <a:stretch>
            <a:fillRect/>
          </a:stretch>
        </p:blipFill>
        <p:spPr>
          <a:xfrm>
            <a:off x="663489" y="1312713"/>
            <a:ext cx="209215" cy="209215"/>
          </a:xfrm>
          <a:prstGeom prst="rect">
            <a:avLst/>
          </a:prstGeom>
        </p:spPr>
      </p:pic>
      <p:sp>
        <p:nvSpPr>
          <p:cNvPr id="8" name="Text 4"/>
          <p:cNvSpPr txBox="1"/>
          <p:nvPr/>
        </p:nvSpPr>
        <p:spPr>
          <a:xfrm>
            <a:off x="1097280" y="1143000"/>
            <a:ext cx="1280160" cy="548640"/>
          </a:xfrm>
          <a:prstGeom prst="rect">
            <a:avLst/>
          </a:prstGeom>
          <a:noFill/>
          <a:ln/>
        </p:spPr>
        <p:txBody>
          <a:bodyPr wrap="square" lIns="0" tIns="0" rIns="0" bIns="0" rtlCol="0" anchor="ctr"/>
          <a:lstStyle/>
          <a:p>
            <a:pPr marL="0" indent="0">
              <a:buNone/>
            </a:pPr>
            <a:r>
              <a:rPr lang="en-US" sz="1350" b="1" dirty="0">
                <a:solidFill>
                  <a:srgbClr val="0B1F4B"/>
                </a:solidFill>
              </a:rPr>
              <a:t>Frames</a:t>
            </a:r>
            <a:endParaRPr lang="en-US" sz="1350" dirty="0"/>
          </a:p>
        </p:txBody>
      </p:sp>
      <p:sp>
        <p:nvSpPr>
          <p:cNvPr id="9" name="Text 5"/>
          <p:cNvSpPr txBox="1"/>
          <p:nvPr/>
        </p:nvSpPr>
        <p:spPr>
          <a:xfrm>
            <a:off x="2377440" y="1143000"/>
            <a:ext cx="1965960" cy="548640"/>
          </a:xfrm>
          <a:prstGeom prst="rect">
            <a:avLst/>
          </a:prstGeom>
          <a:noFill/>
          <a:ln/>
        </p:spPr>
        <p:txBody>
          <a:bodyPr wrap="square" lIns="0" tIns="0" rIns="0" bIns="0" rtlCol="0" anchor="ctr"/>
          <a:lstStyle/>
          <a:p>
            <a:pPr marL="0" indent="0">
              <a:buNone/>
            </a:pPr>
            <a:r>
              <a:rPr lang="en-US" sz="1150" dirty="0">
                <a:solidFill>
                  <a:srgbClr val="6B7280"/>
                </a:solidFill>
              </a:rPr>
              <a:t>Screens and page layouts</a:t>
            </a:r>
            <a:endParaRPr lang="en-US" sz="1150" dirty="0"/>
          </a:p>
        </p:txBody>
      </p:sp>
      <p:sp>
        <p:nvSpPr>
          <p:cNvPr id="10" name="Shape 6"/>
          <p:cNvSpPr/>
          <p:nvPr/>
        </p:nvSpPr>
        <p:spPr>
          <a:xfrm>
            <a:off x="457200" y="1783080"/>
            <a:ext cx="3931920" cy="548640"/>
          </a:xfrm>
          <a:prstGeom prst="roundRect">
            <a:avLst>
              <a:gd name="adj" fmla="val 1166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1" name="Shape 7"/>
          <p:cNvSpPr/>
          <p:nvPr/>
        </p:nvSpPr>
        <p:spPr>
          <a:xfrm>
            <a:off x="566928" y="1856232"/>
            <a:ext cx="402336" cy="402336"/>
          </a:xfrm>
          <a:prstGeom prst="roundRect">
            <a:avLst>
              <a:gd name="adj" fmla="val 22000"/>
            </a:avLst>
          </a:prstGeom>
          <a:solidFill>
            <a:srgbClr val="2F5BFF"/>
          </a:solidFill>
          <a:ln w="12700">
            <a:solidFill>
              <a:srgbClr val="2F5BFF"/>
            </a:solidFill>
            <a:prstDash val="solid"/>
          </a:ln>
        </p:spPr>
      </p:sp>
      <p:pic>
        <p:nvPicPr>
          <p:cNvPr id="12" name="Image 1" descr="preencoded.png"/>
          <p:cNvPicPr>
            <a:picLocks noChangeAspect="1"/>
          </p:cNvPicPr>
          <p:nvPr/>
        </p:nvPicPr>
        <p:blipFill>
          <a:blip r:embed="rId4"/>
          <a:stretch>
            <a:fillRect/>
          </a:stretch>
        </p:blipFill>
        <p:spPr>
          <a:xfrm>
            <a:off x="663489" y="1952793"/>
            <a:ext cx="209215" cy="209215"/>
          </a:xfrm>
          <a:prstGeom prst="rect">
            <a:avLst/>
          </a:prstGeom>
        </p:spPr>
      </p:pic>
      <p:sp>
        <p:nvSpPr>
          <p:cNvPr id="13" name="Text 8"/>
          <p:cNvSpPr txBox="1"/>
          <p:nvPr/>
        </p:nvSpPr>
        <p:spPr>
          <a:xfrm>
            <a:off x="1097280" y="1783080"/>
            <a:ext cx="1280160" cy="548640"/>
          </a:xfrm>
          <a:prstGeom prst="rect">
            <a:avLst/>
          </a:prstGeom>
          <a:noFill/>
          <a:ln/>
        </p:spPr>
        <p:txBody>
          <a:bodyPr wrap="square" lIns="0" tIns="0" rIns="0" bIns="0" rtlCol="0" anchor="ctr"/>
          <a:lstStyle/>
          <a:p>
            <a:pPr marL="0" indent="0">
              <a:buNone/>
            </a:pPr>
            <a:r>
              <a:rPr lang="en-US" sz="1350" b="1" dirty="0">
                <a:solidFill>
                  <a:srgbClr val="0B1F4B"/>
                </a:solidFill>
              </a:rPr>
              <a:t>Auto layout</a:t>
            </a:r>
            <a:endParaRPr lang="en-US" sz="1350" dirty="0"/>
          </a:p>
        </p:txBody>
      </p:sp>
      <p:sp>
        <p:nvSpPr>
          <p:cNvPr id="14" name="Text 9"/>
          <p:cNvSpPr txBox="1"/>
          <p:nvPr/>
        </p:nvSpPr>
        <p:spPr>
          <a:xfrm>
            <a:off x="2377440" y="1783080"/>
            <a:ext cx="1965960" cy="548640"/>
          </a:xfrm>
          <a:prstGeom prst="rect">
            <a:avLst/>
          </a:prstGeom>
          <a:noFill/>
          <a:ln/>
        </p:spPr>
        <p:txBody>
          <a:bodyPr wrap="square" lIns="0" tIns="0" rIns="0" bIns="0" rtlCol="0" anchor="ctr"/>
          <a:lstStyle/>
          <a:p>
            <a:pPr marL="0" indent="0">
              <a:buNone/>
            </a:pPr>
            <a:r>
              <a:rPr lang="en-US" sz="1150" dirty="0">
                <a:solidFill>
                  <a:srgbClr val="6B7280"/>
                </a:solidFill>
              </a:rPr>
              <a:t>Spacing that adapts to content</a:t>
            </a:r>
            <a:endParaRPr lang="en-US" sz="1150" dirty="0"/>
          </a:p>
        </p:txBody>
      </p:sp>
      <p:sp>
        <p:nvSpPr>
          <p:cNvPr id="15" name="Shape 10"/>
          <p:cNvSpPr/>
          <p:nvPr/>
        </p:nvSpPr>
        <p:spPr>
          <a:xfrm>
            <a:off x="457200" y="2423160"/>
            <a:ext cx="3931920" cy="548640"/>
          </a:xfrm>
          <a:prstGeom prst="roundRect">
            <a:avLst>
              <a:gd name="adj" fmla="val 1166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6" name="Shape 11"/>
          <p:cNvSpPr/>
          <p:nvPr/>
        </p:nvSpPr>
        <p:spPr>
          <a:xfrm>
            <a:off x="566928" y="2496312"/>
            <a:ext cx="402336" cy="402336"/>
          </a:xfrm>
          <a:prstGeom prst="roundRect">
            <a:avLst>
              <a:gd name="adj" fmla="val 22000"/>
            </a:avLst>
          </a:prstGeom>
          <a:solidFill>
            <a:srgbClr val="2F5BFF"/>
          </a:solidFill>
          <a:ln w="12700">
            <a:solidFill>
              <a:srgbClr val="2F5BFF"/>
            </a:solidFill>
            <a:prstDash val="solid"/>
          </a:ln>
        </p:spPr>
      </p:sp>
      <p:pic>
        <p:nvPicPr>
          <p:cNvPr id="17" name="Image 2" descr="preencoded.png"/>
          <p:cNvPicPr>
            <a:picLocks noChangeAspect="1"/>
          </p:cNvPicPr>
          <p:nvPr/>
        </p:nvPicPr>
        <p:blipFill>
          <a:blip r:embed="rId5"/>
          <a:stretch>
            <a:fillRect/>
          </a:stretch>
        </p:blipFill>
        <p:spPr>
          <a:xfrm>
            <a:off x="663489" y="2592873"/>
            <a:ext cx="209215" cy="209215"/>
          </a:xfrm>
          <a:prstGeom prst="rect">
            <a:avLst/>
          </a:prstGeom>
        </p:spPr>
      </p:pic>
      <p:sp>
        <p:nvSpPr>
          <p:cNvPr id="18" name="Text 12"/>
          <p:cNvSpPr txBox="1"/>
          <p:nvPr/>
        </p:nvSpPr>
        <p:spPr>
          <a:xfrm>
            <a:off x="1097280" y="2423160"/>
            <a:ext cx="1280160" cy="548640"/>
          </a:xfrm>
          <a:prstGeom prst="rect">
            <a:avLst/>
          </a:prstGeom>
          <a:noFill/>
          <a:ln/>
        </p:spPr>
        <p:txBody>
          <a:bodyPr wrap="square" lIns="0" tIns="0" rIns="0" bIns="0" rtlCol="0" anchor="ctr"/>
          <a:lstStyle/>
          <a:p>
            <a:pPr marL="0" indent="0">
              <a:buNone/>
            </a:pPr>
            <a:r>
              <a:rPr lang="en-US" sz="1350" b="1" dirty="0">
                <a:solidFill>
                  <a:srgbClr val="0B1F4B"/>
                </a:solidFill>
              </a:rPr>
              <a:t>Components</a:t>
            </a:r>
            <a:endParaRPr lang="en-US" sz="1350" dirty="0"/>
          </a:p>
        </p:txBody>
      </p:sp>
      <p:sp>
        <p:nvSpPr>
          <p:cNvPr id="19" name="Text 13"/>
          <p:cNvSpPr txBox="1"/>
          <p:nvPr/>
        </p:nvSpPr>
        <p:spPr>
          <a:xfrm>
            <a:off x="2377440" y="2423160"/>
            <a:ext cx="1965960" cy="548640"/>
          </a:xfrm>
          <a:prstGeom prst="rect">
            <a:avLst/>
          </a:prstGeom>
          <a:noFill/>
          <a:ln/>
        </p:spPr>
        <p:txBody>
          <a:bodyPr wrap="square" lIns="0" tIns="0" rIns="0" bIns="0" rtlCol="0" anchor="ctr"/>
          <a:lstStyle/>
          <a:p>
            <a:pPr marL="0" indent="0">
              <a:buNone/>
            </a:pPr>
            <a:r>
              <a:rPr lang="en-US" sz="1150" dirty="0">
                <a:solidFill>
                  <a:srgbClr val="6B7280"/>
                </a:solidFill>
              </a:rPr>
              <a:t>Reusable buttons and cards</a:t>
            </a:r>
            <a:endParaRPr lang="en-US" sz="1150" dirty="0"/>
          </a:p>
        </p:txBody>
      </p:sp>
      <p:sp>
        <p:nvSpPr>
          <p:cNvPr id="20" name="Shape 14"/>
          <p:cNvSpPr/>
          <p:nvPr/>
        </p:nvSpPr>
        <p:spPr>
          <a:xfrm>
            <a:off x="457200" y="3063240"/>
            <a:ext cx="3931920" cy="548640"/>
          </a:xfrm>
          <a:prstGeom prst="roundRect">
            <a:avLst>
              <a:gd name="adj" fmla="val 1166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1" name="Shape 15"/>
          <p:cNvSpPr/>
          <p:nvPr/>
        </p:nvSpPr>
        <p:spPr>
          <a:xfrm>
            <a:off x="566928" y="3136392"/>
            <a:ext cx="402336" cy="402336"/>
          </a:xfrm>
          <a:prstGeom prst="roundRect">
            <a:avLst>
              <a:gd name="adj" fmla="val 22000"/>
            </a:avLst>
          </a:prstGeom>
          <a:solidFill>
            <a:srgbClr val="2F5BFF"/>
          </a:solidFill>
          <a:ln w="12700">
            <a:solidFill>
              <a:srgbClr val="2F5BFF"/>
            </a:solidFill>
            <a:prstDash val="solid"/>
          </a:ln>
        </p:spPr>
      </p:sp>
      <p:pic>
        <p:nvPicPr>
          <p:cNvPr id="22" name="Image 3" descr="preencoded.png"/>
          <p:cNvPicPr>
            <a:picLocks noChangeAspect="1"/>
          </p:cNvPicPr>
          <p:nvPr/>
        </p:nvPicPr>
        <p:blipFill>
          <a:blip r:embed="rId6"/>
          <a:stretch>
            <a:fillRect/>
          </a:stretch>
        </p:blipFill>
        <p:spPr>
          <a:xfrm>
            <a:off x="663489" y="3232953"/>
            <a:ext cx="209215" cy="209215"/>
          </a:xfrm>
          <a:prstGeom prst="rect">
            <a:avLst/>
          </a:prstGeom>
        </p:spPr>
      </p:pic>
      <p:sp>
        <p:nvSpPr>
          <p:cNvPr id="23" name="Text 16"/>
          <p:cNvSpPr txBox="1"/>
          <p:nvPr/>
        </p:nvSpPr>
        <p:spPr>
          <a:xfrm>
            <a:off x="1097280" y="3063240"/>
            <a:ext cx="1280160" cy="548640"/>
          </a:xfrm>
          <a:prstGeom prst="rect">
            <a:avLst/>
          </a:prstGeom>
          <a:noFill/>
          <a:ln/>
        </p:spPr>
        <p:txBody>
          <a:bodyPr wrap="square" lIns="0" tIns="0" rIns="0" bIns="0" rtlCol="0" anchor="ctr"/>
          <a:lstStyle/>
          <a:p>
            <a:pPr marL="0" indent="0">
              <a:buNone/>
            </a:pPr>
            <a:r>
              <a:rPr lang="en-US" sz="1350" b="1" dirty="0">
                <a:solidFill>
                  <a:srgbClr val="0B1F4B"/>
                </a:solidFill>
              </a:rPr>
              <a:t>Styles</a:t>
            </a:r>
            <a:endParaRPr lang="en-US" sz="1350" dirty="0"/>
          </a:p>
        </p:txBody>
      </p:sp>
      <p:sp>
        <p:nvSpPr>
          <p:cNvPr id="24" name="Text 17"/>
          <p:cNvSpPr txBox="1"/>
          <p:nvPr/>
        </p:nvSpPr>
        <p:spPr>
          <a:xfrm>
            <a:off x="2377440" y="3063240"/>
            <a:ext cx="1965960" cy="548640"/>
          </a:xfrm>
          <a:prstGeom prst="rect">
            <a:avLst/>
          </a:prstGeom>
          <a:noFill/>
          <a:ln/>
        </p:spPr>
        <p:txBody>
          <a:bodyPr wrap="square" lIns="0" tIns="0" rIns="0" bIns="0" rtlCol="0" anchor="ctr"/>
          <a:lstStyle/>
          <a:p>
            <a:pPr marL="0" indent="0">
              <a:buNone/>
            </a:pPr>
            <a:r>
              <a:rPr lang="en-US" sz="1150" dirty="0">
                <a:solidFill>
                  <a:srgbClr val="6B7280"/>
                </a:solidFill>
              </a:rPr>
              <a:t>Shared colours and typography</a:t>
            </a:r>
            <a:endParaRPr lang="en-US" sz="1150" dirty="0"/>
          </a:p>
        </p:txBody>
      </p:sp>
      <p:sp>
        <p:nvSpPr>
          <p:cNvPr id="25" name="Shape 18"/>
          <p:cNvSpPr/>
          <p:nvPr/>
        </p:nvSpPr>
        <p:spPr>
          <a:xfrm>
            <a:off x="457200" y="3703320"/>
            <a:ext cx="3931920" cy="548640"/>
          </a:xfrm>
          <a:prstGeom prst="roundRect">
            <a:avLst>
              <a:gd name="adj" fmla="val 1166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6" name="Shape 19"/>
          <p:cNvSpPr/>
          <p:nvPr/>
        </p:nvSpPr>
        <p:spPr>
          <a:xfrm>
            <a:off x="566928" y="3776472"/>
            <a:ext cx="402336" cy="402336"/>
          </a:xfrm>
          <a:prstGeom prst="roundRect">
            <a:avLst>
              <a:gd name="adj" fmla="val 22000"/>
            </a:avLst>
          </a:prstGeom>
          <a:solidFill>
            <a:srgbClr val="2F5BFF"/>
          </a:solidFill>
          <a:ln w="12700">
            <a:solidFill>
              <a:srgbClr val="2F5BFF"/>
            </a:solidFill>
            <a:prstDash val="solid"/>
          </a:ln>
        </p:spPr>
      </p:sp>
      <p:pic>
        <p:nvPicPr>
          <p:cNvPr id="27" name="Image 4" descr="preencoded.png"/>
          <p:cNvPicPr>
            <a:picLocks noChangeAspect="1"/>
          </p:cNvPicPr>
          <p:nvPr/>
        </p:nvPicPr>
        <p:blipFill>
          <a:blip r:embed="rId7"/>
          <a:stretch>
            <a:fillRect/>
          </a:stretch>
        </p:blipFill>
        <p:spPr>
          <a:xfrm>
            <a:off x="663489" y="3873033"/>
            <a:ext cx="209215" cy="209215"/>
          </a:xfrm>
          <a:prstGeom prst="rect">
            <a:avLst/>
          </a:prstGeom>
        </p:spPr>
      </p:pic>
      <p:sp>
        <p:nvSpPr>
          <p:cNvPr id="28" name="Text 20"/>
          <p:cNvSpPr txBox="1"/>
          <p:nvPr/>
        </p:nvSpPr>
        <p:spPr>
          <a:xfrm>
            <a:off x="1097280" y="3703320"/>
            <a:ext cx="1280160" cy="548640"/>
          </a:xfrm>
          <a:prstGeom prst="rect">
            <a:avLst/>
          </a:prstGeom>
          <a:noFill/>
          <a:ln/>
        </p:spPr>
        <p:txBody>
          <a:bodyPr wrap="square" lIns="0" tIns="0" rIns="0" bIns="0" rtlCol="0" anchor="ctr"/>
          <a:lstStyle/>
          <a:p>
            <a:pPr marL="0" indent="0">
              <a:buNone/>
            </a:pPr>
            <a:r>
              <a:rPr lang="en-US" sz="1350" b="1" dirty="0">
                <a:solidFill>
                  <a:srgbClr val="0B1F4B"/>
                </a:solidFill>
              </a:rPr>
              <a:t>Prototyping</a:t>
            </a:r>
            <a:endParaRPr lang="en-US" sz="1350" dirty="0"/>
          </a:p>
        </p:txBody>
      </p:sp>
      <p:sp>
        <p:nvSpPr>
          <p:cNvPr id="29" name="Text 21"/>
          <p:cNvSpPr txBox="1"/>
          <p:nvPr/>
        </p:nvSpPr>
        <p:spPr>
          <a:xfrm>
            <a:off x="2377440" y="3703320"/>
            <a:ext cx="1965960" cy="548640"/>
          </a:xfrm>
          <a:prstGeom prst="rect">
            <a:avLst/>
          </a:prstGeom>
          <a:noFill/>
          <a:ln/>
        </p:spPr>
        <p:txBody>
          <a:bodyPr wrap="square" lIns="0" tIns="0" rIns="0" bIns="0" rtlCol="0" anchor="ctr"/>
          <a:lstStyle/>
          <a:p>
            <a:pPr marL="0" indent="0">
              <a:buNone/>
            </a:pPr>
            <a:r>
              <a:rPr lang="en-US" sz="1150" dirty="0">
                <a:solidFill>
                  <a:srgbClr val="6B7280"/>
                </a:solidFill>
              </a:rPr>
              <a:t>Link screens into a flow</a:t>
            </a:r>
            <a:endParaRPr lang="en-US" sz="1150" dirty="0"/>
          </a:p>
        </p:txBody>
      </p:sp>
      <p:sp>
        <p:nvSpPr>
          <p:cNvPr id="30" name="Shape 22"/>
          <p:cNvSpPr/>
          <p:nvPr/>
        </p:nvSpPr>
        <p:spPr>
          <a:xfrm>
            <a:off x="4663440" y="1143000"/>
            <a:ext cx="4023360" cy="3200400"/>
          </a:xfrm>
          <a:prstGeom prst="roundRect">
            <a:avLst>
              <a:gd name="adj" fmla="val 2000"/>
            </a:avLst>
          </a:prstGeom>
          <a:solidFill>
            <a:srgbClr val="F4F6FB"/>
          </a:solidFill>
          <a:ln w="9525">
            <a:solidFill>
              <a:srgbClr val="DDE3F0"/>
            </a:solidFill>
            <a:prstDash val="solid"/>
          </a:ln>
        </p:spPr>
      </p:sp>
      <p:sp>
        <p:nvSpPr>
          <p:cNvPr id="31" name="Text 23"/>
          <p:cNvSpPr txBox="1"/>
          <p:nvPr/>
        </p:nvSpPr>
        <p:spPr>
          <a:xfrm>
            <a:off x="4846320" y="1234440"/>
            <a:ext cx="3657600" cy="228600"/>
          </a:xfrm>
          <a:prstGeom prst="rect">
            <a:avLst/>
          </a:prstGeom>
          <a:noFill/>
          <a:ln/>
        </p:spPr>
        <p:txBody>
          <a:bodyPr wrap="square" lIns="0" tIns="0" rIns="0" bIns="0" rtlCol="0" anchor="t"/>
          <a:lstStyle/>
          <a:p>
            <a:pPr marL="0" indent="0">
              <a:buNone/>
            </a:pPr>
            <a:r>
              <a:rPr lang="en-US" sz="1100" b="1" dirty="0">
                <a:solidFill>
                  <a:srgbClr val="2F5BFF"/>
                </a:solidFill>
              </a:rPr>
              <a:t>Figma concepts, illustrated</a:t>
            </a:r>
            <a:endParaRPr lang="en-US" sz="1100" dirty="0"/>
          </a:p>
        </p:txBody>
      </p:sp>
      <p:sp>
        <p:nvSpPr>
          <p:cNvPr id="32" name="Shape 24"/>
          <p:cNvSpPr/>
          <p:nvPr/>
        </p:nvSpPr>
        <p:spPr>
          <a:xfrm>
            <a:off x="4846320" y="1645920"/>
            <a:ext cx="1005840" cy="1371600"/>
          </a:xfrm>
          <a:prstGeom prst="roundRect">
            <a:avLst>
              <a:gd name="adj" fmla="val 4545"/>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3" name="Shape 25"/>
          <p:cNvSpPr/>
          <p:nvPr/>
        </p:nvSpPr>
        <p:spPr>
          <a:xfrm>
            <a:off x="4919472" y="1737360"/>
            <a:ext cx="859536" cy="457200"/>
          </a:xfrm>
          <a:prstGeom prst="roundRect">
            <a:avLst>
              <a:gd name="adj" fmla="val 8000"/>
            </a:avLst>
          </a:prstGeom>
          <a:solidFill>
            <a:srgbClr val="C7D2FE"/>
          </a:solidFill>
          <a:ln w="12700">
            <a:solidFill>
              <a:srgbClr val="C7D2FE"/>
            </a:solidFill>
            <a:prstDash val="solid"/>
          </a:ln>
        </p:spPr>
      </p:sp>
      <p:sp>
        <p:nvSpPr>
          <p:cNvPr id="34" name="Shape 26"/>
          <p:cNvSpPr/>
          <p:nvPr/>
        </p:nvSpPr>
        <p:spPr>
          <a:xfrm>
            <a:off x="4919472" y="2286000"/>
            <a:ext cx="859536" cy="91440"/>
          </a:xfrm>
          <a:prstGeom prst="rect">
            <a:avLst/>
          </a:prstGeom>
          <a:solidFill>
            <a:srgbClr val="E5E7EB"/>
          </a:solidFill>
          <a:ln w="12700">
            <a:solidFill>
              <a:srgbClr val="E5E7EB"/>
            </a:solidFill>
            <a:prstDash val="solid"/>
          </a:ln>
        </p:spPr>
      </p:sp>
      <p:sp>
        <p:nvSpPr>
          <p:cNvPr id="35" name="Shape 27"/>
          <p:cNvSpPr/>
          <p:nvPr/>
        </p:nvSpPr>
        <p:spPr>
          <a:xfrm>
            <a:off x="4919472" y="2468880"/>
            <a:ext cx="548640" cy="91440"/>
          </a:xfrm>
          <a:prstGeom prst="rect">
            <a:avLst/>
          </a:prstGeom>
          <a:solidFill>
            <a:srgbClr val="E5E7EB"/>
          </a:solidFill>
          <a:ln w="12700">
            <a:solidFill>
              <a:srgbClr val="E5E7EB"/>
            </a:solidFill>
            <a:prstDash val="solid"/>
          </a:ln>
        </p:spPr>
      </p:sp>
      <p:sp>
        <p:nvSpPr>
          <p:cNvPr id="36" name="Shape 28"/>
          <p:cNvSpPr/>
          <p:nvPr/>
        </p:nvSpPr>
        <p:spPr>
          <a:xfrm>
            <a:off x="4919472" y="2743200"/>
            <a:ext cx="457200" cy="182880"/>
          </a:xfrm>
          <a:prstGeom prst="roundRect">
            <a:avLst>
              <a:gd name="adj" fmla="val 15000"/>
            </a:avLst>
          </a:prstGeom>
          <a:solidFill>
            <a:srgbClr val="2F5BFF"/>
          </a:solidFill>
          <a:ln w="12700">
            <a:solidFill>
              <a:srgbClr val="2F5BFF"/>
            </a:solidFill>
            <a:prstDash val="solid"/>
          </a:ln>
        </p:spPr>
      </p:sp>
      <p:sp>
        <p:nvSpPr>
          <p:cNvPr id="37" name="Text 29"/>
          <p:cNvSpPr txBox="1"/>
          <p:nvPr/>
        </p:nvSpPr>
        <p:spPr>
          <a:xfrm>
            <a:off x="4846320" y="3090672"/>
            <a:ext cx="1005840" cy="228600"/>
          </a:xfrm>
          <a:prstGeom prst="rect">
            <a:avLst/>
          </a:prstGeom>
          <a:noFill/>
          <a:ln/>
        </p:spPr>
        <p:txBody>
          <a:bodyPr wrap="square" lIns="0" tIns="0" rIns="0" bIns="0" rtlCol="0" anchor="t"/>
          <a:lstStyle/>
          <a:p>
            <a:pPr marL="0" indent="0" algn="ctr">
              <a:buNone/>
            </a:pPr>
            <a:r>
              <a:rPr lang="en-US" sz="1100" b="1" dirty="0">
                <a:solidFill>
                  <a:srgbClr val="0B1F4B"/>
                </a:solidFill>
              </a:rPr>
              <a:t>Home</a:t>
            </a:r>
            <a:endParaRPr lang="en-US" sz="1100" dirty="0"/>
          </a:p>
        </p:txBody>
      </p:sp>
      <p:sp>
        <p:nvSpPr>
          <p:cNvPr id="38" name="Shape 30"/>
          <p:cNvSpPr/>
          <p:nvPr/>
        </p:nvSpPr>
        <p:spPr>
          <a:xfrm>
            <a:off x="6126480" y="1645920"/>
            <a:ext cx="1005840" cy="1371600"/>
          </a:xfrm>
          <a:prstGeom prst="roundRect">
            <a:avLst>
              <a:gd name="adj" fmla="val 4545"/>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9" name="Shape 31"/>
          <p:cNvSpPr/>
          <p:nvPr/>
        </p:nvSpPr>
        <p:spPr>
          <a:xfrm>
            <a:off x="6199632" y="1737360"/>
            <a:ext cx="859536" cy="457200"/>
          </a:xfrm>
          <a:prstGeom prst="roundRect">
            <a:avLst>
              <a:gd name="adj" fmla="val 8000"/>
            </a:avLst>
          </a:prstGeom>
          <a:solidFill>
            <a:srgbClr val="BFDBFE"/>
          </a:solidFill>
          <a:ln w="12700">
            <a:solidFill>
              <a:srgbClr val="BFDBFE"/>
            </a:solidFill>
            <a:prstDash val="solid"/>
          </a:ln>
        </p:spPr>
      </p:sp>
      <p:sp>
        <p:nvSpPr>
          <p:cNvPr id="40" name="Shape 32"/>
          <p:cNvSpPr/>
          <p:nvPr/>
        </p:nvSpPr>
        <p:spPr>
          <a:xfrm>
            <a:off x="6199632" y="2286000"/>
            <a:ext cx="859536" cy="91440"/>
          </a:xfrm>
          <a:prstGeom prst="rect">
            <a:avLst/>
          </a:prstGeom>
          <a:solidFill>
            <a:srgbClr val="E5E7EB"/>
          </a:solidFill>
          <a:ln w="12700">
            <a:solidFill>
              <a:srgbClr val="E5E7EB"/>
            </a:solidFill>
            <a:prstDash val="solid"/>
          </a:ln>
        </p:spPr>
      </p:sp>
      <p:sp>
        <p:nvSpPr>
          <p:cNvPr id="41" name="Shape 33"/>
          <p:cNvSpPr/>
          <p:nvPr/>
        </p:nvSpPr>
        <p:spPr>
          <a:xfrm>
            <a:off x="6199632" y="2468880"/>
            <a:ext cx="548640" cy="91440"/>
          </a:xfrm>
          <a:prstGeom prst="rect">
            <a:avLst/>
          </a:prstGeom>
          <a:solidFill>
            <a:srgbClr val="E5E7EB"/>
          </a:solidFill>
          <a:ln w="12700">
            <a:solidFill>
              <a:srgbClr val="E5E7EB"/>
            </a:solidFill>
            <a:prstDash val="solid"/>
          </a:ln>
        </p:spPr>
      </p:sp>
      <p:sp>
        <p:nvSpPr>
          <p:cNvPr id="42" name="Shape 34"/>
          <p:cNvSpPr/>
          <p:nvPr/>
        </p:nvSpPr>
        <p:spPr>
          <a:xfrm>
            <a:off x="6199632" y="2743200"/>
            <a:ext cx="457200" cy="182880"/>
          </a:xfrm>
          <a:prstGeom prst="roundRect">
            <a:avLst>
              <a:gd name="adj" fmla="val 15000"/>
            </a:avLst>
          </a:prstGeom>
          <a:solidFill>
            <a:srgbClr val="2F5BFF"/>
          </a:solidFill>
          <a:ln w="12700">
            <a:solidFill>
              <a:srgbClr val="2F5BFF"/>
            </a:solidFill>
            <a:prstDash val="solid"/>
          </a:ln>
        </p:spPr>
      </p:sp>
      <p:sp>
        <p:nvSpPr>
          <p:cNvPr id="43" name="Text 35"/>
          <p:cNvSpPr txBox="1"/>
          <p:nvPr/>
        </p:nvSpPr>
        <p:spPr>
          <a:xfrm>
            <a:off x="6126480" y="3090672"/>
            <a:ext cx="1005840" cy="228600"/>
          </a:xfrm>
          <a:prstGeom prst="rect">
            <a:avLst/>
          </a:prstGeom>
          <a:noFill/>
          <a:ln/>
        </p:spPr>
        <p:txBody>
          <a:bodyPr wrap="square" lIns="0" tIns="0" rIns="0" bIns="0" rtlCol="0" anchor="t"/>
          <a:lstStyle/>
          <a:p>
            <a:pPr marL="0" indent="0" algn="ctr">
              <a:buNone/>
            </a:pPr>
            <a:r>
              <a:rPr lang="en-US" sz="1100" b="1" dirty="0">
                <a:solidFill>
                  <a:srgbClr val="0B1F4B"/>
                </a:solidFill>
              </a:rPr>
              <a:t>Listing</a:t>
            </a:r>
            <a:endParaRPr lang="en-US" sz="1100" dirty="0"/>
          </a:p>
        </p:txBody>
      </p:sp>
      <p:sp>
        <p:nvSpPr>
          <p:cNvPr id="44" name="Shape 36"/>
          <p:cNvSpPr/>
          <p:nvPr/>
        </p:nvSpPr>
        <p:spPr>
          <a:xfrm>
            <a:off x="7406640" y="1645920"/>
            <a:ext cx="1005840" cy="1371600"/>
          </a:xfrm>
          <a:prstGeom prst="roundRect">
            <a:avLst>
              <a:gd name="adj" fmla="val 4545"/>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45" name="Shape 37"/>
          <p:cNvSpPr/>
          <p:nvPr/>
        </p:nvSpPr>
        <p:spPr>
          <a:xfrm>
            <a:off x="7479792" y="1737360"/>
            <a:ext cx="859536" cy="457200"/>
          </a:xfrm>
          <a:prstGeom prst="roundRect">
            <a:avLst>
              <a:gd name="adj" fmla="val 8000"/>
            </a:avLst>
          </a:prstGeom>
          <a:solidFill>
            <a:srgbClr val="FBCFE8"/>
          </a:solidFill>
          <a:ln w="12700">
            <a:solidFill>
              <a:srgbClr val="FBCFE8"/>
            </a:solidFill>
            <a:prstDash val="solid"/>
          </a:ln>
        </p:spPr>
      </p:sp>
      <p:sp>
        <p:nvSpPr>
          <p:cNvPr id="46" name="Shape 38"/>
          <p:cNvSpPr/>
          <p:nvPr/>
        </p:nvSpPr>
        <p:spPr>
          <a:xfrm>
            <a:off x="7479792" y="2286000"/>
            <a:ext cx="859536" cy="91440"/>
          </a:xfrm>
          <a:prstGeom prst="rect">
            <a:avLst/>
          </a:prstGeom>
          <a:solidFill>
            <a:srgbClr val="E5E7EB"/>
          </a:solidFill>
          <a:ln w="12700">
            <a:solidFill>
              <a:srgbClr val="E5E7EB"/>
            </a:solidFill>
            <a:prstDash val="solid"/>
          </a:ln>
        </p:spPr>
      </p:sp>
      <p:sp>
        <p:nvSpPr>
          <p:cNvPr id="47" name="Shape 39"/>
          <p:cNvSpPr/>
          <p:nvPr/>
        </p:nvSpPr>
        <p:spPr>
          <a:xfrm>
            <a:off x="7479792" y="2468880"/>
            <a:ext cx="548640" cy="91440"/>
          </a:xfrm>
          <a:prstGeom prst="rect">
            <a:avLst/>
          </a:prstGeom>
          <a:solidFill>
            <a:srgbClr val="E5E7EB"/>
          </a:solidFill>
          <a:ln w="12700">
            <a:solidFill>
              <a:srgbClr val="E5E7EB"/>
            </a:solidFill>
            <a:prstDash val="solid"/>
          </a:ln>
        </p:spPr>
      </p:sp>
      <p:sp>
        <p:nvSpPr>
          <p:cNvPr id="48" name="Shape 40"/>
          <p:cNvSpPr/>
          <p:nvPr/>
        </p:nvSpPr>
        <p:spPr>
          <a:xfrm>
            <a:off x="7479792" y="2743200"/>
            <a:ext cx="457200" cy="182880"/>
          </a:xfrm>
          <a:prstGeom prst="roundRect">
            <a:avLst>
              <a:gd name="adj" fmla="val 15000"/>
            </a:avLst>
          </a:prstGeom>
          <a:solidFill>
            <a:srgbClr val="2F5BFF"/>
          </a:solidFill>
          <a:ln w="12700">
            <a:solidFill>
              <a:srgbClr val="2F5BFF"/>
            </a:solidFill>
            <a:prstDash val="solid"/>
          </a:ln>
        </p:spPr>
      </p:sp>
      <p:sp>
        <p:nvSpPr>
          <p:cNvPr id="49" name="Text 41"/>
          <p:cNvSpPr txBox="1"/>
          <p:nvPr/>
        </p:nvSpPr>
        <p:spPr>
          <a:xfrm>
            <a:off x="7406640" y="3090672"/>
            <a:ext cx="1005840" cy="228600"/>
          </a:xfrm>
          <a:prstGeom prst="rect">
            <a:avLst/>
          </a:prstGeom>
          <a:noFill/>
          <a:ln/>
        </p:spPr>
        <p:txBody>
          <a:bodyPr wrap="square" lIns="0" tIns="0" rIns="0" bIns="0" rtlCol="0" anchor="t"/>
          <a:lstStyle/>
          <a:p>
            <a:pPr marL="0" indent="0" algn="ctr">
              <a:buNone/>
            </a:pPr>
            <a:r>
              <a:rPr lang="en-US" sz="1100" b="1" dirty="0">
                <a:solidFill>
                  <a:srgbClr val="0B1F4B"/>
                </a:solidFill>
              </a:rPr>
              <a:t>Detail</a:t>
            </a:r>
            <a:endParaRPr lang="en-US" sz="1100" dirty="0"/>
          </a:p>
        </p:txBody>
      </p:sp>
      <p:sp>
        <p:nvSpPr>
          <p:cNvPr id="50" name="Shape 42"/>
          <p:cNvSpPr/>
          <p:nvPr/>
        </p:nvSpPr>
        <p:spPr>
          <a:xfrm>
            <a:off x="5852160" y="2286000"/>
            <a:ext cx="274320" cy="0"/>
          </a:xfrm>
          <a:prstGeom prst="line">
            <a:avLst/>
          </a:prstGeom>
          <a:noFill/>
          <a:ln w="19050">
            <a:solidFill>
              <a:srgbClr val="2F5BFF"/>
            </a:solidFill>
            <a:prstDash val="solid"/>
            <a:tailEnd type="triangle"/>
          </a:ln>
        </p:spPr>
      </p:sp>
      <p:sp>
        <p:nvSpPr>
          <p:cNvPr id="51" name="Shape 43"/>
          <p:cNvSpPr/>
          <p:nvPr/>
        </p:nvSpPr>
        <p:spPr>
          <a:xfrm>
            <a:off x="7132320" y="2286000"/>
            <a:ext cx="274320" cy="0"/>
          </a:xfrm>
          <a:prstGeom prst="line">
            <a:avLst/>
          </a:prstGeom>
          <a:noFill/>
          <a:ln w="19050">
            <a:solidFill>
              <a:srgbClr val="2F5BFF"/>
            </a:solidFill>
            <a:prstDash val="solid"/>
            <a:tailEnd type="triangle"/>
          </a:ln>
        </p:spPr>
      </p:sp>
      <p:sp>
        <p:nvSpPr>
          <p:cNvPr id="52" name="Text 44"/>
          <p:cNvSpPr txBox="1"/>
          <p:nvPr/>
        </p:nvSpPr>
        <p:spPr>
          <a:xfrm>
            <a:off x="4846320" y="3474720"/>
            <a:ext cx="1828800" cy="228600"/>
          </a:xfrm>
          <a:prstGeom prst="rect">
            <a:avLst/>
          </a:prstGeom>
          <a:noFill/>
          <a:ln/>
        </p:spPr>
        <p:txBody>
          <a:bodyPr wrap="square" lIns="0" tIns="0" rIns="0" bIns="0" rtlCol="0" anchor="t"/>
          <a:lstStyle/>
          <a:p>
            <a:pPr marL="0" indent="0">
              <a:buNone/>
            </a:pPr>
            <a:r>
              <a:rPr lang="en-US" sz="1050" dirty="0">
                <a:solidFill>
                  <a:srgbClr val="6B7280"/>
                </a:solidFill>
              </a:rPr>
              <a:t>Prototype links</a:t>
            </a:r>
            <a:endParaRPr lang="en-US" sz="1050" dirty="0"/>
          </a:p>
        </p:txBody>
      </p:sp>
      <p:sp>
        <p:nvSpPr>
          <p:cNvPr id="53" name="Shape 45"/>
          <p:cNvSpPr/>
          <p:nvPr/>
        </p:nvSpPr>
        <p:spPr>
          <a:xfrm>
            <a:off x="6675120" y="3429000"/>
            <a:ext cx="822960" cy="274320"/>
          </a:xfrm>
          <a:prstGeom prst="roundRect">
            <a:avLst>
              <a:gd name="adj" fmla="val 16667"/>
            </a:avLst>
          </a:prstGeom>
          <a:solidFill>
            <a:srgbClr val="2F5BFF"/>
          </a:solidFill>
          <a:ln w="12700">
            <a:solidFill>
              <a:srgbClr val="2F5BFF"/>
            </a:solidFill>
            <a:prstDash val="solid"/>
          </a:ln>
        </p:spPr>
      </p:sp>
      <p:sp>
        <p:nvSpPr>
          <p:cNvPr id="54" name="Text 46"/>
          <p:cNvSpPr txBox="1"/>
          <p:nvPr/>
        </p:nvSpPr>
        <p:spPr>
          <a:xfrm>
            <a:off x="6675120" y="3429000"/>
            <a:ext cx="822960" cy="274320"/>
          </a:xfrm>
          <a:prstGeom prst="rect">
            <a:avLst/>
          </a:prstGeom>
          <a:noFill/>
          <a:ln/>
        </p:spPr>
        <p:txBody>
          <a:bodyPr wrap="square" lIns="0" tIns="0" rIns="0" bIns="0" rtlCol="0" anchor="ctr"/>
          <a:lstStyle/>
          <a:p>
            <a:pPr marL="0" indent="0" algn="ctr">
              <a:buNone/>
            </a:pPr>
            <a:r>
              <a:rPr lang="en-US" sz="1000" b="1" dirty="0">
                <a:solidFill>
                  <a:srgbClr val="FFFFFF"/>
                </a:solidFill>
              </a:rPr>
              <a:t>Component</a:t>
            </a:r>
            <a:endParaRPr lang="en-US" sz="1000" dirty="0"/>
          </a:p>
        </p:txBody>
      </p:sp>
      <p:sp>
        <p:nvSpPr>
          <p:cNvPr id="55" name="Text 47"/>
          <p:cNvSpPr txBox="1"/>
          <p:nvPr/>
        </p:nvSpPr>
        <p:spPr>
          <a:xfrm>
            <a:off x="4846320" y="3977640"/>
            <a:ext cx="2743200" cy="228600"/>
          </a:xfrm>
          <a:prstGeom prst="rect">
            <a:avLst/>
          </a:prstGeom>
          <a:noFill/>
          <a:ln/>
        </p:spPr>
        <p:txBody>
          <a:bodyPr wrap="square" lIns="0" tIns="0" rIns="0" bIns="0" rtlCol="0" anchor="t"/>
          <a:lstStyle/>
          <a:p>
            <a:pPr marL="0" indent="0">
              <a:buNone/>
            </a:pPr>
            <a:r>
              <a:rPr lang="en-US" sz="1050" dirty="0">
                <a:solidFill>
                  <a:srgbClr val="6B7280"/>
                </a:solidFill>
              </a:rPr>
              <a:t>Illustration only</a:t>
            </a:r>
            <a:endParaRPr lang="en-US" sz="1050" dirty="0"/>
          </a:p>
        </p:txBody>
      </p:sp>
      <p:sp>
        <p:nvSpPr>
          <p:cNvPr id="56" name="Shape 48"/>
          <p:cNvSpPr/>
          <p:nvPr/>
        </p:nvSpPr>
        <p:spPr>
          <a:xfrm>
            <a:off x="457200" y="4434840"/>
            <a:ext cx="8229600" cy="274320"/>
          </a:xfrm>
          <a:prstGeom prst="rect">
            <a:avLst/>
          </a:prstGeom>
          <a:solidFill>
            <a:srgbClr val="FFFFFF"/>
          </a:solidFill>
          <a:ln w="12700">
            <a:solidFill>
              <a:srgbClr val="FFFFFF"/>
            </a:solidFill>
            <a:prstDash val="solid"/>
          </a:ln>
        </p:spPr>
      </p:sp>
      <p:sp>
        <p:nvSpPr>
          <p:cNvPr id="57" name="Text 49"/>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100" dirty="0">
                <a:solidFill>
                  <a:srgbClr val="6B7280"/>
                </a:solidFill>
              </a:rPr>
              <a:t>Figma was the primary design tool. No other tools are claimed, and no Figma file or prototype link was supplied.</a:t>
            </a:r>
            <a:endParaRPr lang="en-US" sz="110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04 · JOURNEY</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Internship Learning Journey</a:t>
            </a:r>
            <a:endParaRPr lang="en-US" sz="2500" dirty="0"/>
          </a:p>
        </p:txBody>
      </p:sp>
      <p:sp>
        <p:nvSpPr>
          <p:cNvPr id="5" name="Shape 2"/>
          <p:cNvSpPr/>
          <p:nvPr/>
        </p:nvSpPr>
        <p:spPr>
          <a:xfrm>
            <a:off x="457200" y="1143000"/>
            <a:ext cx="1335024" cy="411480"/>
          </a:xfrm>
          <a:prstGeom prst="roundRect">
            <a:avLst>
              <a:gd name="adj" fmla="val 11111"/>
            </a:avLst>
          </a:prstGeom>
          <a:solidFill>
            <a:srgbClr val="0B1F4B"/>
          </a:solidFill>
          <a:ln w="12700">
            <a:solidFill>
              <a:srgbClr val="0B1F4B"/>
            </a:solidFill>
            <a:prstDash val="solid"/>
          </a:ln>
        </p:spPr>
      </p:sp>
      <p:sp>
        <p:nvSpPr>
          <p:cNvPr id="6" name="Text 3"/>
          <p:cNvSpPr txBox="1"/>
          <p:nvPr/>
        </p:nvSpPr>
        <p:spPr>
          <a:xfrm>
            <a:off x="457200" y="1143000"/>
            <a:ext cx="1335024" cy="411480"/>
          </a:xfrm>
          <a:prstGeom prst="rect">
            <a:avLst/>
          </a:prstGeom>
          <a:noFill/>
          <a:ln/>
        </p:spPr>
        <p:txBody>
          <a:bodyPr wrap="square" lIns="0" tIns="0" rIns="0" bIns="0" rtlCol="0" anchor="ctr"/>
          <a:lstStyle/>
          <a:p>
            <a:pPr marL="0" indent="0" algn="ctr">
              <a:buNone/>
            </a:pPr>
            <a:r>
              <a:rPr lang="en-US" sz="1300" b="1" dirty="0">
                <a:solidFill>
                  <a:srgbClr val="FFFFFF"/>
                </a:solidFill>
              </a:rPr>
              <a:t>Days 1–5</a:t>
            </a:r>
            <a:endParaRPr lang="en-US" sz="1300" dirty="0"/>
          </a:p>
        </p:txBody>
      </p:sp>
      <p:sp>
        <p:nvSpPr>
          <p:cNvPr id="7" name="Shape 4"/>
          <p:cNvSpPr/>
          <p:nvPr/>
        </p:nvSpPr>
        <p:spPr>
          <a:xfrm>
            <a:off x="1828800" y="1143000"/>
            <a:ext cx="2706624" cy="411480"/>
          </a:xfrm>
          <a:prstGeom prst="roundRect">
            <a:avLst>
              <a:gd name="adj" fmla="val 11111"/>
            </a:avLst>
          </a:prstGeom>
          <a:solidFill>
            <a:srgbClr val="2F5BFF"/>
          </a:solidFill>
          <a:ln w="12700">
            <a:solidFill>
              <a:srgbClr val="2F5BFF"/>
            </a:solidFill>
            <a:prstDash val="solid"/>
          </a:ln>
        </p:spPr>
      </p:sp>
      <p:sp>
        <p:nvSpPr>
          <p:cNvPr id="8" name="Text 5"/>
          <p:cNvSpPr txBox="1"/>
          <p:nvPr/>
        </p:nvSpPr>
        <p:spPr>
          <a:xfrm>
            <a:off x="1828800" y="1143000"/>
            <a:ext cx="2706624" cy="411480"/>
          </a:xfrm>
          <a:prstGeom prst="rect">
            <a:avLst/>
          </a:prstGeom>
          <a:noFill/>
          <a:ln/>
        </p:spPr>
        <p:txBody>
          <a:bodyPr wrap="square" lIns="0" tIns="0" rIns="0" bIns="0" rtlCol="0" anchor="ctr"/>
          <a:lstStyle/>
          <a:p>
            <a:pPr marL="0" indent="0" algn="ctr">
              <a:buNone/>
            </a:pPr>
            <a:r>
              <a:rPr lang="en-US" sz="1300" b="1" dirty="0">
                <a:solidFill>
                  <a:srgbClr val="FFFFFF"/>
                </a:solidFill>
              </a:rPr>
              <a:t>Days 6–15</a:t>
            </a:r>
            <a:endParaRPr lang="en-US" sz="1300" dirty="0"/>
          </a:p>
        </p:txBody>
      </p:sp>
      <p:sp>
        <p:nvSpPr>
          <p:cNvPr id="9" name="Shape 6"/>
          <p:cNvSpPr/>
          <p:nvPr/>
        </p:nvSpPr>
        <p:spPr>
          <a:xfrm>
            <a:off x="4572000" y="1143000"/>
            <a:ext cx="4078224" cy="411480"/>
          </a:xfrm>
          <a:prstGeom prst="roundRect">
            <a:avLst>
              <a:gd name="adj" fmla="val 11111"/>
            </a:avLst>
          </a:prstGeom>
          <a:solidFill>
            <a:srgbClr val="5B8CFF"/>
          </a:solidFill>
          <a:ln w="12700">
            <a:solidFill>
              <a:srgbClr val="5B8CFF"/>
            </a:solidFill>
            <a:prstDash val="solid"/>
          </a:ln>
        </p:spPr>
      </p:sp>
      <p:sp>
        <p:nvSpPr>
          <p:cNvPr id="10" name="Text 7"/>
          <p:cNvSpPr txBox="1"/>
          <p:nvPr/>
        </p:nvSpPr>
        <p:spPr>
          <a:xfrm>
            <a:off x="4572000" y="1143000"/>
            <a:ext cx="4078224" cy="411480"/>
          </a:xfrm>
          <a:prstGeom prst="rect">
            <a:avLst/>
          </a:prstGeom>
          <a:noFill/>
          <a:ln/>
        </p:spPr>
        <p:txBody>
          <a:bodyPr wrap="square" lIns="0" tIns="0" rIns="0" bIns="0" rtlCol="0" anchor="ctr"/>
          <a:lstStyle/>
          <a:p>
            <a:pPr marL="0" indent="0" algn="ctr">
              <a:buNone/>
            </a:pPr>
            <a:r>
              <a:rPr lang="en-US" sz="1300" b="1" dirty="0">
                <a:solidFill>
                  <a:srgbClr val="FFFFFF"/>
                </a:solidFill>
              </a:rPr>
              <a:t>Days 16–30</a:t>
            </a:r>
            <a:endParaRPr lang="en-US" sz="1300" dirty="0"/>
          </a:p>
        </p:txBody>
      </p:sp>
      <p:sp>
        <p:nvSpPr>
          <p:cNvPr id="11" name="Text 8"/>
          <p:cNvSpPr txBox="1"/>
          <p:nvPr/>
        </p:nvSpPr>
        <p:spPr>
          <a:xfrm>
            <a:off x="182880" y="1600200"/>
            <a:ext cx="548640" cy="182880"/>
          </a:xfrm>
          <a:prstGeom prst="rect">
            <a:avLst/>
          </a:prstGeom>
          <a:noFill/>
          <a:ln/>
        </p:spPr>
        <p:txBody>
          <a:bodyPr wrap="square" lIns="0" tIns="0" rIns="0" bIns="0" rtlCol="0" anchor="t"/>
          <a:lstStyle/>
          <a:p>
            <a:pPr marL="0" indent="0" algn="ctr">
              <a:buNone/>
            </a:pPr>
            <a:r>
              <a:rPr lang="en-US" sz="950" dirty="0">
                <a:solidFill>
                  <a:srgbClr val="6B7280"/>
                </a:solidFill>
              </a:rPr>
              <a:t>Day 1</a:t>
            </a:r>
            <a:endParaRPr lang="en-US" sz="950" dirty="0"/>
          </a:p>
        </p:txBody>
      </p:sp>
      <p:sp>
        <p:nvSpPr>
          <p:cNvPr id="12" name="Text 9"/>
          <p:cNvSpPr txBox="1"/>
          <p:nvPr/>
        </p:nvSpPr>
        <p:spPr>
          <a:xfrm>
            <a:off x="1554480" y="1600200"/>
            <a:ext cx="548640" cy="182880"/>
          </a:xfrm>
          <a:prstGeom prst="rect">
            <a:avLst/>
          </a:prstGeom>
          <a:noFill/>
          <a:ln/>
        </p:spPr>
        <p:txBody>
          <a:bodyPr wrap="square" lIns="0" tIns="0" rIns="0" bIns="0" rtlCol="0" anchor="t"/>
          <a:lstStyle/>
          <a:p>
            <a:pPr marL="0" indent="0" algn="ctr">
              <a:buNone/>
            </a:pPr>
            <a:r>
              <a:rPr lang="en-US" sz="950" dirty="0">
                <a:solidFill>
                  <a:srgbClr val="6B7280"/>
                </a:solidFill>
              </a:rPr>
              <a:t>Day 5</a:t>
            </a:r>
            <a:endParaRPr lang="en-US" sz="950" dirty="0"/>
          </a:p>
        </p:txBody>
      </p:sp>
      <p:sp>
        <p:nvSpPr>
          <p:cNvPr id="13" name="Text 10"/>
          <p:cNvSpPr txBox="1"/>
          <p:nvPr/>
        </p:nvSpPr>
        <p:spPr>
          <a:xfrm>
            <a:off x="4297680" y="1600200"/>
            <a:ext cx="548640" cy="182880"/>
          </a:xfrm>
          <a:prstGeom prst="rect">
            <a:avLst/>
          </a:prstGeom>
          <a:noFill/>
          <a:ln/>
        </p:spPr>
        <p:txBody>
          <a:bodyPr wrap="square" lIns="0" tIns="0" rIns="0" bIns="0" rtlCol="0" anchor="t"/>
          <a:lstStyle/>
          <a:p>
            <a:pPr marL="0" indent="0" algn="ctr">
              <a:buNone/>
            </a:pPr>
            <a:r>
              <a:rPr lang="en-US" sz="950" dirty="0">
                <a:solidFill>
                  <a:srgbClr val="6B7280"/>
                </a:solidFill>
              </a:rPr>
              <a:t>Day 15</a:t>
            </a:r>
            <a:endParaRPr lang="en-US" sz="950" dirty="0"/>
          </a:p>
        </p:txBody>
      </p:sp>
      <p:sp>
        <p:nvSpPr>
          <p:cNvPr id="14" name="Text 11"/>
          <p:cNvSpPr txBox="1"/>
          <p:nvPr/>
        </p:nvSpPr>
        <p:spPr>
          <a:xfrm>
            <a:off x="8412480" y="1600200"/>
            <a:ext cx="548640" cy="182880"/>
          </a:xfrm>
          <a:prstGeom prst="rect">
            <a:avLst/>
          </a:prstGeom>
          <a:noFill/>
          <a:ln/>
        </p:spPr>
        <p:txBody>
          <a:bodyPr wrap="square" lIns="0" tIns="0" rIns="0" bIns="0" rtlCol="0" anchor="t"/>
          <a:lstStyle/>
          <a:p>
            <a:pPr marL="0" indent="0" algn="ctr">
              <a:buNone/>
            </a:pPr>
            <a:r>
              <a:rPr lang="en-US" sz="950" dirty="0">
                <a:solidFill>
                  <a:srgbClr val="6B7280"/>
                </a:solidFill>
              </a:rPr>
              <a:t>Day 30</a:t>
            </a:r>
            <a:endParaRPr lang="en-US" sz="950" dirty="0"/>
          </a:p>
        </p:txBody>
      </p:sp>
      <p:sp>
        <p:nvSpPr>
          <p:cNvPr id="15" name="Shape 12"/>
          <p:cNvSpPr/>
          <p:nvPr/>
        </p:nvSpPr>
        <p:spPr>
          <a:xfrm>
            <a:off x="457200" y="1874520"/>
            <a:ext cx="2606040" cy="2651760"/>
          </a:xfrm>
          <a:prstGeom prst="roundRect">
            <a:avLst>
              <a:gd name="adj" fmla="val 2456"/>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6" name="Shape 13"/>
          <p:cNvSpPr/>
          <p:nvPr/>
        </p:nvSpPr>
        <p:spPr>
          <a:xfrm>
            <a:off x="457200" y="1874520"/>
            <a:ext cx="2606040" cy="54864"/>
          </a:xfrm>
          <a:prstGeom prst="rect">
            <a:avLst/>
          </a:prstGeom>
          <a:solidFill>
            <a:srgbClr val="0B1F4B"/>
          </a:solidFill>
          <a:ln w="12700">
            <a:solidFill>
              <a:srgbClr val="0B1F4B"/>
            </a:solidFill>
            <a:prstDash val="solid"/>
          </a:ln>
        </p:spPr>
      </p:sp>
      <p:sp>
        <p:nvSpPr>
          <p:cNvPr id="17" name="Text 14"/>
          <p:cNvSpPr txBox="1"/>
          <p:nvPr/>
        </p:nvSpPr>
        <p:spPr>
          <a:xfrm>
            <a:off x="640080" y="2011680"/>
            <a:ext cx="2286000" cy="320040"/>
          </a:xfrm>
          <a:prstGeom prst="rect">
            <a:avLst/>
          </a:prstGeom>
          <a:noFill/>
          <a:ln/>
        </p:spPr>
        <p:txBody>
          <a:bodyPr wrap="square" lIns="0" tIns="0" rIns="0" bIns="0" rtlCol="0" anchor="t"/>
          <a:lstStyle/>
          <a:p>
            <a:pPr marL="0" indent="0">
              <a:buNone/>
            </a:pPr>
            <a:r>
              <a:rPr lang="en-US" sz="1500" b="1" dirty="0">
                <a:solidFill>
                  <a:srgbClr val="0B1F4B"/>
                </a:solidFill>
              </a:rPr>
              <a:t>Fundamentals</a:t>
            </a:r>
            <a:endParaRPr lang="en-US" sz="1500" dirty="0"/>
          </a:p>
        </p:txBody>
      </p:sp>
      <p:sp>
        <p:nvSpPr>
          <p:cNvPr id="18" name="Text 15"/>
          <p:cNvSpPr txBox="1"/>
          <p:nvPr/>
        </p:nvSpPr>
        <p:spPr>
          <a:xfrm>
            <a:off x="640080" y="2395728"/>
            <a:ext cx="228600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rPr>
              <a:t>UI vs UX, design principles</a:t>
            </a:r>
            <a:endParaRPr lang="en-US" sz="1200" dirty="0"/>
          </a:p>
          <a:p>
            <a:pPr marL="342900" indent="-342900">
              <a:spcAft>
                <a:spcPts val="600"/>
              </a:spcAft>
              <a:buSzPct val="100000"/>
              <a:buChar char="•"/>
            </a:pPr>
            <a:r>
              <a:rPr lang="en-US" sz="1200" dirty="0">
                <a:solidFill>
                  <a:srgbClr val="1F2937"/>
                </a:solidFill>
              </a:rPr>
              <a:t>Colour theory, palette selection</a:t>
            </a:r>
            <a:endParaRPr lang="en-US" sz="1200" dirty="0"/>
          </a:p>
          <a:p>
            <a:pPr marL="342900" indent="-342900">
              <a:spcAft>
                <a:spcPts val="600"/>
              </a:spcAft>
              <a:buSzPct val="100000"/>
              <a:buChar char="•"/>
            </a:pPr>
            <a:r>
              <a:rPr lang="en-US" sz="1200" dirty="0">
                <a:solidFill>
                  <a:srgbClr val="1F2937"/>
                </a:solidFill>
              </a:rPr>
              <a:t>Typography, spacing, alignment</a:t>
            </a:r>
            <a:endParaRPr lang="en-US" sz="1200" dirty="0"/>
          </a:p>
          <a:p>
            <a:pPr marL="342900" indent="-342900">
              <a:spcAft>
                <a:spcPts val="600"/>
              </a:spcAft>
              <a:buSzPct val="100000"/>
              <a:buChar char="•"/>
            </a:pPr>
            <a:r>
              <a:rPr lang="en-US" sz="1200" dirty="0">
                <a:solidFill>
                  <a:srgbClr val="1F2937"/>
                </a:solidFill>
              </a:rPr>
              <a:t>Visual hierarchy</a:t>
            </a:r>
            <a:endParaRPr lang="en-US" sz="1200" dirty="0"/>
          </a:p>
        </p:txBody>
      </p:sp>
      <p:sp>
        <p:nvSpPr>
          <p:cNvPr id="19" name="Text 16"/>
          <p:cNvSpPr txBox="1"/>
          <p:nvPr/>
        </p:nvSpPr>
        <p:spPr>
          <a:xfrm>
            <a:off x="640080" y="4114800"/>
            <a:ext cx="2286000" cy="274320"/>
          </a:xfrm>
          <a:prstGeom prst="rect">
            <a:avLst/>
          </a:prstGeom>
          <a:noFill/>
          <a:ln/>
        </p:spPr>
        <p:txBody>
          <a:bodyPr wrap="square" lIns="0" tIns="0" rIns="0" bIns="0" rtlCol="0" anchor="t"/>
          <a:lstStyle/>
          <a:p>
            <a:pPr marL="0" indent="0">
              <a:buNone/>
            </a:pPr>
            <a:r>
              <a:rPr lang="en-US" sz="1150" b="1" dirty="0">
                <a:solidFill>
                  <a:srgbClr val="2F5BFF"/>
                </a:solidFill>
              </a:rPr>
              <a:t>Output: design vocabulary</a:t>
            </a:r>
            <a:endParaRPr lang="en-US" sz="1150" dirty="0"/>
          </a:p>
        </p:txBody>
      </p:sp>
      <p:sp>
        <p:nvSpPr>
          <p:cNvPr id="20" name="Shape 17"/>
          <p:cNvSpPr/>
          <p:nvPr/>
        </p:nvSpPr>
        <p:spPr>
          <a:xfrm>
            <a:off x="3246120" y="1874520"/>
            <a:ext cx="2606040" cy="2651760"/>
          </a:xfrm>
          <a:prstGeom prst="roundRect">
            <a:avLst>
              <a:gd name="adj" fmla="val 2456"/>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1" name="Shape 18"/>
          <p:cNvSpPr/>
          <p:nvPr/>
        </p:nvSpPr>
        <p:spPr>
          <a:xfrm>
            <a:off x="3246120" y="1874520"/>
            <a:ext cx="2606040" cy="54864"/>
          </a:xfrm>
          <a:prstGeom prst="rect">
            <a:avLst/>
          </a:prstGeom>
          <a:solidFill>
            <a:srgbClr val="2F5BFF"/>
          </a:solidFill>
          <a:ln w="12700">
            <a:solidFill>
              <a:srgbClr val="2F5BFF"/>
            </a:solidFill>
            <a:prstDash val="solid"/>
          </a:ln>
        </p:spPr>
      </p:sp>
      <p:sp>
        <p:nvSpPr>
          <p:cNvPr id="22" name="Text 19"/>
          <p:cNvSpPr txBox="1"/>
          <p:nvPr/>
        </p:nvSpPr>
        <p:spPr>
          <a:xfrm>
            <a:off x="3429000" y="2011680"/>
            <a:ext cx="2286000" cy="320040"/>
          </a:xfrm>
          <a:prstGeom prst="rect">
            <a:avLst/>
          </a:prstGeom>
          <a:noFill/>
          <a:ln/>
        </p:spPr>
        <p:txBody>
          <a:bodyPr wrap="square" lIns="0" tIns="0" rIns="0" bIns="0" rtlCol="0" anchor="t"/>
          <a:lstStyle/>
          <a:p>
            <a:pPr marL="0" indent="0">
              <a:buNone/>
            </a:pPr>
            <a:r>
              <a:rPr lang="en-US" sz="1500" b="1" dirty="0">
                <a:solidFill>
                  <a:srgbClr val="0B1F4B"/>
                </a:solidFill>
              </a:rPr>
              <a:t>Advanced UI/UX</a:t>
            </a:r>
            <a:endParaRPr lang="en-US" sz="1500" dirty="0"/>
          </a:p>
        </p:txBody>
      </p:sp>
      <p:sp>
        <p:nvSpPr>
          <p:cNvPr id="23" name="Text 20"/>
          <p:cNvSpPr txBox="1"/>
          <p:nvPr/>
        </p:nvSpPr>
        <p:spPr>
          <a:xfrm>
            <a:off x="3429000" y="2395728"/>
            <a:ext cx="228600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rPr>
              <a:t>User needs, personas, journeys</a:t>
            </a:r>
            <a:endParaRPr lang="en-US" sz="1200" dirty="0"/>
          </a:p>
          <a:p>
            <a:pPr marL="342900" indent="-342900">
              <a:spcAft>
                <a:spcPts val="600"/>
              </a:spcAft>
              <a:buSzPct val="100000"/>
              <a:buChar char="•"/>
            </a:pPr>
            <a:r>
              <a:rPr lang="en-US" sz="1200" dirty="0">
                <a:solidFill>
                  <a:srgbClr val="1F2937"/>
                </a:solidFill>
              </a:rPr>
              <a:t>User flows, info architecture</a:t>
            </a:r>
            <a:endParaRPr lang="en-US" sz="1200" dirty="0"/>
          </a:p>
          <a:p>
            <a:pPr marL="342900" indent="-342900">
              <a:spcAft>
                <a:spcPts val="600"/>
              </a:spcAft>
              <a:buSzPct val="100000"/>
              <a:buChar char="•"/>
            </a:pPr>
            <a:r>
              <a:rPr lang="en-US" sz="1200" dirty="0">
                <a:solidFill>
                  <a:srgbClr val="1F2937"/>
                </a:solidFill>
              </a:rPr>
              <a:t>Low-fi wireframes, hi-fi mockups</a:t>
            </a:r>
            <a:endParaRPr lang="en-US" sz="1200" dirty="0"/>
          </a:p>
          <a:p>
            <a:pPr marL="342900" indent="-342900">
              <a:spcAft>
                <a:spcPts val="600"/>
              </a:spcAft>
              <a:buSzPct val="100000"/>
              <a:buChar char="•"/>
            </a:pPr>
            <a:r>
              <a:rPr lang="en-US" sz="1200" dirty="0">
                <a:solidFill>
                  <a:srgbClr val="1F2937"/>
                </a:solidFill>
              </a:rPr>
              <a:t>Figma frames, components, prototyping</a:t>
            </a:r>
            <a:endParaRPr lang="en-US" sz="1200" dirty="0"/>
          </a:p>
        </p:txBody>
      </p:sp>
      <p:sp>
        <p:nvSpPr>
          <p:cNvPr id="24" name="Text 21"/>
          <p:cNvSpPr txBox="1"/>
          <p:nvPr/>
        </p:nvSpPr>
        <p:spPr>
          <a:xfrm>
            <a:off x="3429000" y="4114800"/>
            <a:ext cx="2286000" cy="274320"/>
          </a:xfrm>
          <a:prstGeom prst="rect">
            <a:avLst/>
          </a:prstGeom>
          <a:noFill/>
          <a:ln/>
        </p:spPr>
        <p:txBody>
          <a:bodyPr wrap="square" lIns="0" tIns="0" rIns="0" bIns="0" rtlCol="0" anchor="t"/>
          <a:lstStyle/>
          <a:p>
            <a:pPr marL="0" indent="0">
              <a:buNone/>
            </a:pPr>
            <a:r>
              <a:rPr lang="en-US" sz="1150" b="1" dirty="0">
                <a:solidFill>
                  <a:srgbClr val="2F5BFF"/>
                </a:solidFill>
              </a:rPr>
              <a:t>Output: methods and tools</a:t>
            </a:r>
            <a:endParaRPr lang="en-US" sz="1150" dirty="0"/>
          </a:p>
        </p:txBody>
      </p:sp>
      <p:sp>
        <p:nvSpPr>
          <p:cNvPr id="25" name="Shape 22"/>
          <p:cNvSpPr/>
          <p:nvPr/>
        </p:nvSpPr>
        <p:spPr>
          <a:xfrm>
            <a:off x="6035040" y="1874520"/>
            <a:ext cx="2606040" cy="2651760"/>
          </a:xfrm>
          <a:prstGeom prst="roundRect">
            <a:avLst>
              <a:gd name="adj" fmla="val 2456"/>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6" name="Shape 23"/>
          <p:cNvSpPr/>
          <p:nvPr/>
        </p:nvSpPr>
        <p:spPr>
          <a:xfrm>
            <a:off x="6035040" y="1874520"/>
            <a:ext cx="2606040" cy="54864"/>
          </a:xfrm>
          <a:prstGeom prst="rect">
            <a:avLst/>
          </a:prstGeom>
          <a:solidFill>
            <a:srgbClr val="5B8CFF"/>
          </a:solidFill>
          <a:ln w="12700">
            <a:solidFill>
              <a:srgbClr val="5B8CFF"/>
            </a:solidFill>
            <a:prstDash val="solid"/>
          </a:ln>
        </p:spPr>
      </p:sp>
      <p:sp>
        <p:nvSpPr>
          <p:cNvPr id="27" name="Text 24"/>
          <p:cNvSpPr txBox="1"/>
          <p:nvPr/>
        </p:nvSpPr>
        <p:spPr>
          <a:xfrm>
            <a:off x="6217920" y="2011680"/>
            <a:ext cx="2286000" cy="320040"/>
          </a:xfrm>
          <a:prstGeom prst="rect">
            <a:avLst/>
          </a:prstGeom>
          <a:noFill/>
          <a:ln/>
        </p:spPr>
        <p:txBody>
          <a:bodyPr wrap="square" lIns="0" tIns="0" rIns="0" bIns="0" rtlCol="0" anchor="t"/>
          <a:lstStyle/>
          <a:p>
            <a:pPr marL="0" indent="0">
              <a:buNone/>
            </a:pPr>
            <a:r>
              <a:rPr lang="en-US" sz="1500" b="1" dirty="0">
                <a:solidFill>
                  <a:srgbClr val="0B1F4B"/>
                </a:solidFill>
              </a:rPr>
              <a:t>ShopEase project</a:t>
            </a:r>
            <a:endParaRPr lang="en-US" sz="1500" dirty="0"/>
          </a:p>
        </p:txBody>
      </p:sp>
      <p:sp>
        <p:nvSpPr>
          <p:cNvPr id="28" name="Text 25"/>
          <p:cNvSpPr txBox="1"/>
          <p:nvPr/>
        </p:nvSpPr>
        <p:spPr>
          <a:xfrm>
            <a:off x="6217920" y="2395728"/>
            <a:ext cx="228600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rPr>
              <a:t>Scope, users, site structure</a:t>
            </a:r>
            <a:endParaRPr lang="en-US" sz="1200" dirty="0"/>
          </a:p>
          <a:p>
            <a:pPr marL="342900" indent="-342900">
              <a:spcAft>
                <a:spcPts val="600"/>
              </a:spcAft>
              <a:buSzPct val="100000"/>
              <a:buChar char="•"/>
            </a:pPr>
            <a:r>
              <a:rPr lang="en-US" sz="1200" dirty="0">
                <a:solidFill>
                  <a:srgbClr val="1F2937"/>
                </a:solidFill>
              </a:rPr>
              <a:t>Home, listing, detail, cart, checkout</a:t>
            </a:r>
            <a:endParaRPr lang="en-US" sz="1200" dirty="0"/>
          </a:p>
          <a:p>
            <a:pPr marL="342900" indent="-342900">
              <a:spcAft>
                <a:spcPts val="600"/>
              </a:spcAft>
              <a:buSzPct val="100000"/>
              <a:buChar char="•"/>
            </a:pPr>
            <a:r>
              <a:rPr lang="en-US" sz="1200" dirty="0">
                <a:solidFill>
                  <a:srgbClr val="1F2937"/>
                </a:solidFill>
              </a:rPr>
              <a:t>Visual styles, desktop and mobile</a:t>
            </a:r>
            <a:endParaRPr lang="en-US" sz="1200" dirty="0"/>
          </a:p>
          <a:p>
            <a:pPr marL="342900" indent="-342900">
              <a:spcAft>
                <a:spcPts val="600"/>
              </a:spcAft>
              <a:buSzPct val="100000"/>
              <a:buChar char="•"/>
            </a:pPr>
            <a:r>
              <a:rPr lang="en-US" sz="1200" dirty="0">
                <a:solidFill>
                  <a:srgbClr val="1F2937"/>
                </a:solidFill>
              </a:rPr>
              <a:t>Prototype plan, checklist, documentation</a:t>
            </a:r>
            <a:endParaRPr lang="en-US" sz="1200" dirty="0"/>
          </a:p>
        </p:txBody>
      </p:sp>
      <p:sp>
        <p:nvSpPr>
          <p:cNvPr id="29" name="Text 26"/>
          <p:cNvSpPr txBox="1"/>
          <p:nvPr/>
        </p:nvSpPr>
        <p:spPr>
          <a:xfrm>
            <a:off x="6217920" y="4114800"/>
            <a:ext cx="2286000" cy="274320"/>
          </a:xfrm>
          <a:prstGeom prst="rect">
            <a:avLst/>
          </a:prstGeom>
          <a:noFill/>
          <a:ln/>
        </p:spPr>
        <p:txBody>
          <a:bodyPr wrap="square" lIns="0" tIns="0" rIns="0" bIns="0" rtlCol="0" anchor="t"/>
          <a:lstStyle/>
          <a:p>
            <a:pPr marL="0" indent="0">
              <a:buNone/>
            </a:pPr>
            <a:r>
              <a:rPr lang="en-US" sz="1150" b="1" dirty="0">
                <a:solidFill>
                  <a:srgbClr val="2F5BFF"/>
                </a:solidFill>
              </a:rPr>
              <a:t>Output: full design report</a:t>
            </a:r>
            <a:endParaRPr lang="en-US" sz="115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hape 0"/>
          <p:cNvSpPr/>
          <p:nvPr/>
        </p:nvSpPr>
        <p:spPr>
          <a:xfrm>
            <a:off x="0" y="0"/>
            <a:ext cx="109728" cy="5143500"/>
          </a:xfrm>
          <a:prstGeom prst="rect">
            <a:avLst/>
          </a:prstGeom>
          <a:solidFill>
            <a:srgbClr val="2F5BFF"/>
          </a:solidFill>
          <a:ln w="12700">
            <a:solidFill>
              <a:srgbClr val="2F5BFF"/>
            </a:solidFill>
            <a:prstDash val="solid"/>
          </a:ln>
        </p:spPr>
      </p:sp>
      <p:sp>
        <p:nvSpPr>
          <p:cNvPr id="4"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100" b="1" kern="0" spc="200" dirty="0">
                <a:solidFill>
                  <a:srgbClr val="9DB4F5"/>
                </a:solidFill>
              </a:rPr>
              <a:t>PROJECT CONCEPT</a:t>
            </a:r>
            <a:endParaRPr lang="en-US" sz="1100" dirty="0"/>
          </a:p>
        </p:txBody>
      </p:sp>
      <p:sp>
        <p:nvSpPr>
          <p:cNvPr id="5" name="Text 2"/>
          <p:cNvSpPr txBox="1"/>
          <p:nvPr/>
        </p:nvSpPr>
        <p:spPr>
          <a:xfrm>
            <a:off x="548640" y="822960"/>
            <a:ext cx="3840480" cy="822960"/>
          </a:xfrm>
          <a:prstGeom prst="rect">
            <a:avLst/>
          </a:prstGeom>
          <a:noFill/>
          <a:ln/>
        </p:spPr>
        <p:txBody>
          <a:bodyPr wrap="square" lIns="0" tIns="0" rIns="0" bIns="0" rtlCol="0" anchor="t"/>
          <a:lstStyle/>
          <a:p>
            <a:pPr marL="0" indent="0">
              <a:buNone/>
            </a:pPr>
            <a:r>
              <a:rPr lang="en-US" sz="4400" b="1" dirty="0">
                <a:solidFill>
                  <a:srgbClr val="FFFFFF"/>
                </a:solidFill>
                <a:latin typeface="Georgia" pitchFamily="34" charset="0"/>
                <a:ea typeface="Georgia" pitchFamily="34" charset="-122"/>
                <a:cs typeface="Georgia" pitchFamily="34" charset="-120"/>
              </a:rPr>
              <a:t>ShopEase</a:t>
            </a:r>
            <a:endParaRPr lang="en-US" sz="4400" dirty="0"/>
          </a:p>
        </p:txBody>
      </p:sp>
      <p:sp>
        <p:nvSpPr>
          <p:cNvPr id="6" name="Text 3"/>
          <p:cNvSpPr txBox="1"/>
          <p:nvPr/>
        </p:nvSpPr>
        <p:spPr>
          <a:xfrm>
            <a:off x="548640" y="1783080"/>
            <a:ext cx="3657600" cy="1005840"/>
          </a:xfrm>
          <a:prstGeom prst="rect">
            <a:avLst/>
          </a:prstGeom>
          <a:noFill/>
          <a:ln/>
        </p:spPr>
        <p:txBody>
          <a:bodyPr wrap="square" lIns="0" tIns="0" rIns="0" bIns="0" rtlCol="0" anchor="t"/>
          <a:lstStyle/>
          <a:p>
            <a:pPr marL="0" indent="0">
              <a:buNone/>
            </a:pPr>
            <a:r>
              <a:rPr lang="en-US" sz="1500" dirty="0">
                <a:solidFill>
                  <a:srgbClr val="C7D2FE"/>
                </a:solidFill>
              </a:rPr>
              <a:t>A fictional e-commerce store used to plan an intuitive, organised and easy-to-navigate shopping interface.</a:t>
            </a:r>
            <a:endParaRPr lang="en-US" sz="1500" dirty="0"/>
          </a:p>
        </p:txBody>
      </p:sp>
      <p:sp>
        <p:nvSpPr>
          <p:cNvPr id="7" name="Shape 4"/>
          <p:cNvSpPr/>
          <p:nvPr/>
        </p:nvSpPr>
        <p:spPr>
          <a:xfrm>
            <a:off x="548640" y="3017520"/>
            <a:ext cx="2194560" cy="256032"/>
          </a:xfrm>
          <a:prstGeom prst="roundRect">
            <a:avLst>
              <a:gd name="adj" fmla="val 50000"/>
            </a:avLst>
          </a:prstGeom>
          <a:solidFill>
            <a:srgbClr val="1B2C66"/>
          </a:solidFill>
          <a:ln w="12700">
            <a:solidFill>
              <a:srgbClr val="1B2C66"/>
            </a:solidFill>
            <a:prstDash val="solid"/>
          </a:ln>
        </p:spPr>
      </p:sp>
      <p:sp>
        <p:nvSpPr>
          <p:cNvPr id="8" name="Text 5"/>
          <p:cNvSpPr txBox="1"/>
          <p:nvPr/>
        </p:nvSpPr>
        <p:spPr>
          <a:xfrm>
            <a:off x="548640" y="3017520"/>
            <a:ext cx="2194560" cy="256032"/>
          </a:xfrm>
          <a:prstGeom prst="rect">
            <a:avLst/>
          </a:prstGeom>
          <a:noFill/>
          <a:ln/>
        </p:spPr>
        <p:txBody>
          <a:bodyPr wrap="square" lIns="0" tIns="0" rIns="0" bIns="0" rtlCol="0" anchor="ctr"/>
          <a:lstStyle/>
          <a:p>
            <a:pPr marL="0" indent="0" algn="ctr">
              <a:buNone/>
            </a:pPr>
            <a:r>
              <a:rPr lang="en-US" sz="1050" b="1" dirty="0">
                <a:solidFill>
                  <a:srgbClr val="BFD0FF"/>
                </a:solidFill>
              </a:rPr>
              <a:t>Not a real company or client</a:t>
            </a:r>
            <a:endParaRPr lang="en-US" sz="1050" dirty="0"/>
          </a:p>
        </p:txBody>
      </p:sp>
      <p:sp>
        <p:nvSpPr>
          <p:cNvPr id="9" name="Text 6"/>
          <p:cNvSpPr txBox="1"/>
          <p:nvPr/>
        </p:nvSpPr>
        <p:spPr>
          <a:xfrm>
            <a:off x="548640" y="3474720"/>
            <a:ext cx="3657600" cy="457200"/>
          </a:xfrm>
          <a:prstGeom prst="rect">
            <a:avLst/>
          </a:prstGeom>
          <a:noFill/>
          <a:ln/>
        </p:spPr>
        <p:txBody>
          <a:bodyPr wrap="square" lIns="0" tIns="0" rIns="0" bIns="0" rtlCol="0" anchor="t"/>
          <a:lstStyle/>
          <a:p>
            <a:pPr marL="0" indent="0">
              <a:buNone/>
            </a:pPr>
            <a:r>
              <a:rPr lang="en-US" sz="1150" dirty="0">
                <a:solidFill>
                  <a:srgbClr val="8FA3DC"/>
                </a:solidFill>
              </a:rPr>
              <a:t>Design project only. No website was coded or deployed.</a:t>
            </a:r>
            <a:endParaRPr lang="en-US" sz="1150" dirty="0"/>
          </a:p>
        </p:txBody>
      </p:sp>
      <p:sp>
        <p:nvSpPr>
          <p:cNvPr id="10" name="Text 7"/>
          <p:cNvSpPr txBox="1"/>
          <p:nvPr/>
        </p:nvSpPr>
        <p:spPr>
          <a:xfrm>
            <a:off x="4754880" y="685800"/>
            <a:ext cx="3657600" cy="228600"/>
          </a:xfrm>
          <a:prstGeom prst="rect">
            <a:avLst/>
          </a:prstGeom>
          <a:noFill/>
          <a:ln/>
        </p:spPr>
        <p:txBody>
          <a:bodyPr wrap="square" lIns="0" tIns="0" rIns="0" bIns="0" rtlCol="0" anchor="t"/>
          <a:lstStyle/>
          <a:p>
            <a:pPr marL="0" indent="0">
              <a:buNone/>
            </a:pPr>
            <a:r>
              <a:rPr lang="en-US" sz="1100" b="1" kern="0" spc="200" dirty="0">
                <a:solidFill>
                  <a:srgbClr val="9DB4F5"/>
                </a:solidFill>
              </a:rPr>
              <a:t>DESIGN OPPORTUNITY</a:t>
            </a:r>
            <a:endParaRPr lang="en-US" sz="1100" dirty="0"/>
          </a:p>
        </p:txBody>
      </p:sp>
      <p:sp>
        <p:nvSpPr>
          <p:cNvPr id="11" name="Shape 8"/>
          <p:cNvSpPr/>
          <p:nvPr/>
        </p:nvSpPr>
        <p:spPr>
          <a:xfrm>
            <a:off x="4754880" y="1097280"/>
            <a:ext cx="3931920" cy="1051560"/>
          </a:xfrm>
          <a:prstGeom prst="roundRect">
            <a:avLst>
              <a:gd name="adj" fmla="val 6087"/>
            </a:avLst>
          </a:prstGeom>
          <a:solidFill>
            <a:srgbClr val="122462"/>
          </a:solidFill>
          <a:ln w="9525">
            <a:solidFill>
              <a:srgbClr val="2A3F85"/>
            </a:solidFill>
            <a:prstDash val="solid"/>
          </a:ln>
        </p:spPr>
      </p:sp>
      <p:sp>
        <p:nvSpPr>
          <p:cNvPr id="12" name="Shape 9"/>
          <p:cNvSpPr/>
          <p:nvPr/>
        </p:nvSpPr>
        <p:spPr>
          <a:xfrm>
            <a:off x="4937760" y="1399032"/>
            <a:ext cx="457200" cy="457200"/>
          </a:xfrm>
          <a:prstGeom prst="roundRect">
            <a:avLst>
              <a:gd name="adj" fmla="val 22000"/>
            </a:avLst>
          </a:prstGeom>
          <a:solidFill>
            <a:srgbClr val="2F5BFF"/>
          </a:solidFill>
          <a:ln w="12700">
            <a:solidFill>
              <a:srgbClr val="2F5BFF"/>
            </a:solidFill>
            <a:prstDash val="solid"/>
          </a:ln>
        </p:spPr>
      </p:sp>
      <p:pic>
        <p:nvPicPr>
          <p:cNvPr id="13" name="Image 0" descr="preencoded.png"/>
          <p:cNvPicPr>
            <a:picLocks noChangeAspect="1"/>
          </p:cNvPicPr>
          <p:nvPr/>
        </p:nvPicPr>
        <p:blipFill>
          <a:blip r:embed="rId3"/>
          <a:stretch>
            <a:fillRect/>
          </a:stretch>
        </p:blipFill>
        <p:spPr>
          <a:xfrm>
            <a:off x="5047488" y="1508760"/>
            <a:ext cx="237744" cy="237744"/>
          </a:xfrm>
          <a:prstGeom prst="rect">
            <a:avLst/>
          </a:prstGeom>
        </p:spPr>
      </p:pic>
      <p:sp>
        <p:nvSpPr>
          <p:cNvPr id="14" name="Text 10"/>
          <p:cNvSpPr txBox="1"/>
          <p:nvPr/>
        </p:nvSpPr>
        <p:spPr>
          <a:xfrm>
            <a:off x="5577840" y="1261872"/>
            <a:ext cx="2926080" cy="274320"/>
          </a:xfrm>
          <a:prstGeom prst="rect">
            <a:avLst/>
          </a:prstGeom>
          <a:noFill/>
          <a:ln/>
        </p:spPr>
        <p:txBody>
          <a:bodyPr wrap="square" lIns="0" tIns="0" rIns="0" bIns="0" rtlCol="0" anchor="t"/>
          <a:lstStyle/>
          <a:p>
            <a:pPr marL="0" indent="0">
              <a:buNone/>
            </a:pPr>
            <a:r>
              <a:rPr lang="en-US" sz="1500" b="1" dirty="0">
                <a:solidFill>
                  <a:srgbClr val="FFFFFF"/>
                </a:solidFill>
              </a:rPr>
              <a:t>Intuitive</a:t>
            </a:r>
            <a:endParaRPr lang="en-US" sz="1500" dirty="0"/>
          </a:p>
        </p:txBody>
      </p:sp>
      <p:sp>
        <p:nvSpPr>
          <p:cNvPr id="15" name="Text 11"/>
          <p:cNvSpPr txBox="1"/>
          <p:nvPr/>
        </p:nvSpPr>
        <p:spPr>
          <a:xfrm>
            <a:off x="5577840" y="1554480"/>
            <a:ext cx="2971800" cy="548640"/>
          </a:xfrm>
          <a:prstGeom prst="rect">
            <a:avLst/>
          </a:prstGeom>
          <a:noFill/>
          <a:ln/>
        </p:spPr>
        <p:txBody>
          <a:bodyPr wrap="square" lIns="0" tIns="0" rIns="0" bIns="0" rtlCol="0" anchor="t"/>
          <a:lstStyle/>
          <a:p>
            <a:pPr marL="0" indent="0">
              <a:buNone/>
            </a:pPr>
            <a:r>
              <a:rPr lang="en-US" sz="1200" dirty="0">
                <a:solidFill>
                  <a:srgbClr val="B8C5F0"/>
                </a:solidFill>
              </a:rPr>
              <a:t>Shoppers always know where they are and what to do next</a:t>
            </a:r>
            <a:endParaRPr lang="en-US" sz="1200" dirty="0"/>
          </a:p>
        </p:txBody>
      </p:sp>
      <p:sp>
        <p:nvSpPr>
          <p:cNvPr id="16" name="Shape 12"/>
          <p:cNvSpPr/>
          <p:nvPr/>
        </p:nvSpPr>
        <p:spPr>
          <a:xfrm>
            <a:off x="4754880" y="2286000"/>
            <a:ext cx="3931920" cy="1051560"/>
          </a:xfrm>
          <a:prstGeom prst="roundRect">
            <a:avLst>
              <a:gd name="adj" fmla="val 6087"/>
            </a:avLst>
          </a:prstGeom>
          <a:solidFill>
            <a:srgbClr val="122462"/>
          </a:solidFill>
          <a:ln w="9525">
            <a:solidFill>
              <a:srgbClr val="2A3F85"/>
            </a:solidFill>
            <a:prstDash val="solid"/>
          </a:ln>
        </p:spPr>
      </p:sp>
      <p:sp>
        <p:nvSpPr>
          <p:cNvPr id="17" name="Shape 13"/>
          <p:cNvSpPr/>
          <p:nvPr/>
        </p:nvSpPr>
        <p:spPr>
          <a:xfrm>
            <a:off x="4937760" y="2587752"/>
            <a:ext cx="457200" cy="457200"/>
          </a:xfrm>
          <a:prstGeom prst="roundRect">
            <a:avLst>
              <a:gd name="adj" fmla="val 22000"/>
            </a:avLst>
          </a:prstGeom>
          <a:solidFill>
            <a:srgbClr val="2F5BFF"/>
          </a:solidFill>
          <a:ln w="12700">
            <a:solidFill>
              <a:srgbClr val="2F5BFF"/>
            </a:solidFill>
            <a:prstDash val="solid"/>
          </a:ln>
        </p:spPr>
      </p:sp>
      <p:pic>
        <p:nvPicPr>
          <p:cNvPr id="18" name="Image 1" descr="preencoded.png"/>
          <p:cNvPicPr>
            <a:picLocks noChangeAspect="1"/>
          </p:cNvPicPr>
          <p:nvPr/>
        </p:nvPicPr>
        <p:blipFill>
          <a:blip r:embed="rId4"/>
          <a:stretch>
            <a:fillRect/>
          </a:stretch>
        </p:blipFill>
        <p:spPr>
          <a:xfrm>
            <a:off x="5047488" y="2697480"/>
            <a:ext cx="237744" cy="237744"/>
          </a:xfrm>
          <a:prstGeom prst="rect">
            <a:avLst/>
          </a:prstGeom>
        </p:spPr>
      </p:pic>
      <p:sp>
        <p:nvSpPr>
          <p:cNvPr id="19" name="Text 14"/>
          <p:cNvSpPr txBox="1"/>
          <p:nvPr/>
        </p:nvSpPr>
        <p:spPr>
          <a:xfrm>
            <a:off x="5577840" y="2450592"/>
            <a:ext cx="2926080" cy="274320"/>
          </a:xfrm>
          <a:prstGeom prst="rect">
            <a:avLst/>
          </a:prstGeom>
          <a:noFill/>
          <a:ln/>
        </p:spPr>
        <p:txBody>
          <a:bodyPr wrap="square" lIns="0" tIns="0" rIns="0" bIns="0" rtlCol="0" anchor="t"/>
          <a:lstStyle/>
          <a:p>
            <a:pPr marL="0" indent="0">
              <a:buNone/>
            </a:pPr>
            <a:r>
              <a:rPr lang="en-US" sz="1500" b="1" dirty="0">
                <a:solidFill>
                  <a:srgbClr val="FFFFFF"/>
                </a:solidFill>
              </a:rPr>
              <a:t>Organised</a:t>
            </a:r>
            <a:endParaRPr lang="en-US" sz="1500" dirty="0"/>
          </a:p>
        </p:txBody>
      </p:sp>
      <p:sp>
        <p:nvSpPr>
          <p:cNvPr id="20" name="Text 15"/>
          <p:cNvSpPr txBox="1"/>
          <p:nvPr/>
        </p:nvSpPr>
        <p:spPr>
          <a:xfrm>
            <a:off x="5577840" y="2743200"/>
            <a:ext cx="2971800" cy="548640"/>
          </a:xfrm>
          <a:prstGeom prst="rect">
            <a:avLst/>
          </a:prstGeom>
          <a:noFill/>
          <a:ln/>
        </p:spPr>
        <p:txBody>
          <a:bodyPr wrap="square" lIns="0" tIns="0" rIns="0" bIns="0" rtlCol="0" anchor="t"/>
          <a:lstStyle/>
          <a:p>
            <a:pPr marL="0" indent="0">
              <a:buNone/>
            </a:pPr>
            <a:r>
              <a:rPr lang="en-US" sz="1200" dirty="0">
                <a:solidFill>
                  <a:srgbClr val="B8C5F0"/>
                </a:solidFill>
              </a:rPr>
              <a:t>Categories and product details grouped clearly</a:t>
            </a:r>
            <a:endParaRPr lang="en-US" sz="1200" dirty="0"/>
          </a:p>
        </p:txBody>
      </p:sp>
      <p:sp>
        <p:nvSpPr>
          <p:cNvPr id="21" name="Shape 16"/>
          <p:cNvSpPr/>
          <p:nvPr/>
        </p:nvSpPr>
        <p:spPr>
          <a:xfrm>
            <a:off x="4754880" y="3474720"/>
            <a:ext cx="3931920" cy="1051560"/>
          </a:xfrm>
          <a:prstGeom prst="roundRect">
            <a:avLst>
              <a:gd name="adj" fmla="val 6087"/>
            </a:avLst>
          </a:prstGeom>
          <a:solidFill>
            <a:srgbClr val="122462"/>
          </a:solidFill>
          <a:ln w="9525">
            <a:solidFill>
              <a:srgbClr val="2A3F85"/>
            </a:solidFill>
            <a:prstDash val="solid"/>
          </a:ln>
        </p:spPr>
      </p:sp>
      <p:sp>
        <p:nvSpPr>
          <p:cNvPr id="22" name="Shape 17"/>
          <p:cNvSpPr/>
          <p:nvPr/>
        </p:nvSpPr>
        <p:spPr>
          <a:xfrm>
            <a:off x="4937760" y="3776472"/>
            <a:ext cx="457200" cy="457200"/>
          </a:xfrm>
          <a:prstGeom prst="roundRect">
            <a:avLst>
              <a:gd name="adj" fmla="val 22000"/>
            </a:avLst>
          </a:prstGeom>
          <a:solidFill>
            <a:srgbClr val="2F5BFF"/>
          </a:solidFill>
          <a:ln w="12700">
            <a:solidFill>
              <a:srgbClr val="2F5BFF"/>
            </a:solidFill>
            <a:prstDash val="solid"/>
          </a:ln>
        </p:spPr>
      </p:sp>
      <p:pic>
        <p:nvPicPr>
          <p:cNvPr id="23" name="Image 2" descr="preencoded.png"/>
          <p:cNvPicPr>
            <a:picLocks noChangeAspect="1"/>
          </p:cNvPicPr>
          <p:nvPr/>
        </p:nvPicPr>
        <p:blipFill>
          <a:blip r:embed="rId5"/>
          <a:stretch>
            <a:fillRect/>
          </a:stretch>
        </p:blipFill>
        <p:spPr>
          <a:xfrm>
            <a:off x="5047488" y="3886200"/>
            <a:ext cx="237744" cy="237744"/>
          </a:xfrm>
          <a:prstGeom prst="rect">
            <a:avLst/>
          </a:prstGeom>
        </p:spPr>
      </p:pic>
      <p:sp>
        <p:nvSpPr>
          <p:cNvPr id="24" name="Text 18"/>
          <p:cNvSpPr txBox="1"/>
          <p:nvPr/>
        </p:nvSpPr>
        <p:spPr>
          <a:xfrm>
            <a:off x="5577840" y="3639312"/>
            <a:ext cx="2926080" cy="274320"/>
          </a:xfrm>
          <a:prstGeom prst="rect">
            <a:avLst/>
          </a:prstGeom>
          <a:noFill/>
          <a:ln/>
        </p:spPr>
        <p:txBody>
          <a:bodyPr wrap="square" lIns="0" tIns="0" rIns="0" bIns="0" rtlCol="0" anchor="t"/>
          <a:lstStyle/>
          <a:p>
            <a:pPr marL="0" indent="0">
              <a:buNone/>
            </a:pPr>
            <a:r>
              <a:rPr lang="en-US" sz="1500" b="1" dirty="0">
                <a:solidFill>
                  <a:srgbClr val="FFFFFF"/>
                </a:solidFill>
              </a:rPr>
              <a:t>Simple journey</a:t>
            </a:r>
            <a:endParaRPr lang="en-US" sz="1500" dirty="0"/>
          </a:p>
        </p:txBody>
      </p:sp>
      <p:sp>
        <p:nvSpPr>
          <p:cNvPr id="25" name="Text 19"/>
          <p:cNvSpPr txBox="1"/>
          <p:nvPr/>
        </p:nvSpPr>
        <p:spPr>
          <a:xfrm>
            <a:off x="5577840" y="3931920"/>
            <a:ext cx="2971800" cy="548640"/>
          </a:xfrm>
          <a:prstGeom prst="rect">
            <a:avLst/>
          </a:prstGeom>
          <a:noFill/>
          <a:ln/>
        </p:spPr>
        <p:txBody>
          <a:bodyPr wrap="square" lIns="0" tIns="0" rIns="0" bIns="0" rtlCol="0" anchor="t"/>
          <a:lstStyle/>
          <a:p>
            <a:pPr marL="0" indent="0">
              <a:buNone/>
            </a:pPr>
            <a:r>
              <a:rPr lang="en-US" sz="1200" dirty="0">
                <a:solidFill>
                  <a:srgbClr val="B8C5F0"/>
                </a:solidFill>
              </a:rPr>
              <a:t>From browsing to checkout in a few clear steps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05 · PROBLEM</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Problem Statement</a:t>
            </a:r>
            <a:endParaRPr lang="en-US" sz="2500" dirty="0"/>
          </a:p>
        </p:txBody>
      </p:sp>
      <p:sp>
        <p:nvSpPr>
          <p:cNvPr id="5" name="Shape 2"/>
          <p:cNvSpPr/>
          <p:nvPr/>
        </p:nvSpPr>
        <p:spPr>
          <a:xfrm>
            <a:off x="457200" y="1143000"/>
            <a:ext cx="2606040" cy="1691640"/>
          </a:xfrm>
          <a:prstGeom prst="roundRect">
            <a:avLst>
              <a:gd name="adj" fmla="val 3784"/>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6" name="Shape 3"/>
          <p:cNvSpPr/>
          <p:nvPr/>
        </p:nvSpPr>
        <p:spPr>
          <a:xfrm>
            <a:off x="640080" y="1298448"/>
            <a:ext cx="457200" cy="457200"/>
          </a:xfrm>
          <a:prstGeom prst="roundRect">
            <a:avLst>
              <a:gd name="adj" fmla="val 22000"/>
            </a:avLst>
          </a:prstGeom>
          <a:solidFill>
            <a:srgbClr val="BE185D"/>
          </a:solidFill>
          <a:ln w="12700">
            <a:solidFill>
              <a:srgbClr val="BE185D"/>
            </a:solidFill>
            <a:prstDash val="solid"/>
          </a:ln>
        </p:spPr>
      </p:sp>
      <p:pic>
        <p:nvPicPr>
          <p:cNvPr id="7" name="Image 0" descr="preencoded.png"/>
          <p:cNvPicPr>
            <a:picLocks noChangeAspect="1"/>
          </p:cNvPicPr>
          <p:nvPr/>
        </p:nvPicPr>
        <p:blipFill>
          <a:blip r:embed="rId3"/>
          <a:stretch>
            <a:fillRect/>
          </a:stretch>
        </p:blipFill>
        <p:spPr>
          <a:xfrm>
            <a:off x="749808" y="1408176"/>
            <a:ext cx="237744" cy="237744"/>
          </a:xfrm>
          <a:prstGeom prst="rect">
            <a:avLst/>
          </a:prstGeom>
        </p:spPr>
      </p:pic>
      <p:sp>
        <p:nvSpPr>
          <p:cNvPr id="8" name="Text 4"/>
          <p:cNvSpPr txBox="1"/>
          <p:nvPr/>
        </p:nvSpPr>
        <p:spPr>
          <a:xfrm>
            <a:off x="1234440" y="1298448"/>
            <a:ext cx="1737360" cy="457200"/>
          </a:xfrm>
          <a:prstGeom prst="rect">
            <a:avLst/>
          </a:prstGeom>
          <a:noFill/>
          <a:ln/>
        </p:spPr>
        <p:txBody>
          <a:bodyPr wrap="square" lIns="0" tIns="0" rIns="0" bIns="0" rtlCol="0" anchor="ctr"/>
          <a:lstStyle/>
          <a:p>
            <a:pPr marL="0" indent="0">
              <a:buNone/>
            </a:pPr>
            <a:r>
              <a:rPr lang="en-US" sz="1350" b="1" dirty="0">
                <a:solidFill>
                  <a:srgbClr val="0B1F4B"/>
                </a:solidFill>
              </a:rPr>
              <a:t>Confusing navigation</a:t>
            </a:r>
            <a:endParaRPr lang="en-US" sz="1350" dirty="0"/>
          </a:p>
        </p:txBody>
      </p:sp>
      <p:sp>
        <p:nvSpPr>
          <p:cNvPr id="9" name="Text 5"/>
          <p:cNvSpPr txBox="1"/>
          <p:nvPr/>
        </p:nvSpPr>
        <p:spPr>
          <a:xfrm>
            <a:off x="640080" y="1920240"/>
            <a:ext cx="2286000" cy="868680"/>
          </a:xfrm>
          <a:prstGeom prst="rect">
            <a:avLst/>
          </a:prstGeom>
          <a:noFill/>
          <a:ln/>
        </p:spPr>
        <p:txBody>
          <a:bodyPr wrap="square" lIns="0" tIns="0" rIns="0" bIns="0" rtlCol="0" anchor="t"/>
          <a:lstStyle/>
          <a:p>
            <a:pPr marL="0" indent="0">
              <a:buNone/>
            </a:pPr>
            <a:r>
              <a:rPr lang="en-US" sz="1200" dirty="0">
                <a:solidFill>
                  <a:srgbClr val="1F2937"/>
                </a:solidFill>
              </a:rPr>
              <a:t>Hard-to-scan categories and hidden filters make products hard to find.</a:t>
            </a:r>
            <a:endParaRPr lang="en-US" sz="1200" dirty="0"/>
          </a:p>
        </p:txBody>
      </p:sp>
      <p:sp>
        <p:nvSpPr>
          <p:cNvPr id="10" name="Text 6"/>
          <p:cNvSpPr txBox="1"/>
          <p:nvPr/>
        </p:nvSpPr>
        <p:spPr>
          <a:xfrm>
            <a:off x="1554480" y="2852928"/>
            <a:ext cx="457200" cy="228600"/>
          </a:xfrm>
          <a:prstGeom prst="rect">
            <a:avLst/>
          </a:prstGeom>
          <a:noFill/>
          <a:ln/>
        </p:spPr>
        <p:txBody>
          <a:bodyPr wrap="square" lIns="0" tIns="0" rIns="0" bIns="0" rtlCol="0" anchor="t"/>
          <a:lstStyle/>
          <a:p>
            <a:pPr marL="0" indent="0" algn="ctr">
              <a:buNone/>
            </a:pPr>
            <a:r>
              <a:rPr lang="en-US" sz="1200" dirty="0">
                <a:solidFill>
                  <a:srgbClr val="2F5BFF"/>
                </a:solidFill>
              </a:rPr>
              <a:t>▼</a:t>
            </a:r>
            <a:endParaRPr lang="en-US" sz="1200" dirty="0"/>
          </a:p>
        </p:txBody>
      </p:sp>
      <p:sp>
        <p:nvSpPr>
          <p:cNvPr id="11" name="Shape 7"/>
          <p:cNvSpPr/>
          <p:nvPr/>
        </p:nvSpPr>
        <p:spPr>
          <a:xfrm>
            <a:off x="457200" y="3108960"/>
            <a:ext cx="2606040" cy="1280160"/>
          </a:xfrm>
          <a:prstGeom prst="roundRect">
            <a:avLst>
              <a:gd name="adj" fmla="val 5000"/>
            </a:avLst>
          </a:prstGeom>
          <a:solidFill>
            <a:srgbClr val="E6ECFF"/>
          </a:solidFill>
          <a:ln w="12700">
            <a:solidFill>
              <a:srgbClr val="E6ECFF"/>
            </a:solidFill>
            <a:prstDash val="solid"/>
          </a:ln>
        </p:spPr>
      </p:sp>
      <p:sp>
        <p:nvSpPr>
          <p:cNvPr id="12" name="Text 8"/>
          <p:cNvSpPr txBox="1"/>
          <p:nvPr/>
        </p:nvSpPr>
        <p:spPr>
          <a:xfrm>
            <a:off x="640080" y="3200400"/>
            <a:ext cx="2194560" cy="201168"/>
          </a:xfrm>
          <a:prstGeom prst="rect">
            <a:avLst/>
          </a:prstGeom>
          <a:noFill/>
          <a:ln/>
        </p:spPr>
        <p:txBody>
          <a:bodyPr wrap="square" lIns="0" tIns="0" rIns="0" bIns="0" rtlCol="0" anchor="t"/>
          <a:lstStyle/>
          <a:p>
            <a:pPr marL="0" indent="0">
              <a:buNone/>
            </a:pPr>
            <a:r>
              <a:rPr lang="en-US" sz="1000" b="1" kern="0" spc="150" dirty="0">
                <a:solidFill>
                  <a:srgbClr val="2F5BFF"/>
                </a:solidFill>
              </a:rPr>
              <a:t>DESIGN RESPONSE</a:t>
            </a:r>
            <a:endParaRPr lang="en-US" sz="1000" dirty="0"/>
          </a:p>
        </p:txBody>
      </p:sp>
      <p:sp>
        <p:nvSpPr>
          <p:cNvPr id="13" name="Text 9"/>
          <p:cNvSpPr txBox="1"/>
          <p:nvPr/>
        </p:nvSpPr>
        <p:spPr>
          <a:xfrm>
            <a:off x="640080" y="3456432"/>
            <a:ext cx="2286000" cy="914400"/>
          </a:xfrm>
          <a:prstGeom prst="rect">
            <a:avLst/>
          </a:prstGeom>
          <a:noFill/>
          <a:ln/>
        </p:spPr>
        <p:txBody>
          <a:bodyPr wrap="square" lIns="0" tIns="0" rIns="0" bIns="0" rtlCol="0" anchor="t"/>
          <a:lstStyle/>
          <a:p>
            <a:pPr marL="0" indent="0">
              <a:buNone/>
            </a:pPr>
            <a:r>
              <a:rPr lang="en-US" sz="1200" dirty="0">
                <a:solidFill>
                  <a:srgbClr val="0B1F4B"/>
                </a:solidFill>
              </a:rPr>
              <a:t>Clear header, visible search, category navigation and active filters</a:t>
            </a:r>
            <a:endParaRPr lang="en-US" sz="1200" dirty="0"/>
          </a:p>
        </p:txBody>
      </p:sp>
      <p:sp>
        <p:nvSpPr>
          <p:cNvPr id="14" name="Shape 10"/>
          <p:cNvSpPr/>
          <p:nvPr/>
        </p:nvSpPr>
        <p:spPr>
          <a:xfrm>
            <a:off x="3246120" y="1143000"/>
            <a:ext cx="2606040" cy="1691640"/>
          </a:xfrm>
          <a:prstGeom prst="roundRect">
            <a:avLst>
              <a:gd name="adj" fmla="val 3784"/>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5" name="Shape 11"/>
          <p:cNvSpPr/>
          <p:nvPr/>
        </p:nvSpPr>
        <p:spPr>
          <a:xfrm>
            <a:off x="3429000" y="1298448"/>
            <a:ext cx="457200" cy="457200"/>
          </a:xfrm>
          <a:prstGeom prst="roundRect">
            <a:avLst>
              <a:gd name="adj" fmla="val 22000"/>
            </a:avLst>
          </a:prstGeom>
          <a:solidFill>
            <a:srgbClr val="BE185D"/>
          </a:solidFill>
          <a:ln w="12700">
            <a:solidFill>
              <a:srgbClr val="BE185D"/>
            </a:solidFill>
            <a:prstDash val="solid"/>
          </a:ln>
        </p:spPr>
      </p:sp>
      <p:pic>
        <p:nvPicPr>
          <p:cNvPr id="16" name="Image 1" descr="preencoded.png"/>
          <p:cNvPicPr>
            <a:picLocks noChangeAspect="1"/>
          </p:cNvPicPr>
          <p:nvPr/>
        </p:nvPicPr>
        <p:blipFill>
          <a:blip r:embed="rId4"/>
          <a:stretch>
            <a:fillRect/>
          </a:stretch>
        </p:blipFill>
        <p:spPr>
          <a:xfrm>
            <a:off x="3538728" y="1408176"/>
            <a:ext cx="237744" cy="237744"/>
          </a:xfrm>
          <a:prstGeom prst="rect">
            <a:avLst/>
          </a:prstGeom>
        </p:spPr>
      </p:pic>
      <p:sp>
        <p:nvSpPr>
          <p:cNvPr id="17" name="Text 12"/>
          <p:cNvSpPr txBox="1"/>
          <p:nvPr/>
        </p:nvSpPr>
        <p:spPr>
          <a:xfrm>
            <a:off x="4023360" y="1298448"/>
            <a:ext cx="1737360" cy="457200"/>
          </a:xfrm>
          <a:prstGeom prst="rect">
            <a:avLst/>
          </a:prstGeom>
          <a:noFill/>
          <a:ln/>
        </p:spPr>
        <p:txBody>
          <a:bodyPr wrap="square" lIns="0" tIns="0" rIns="0" bIns="0" rtlCol="0" anchor="ctr"/>
          <a:lstStyle/>
          <a:p>
            <a:pPr marL="0" indent="0">
              <a:buNone/>
            </a:pPr>
            <a:r>
              <a:rPr lang="en-US" sz="1350" b="1" dirty="0">
                <a:solidFill>
                  <a:srgbClr val="0B1F4B"/>
                </a:solidFill>
              </a:rPr>
              <a:t>Unclear product information</a:t>
            </a:r>
            <a:endParaRPr lang="en-US" sz="1350" dirty="0"/>
          </a:p>
        </p:txBody>
      </p:sp>
      <p:sp>
        <p:nvSpPr>
          <p:cNvPr id="18" name="Text 13"/>
          <p:cNvSpPr txBox="1"/>
          <p:nvPr/>
        </p:nvSpPr>
        <p:spPr>
          <a:xfrm>
            <a:off x="3429000" y="1920240"/>
            <a:ext cx="2286000" cy="868680"/>
          </a:xfrm>
          <a:prstGeom prst="rect">
            <a:avLst/>
          </a:prstGeom>
          <a:noFill/>
          <a:ln/>
        </p:spPr>
        <p:txBody>
          <a:bodyPr wrap="square" lIns="0" tIns="0" rIns="0" bIns="0" rtlCol="0" anchor="t"/>
          <a:lstStyle/>
          <a:p>
            <a:pPr marL="0" indent="0">
              <a:buNone/>
            </a:pPr>
            <a:r>
              <a:rPr lang="en-US" sz="1200" dirty="0">
                <a:solidFill>
                  <a:srgbClr val="1F2937"/>
                </a:solidFill>
              </a:rPr>
              <a:t>Crowded pages and incomplete details make comparing difficult.</a:t>
            </a:r>
            <a:endParaRPr lang="en-US" sz="1200" dirty="0"/>
          </a:p>
        </p:txBody>
      </p:sp>
      <p:sp>
        <p:nvSpPr>
          <p:cNvPr id="19" name="Text 14"/>
          <p:cNvSpPr txBox="1"/>
          <p:nvPr/>
        </p:nvSpPr>
        <p:spPr>
          <a:xfrm>
            <a:off x="4343400" y="2852928"/>
            <a:ext cx="457200" cy="228600"/>
          </a:xfrm>
          <a:prstGeom prst="rect">
            <a:avLst/>
          </a:prstGeom>
          <a:noFill/>
          <a:ln/>
        </p:spPr>
        <p:txBody>
          <a:bodyPr wrap="square" lIns="0" tIns="0" rIns="0" bIns="0" rtlCol="0" anchor="t"/>
          <a:lstStyle/>
          <a:p>
            <a:pPr marL="0" indent="0" algn="ctr">
              <a:buNone/>
            </a:pPr>
            <a:r>
              <a:rPr lang="en-US" sz="1200" dirty="0">
                <a:solidFill>
                  <a:srgbClr val="2F5BFF"/>
                </a:solidFill>
              </a:rPr>
              <a:t>▼</a:t>
            </a:r>
            <a:endParaRPr lang="en-US" sz="1200" dirty="0"/>
          </a:p>
        </p:txBody>
      </p:sp>
      <p:sp>
        <p:nvSpPr>
          <p:cNvPr id="20" name="Shape 15"/>
          <p:cNvSpPr/>
          <p:nvPr/>
        </p:nvSpPr>
        <p:spPr>
          <a:xfrm>
            <a:off x="3246120" y="3108960"/>
            <a:ext cx="2606040" cy="1280160"/>
          </a:xfrm>
          <a:prstGeom prst="roundRect">
            <a:avLst>
              <a:gd name="adj" fmla="val 5000"/>
            </a:avLst>
          </a:prstGeom>
          <a:solidFill>
            <a:srgbClr val="E6ECFF"/>
          </a:solidFill>
          <a:ln w="12700">
            <a:solidFill>
              <a:srgbClr val="E6ECFF"/>
            </a:solidFill>
            <a:prstDash val="solid"/>
          </a:ln>
        </p:spPr>
      </p:sp>
      <p:sp>
        <p:nvSpPr>
          <p:cNvPr id="21" name="Text 16"/>
          <p:cNvSpPr txBox="1"/>
          <p:nvPr/>
        </p:nvSpPr>
        <p:spPr>
          <a:xfrm>
            <a:off x="3429000" y="3200400"/>
            <a:ext cx="2194560" cy="201168"/>
          </a:xfrm>
          <a:prstGeom prst="rect">
            <a:avLst/>
          </a:prstGeom>
          <a:noFill/>
          <a:ln/>
        </p:spPr>
        <p:txBody>
          <a:bodyPr wrap="square" lIns="0" tIns="0" rIns="0" bIns="0" rtlCol="0" anchor="t"/>
          <a:lstStyle/>
          <a:p>
            <a:pPr marL="0" indent="0">
              <a:buNone/>
            </a:pPr>
            <a:r>
              <a:rPr lang="en-US" sz="1000" b="1" kern="0" spc="150" dirty="0">
                <a:solidFill>
                  <a:srgbClr val="2F5BFF"/>
                </a:solidFill>
              </a:rPr>
              <a:t>DESIGN RESPONSE</a:t>
            </a:r>
            <a:endParaRPr lang="en-US" sz="1000" dirty="0"/>
          </a:p>
        </p:txBody>
      </p:sp>
      <p:sp>
        <p:nvSpPr>
          <p:cNvPr id="22" name="Text 17"/>
          <p:cNvSpPr txBox="1"/>
          <p:nvPr/>
        </p:nvSpPr>
        <p:spPr>
          <a:xfrm>
            <a:off x="3429000" y="3456432"/>
            <a:ext cx="2286000" cy="914400"/>
          </a:xfrm>
          <a:prstGeom prst="rect">
            <a:avLst/>
          </a:prstGeom>
          <a:noFill/>
          <a:ln/>
        </p:spPr>
        <p:txBody>
          <a:bodyPr wrap="square" lIns="0" tIns="0" rIns="0" bIns="0" rtlCol="0" anchor="t"/>
          <a:lstStyle/>
          <a:p>
            <a:pPr marL="0" indent="0">
              <a:buNone/>
            </a:pPr>
            <a:r>
              <a:rPr lang="en-US" sz="1200" dirty="0">
                <a:solidFill>
                  <a:srgbClr val="0B1F4B"/>
                </a:solidFill>
              </a:rPr>
              <a:t>Consistent cards and detail layout with price, options and one main action</a:t>
            </a:r>
            <a:endParaRPr lang="en-US" sz="1200" dirty="0"/>
          </a:p>
        </p:txBody>
      </p:sp>
      <p:sp>
        <p:nvSpPr>
          <p:cNvPr id="23" name="Shape 18"/>
          <p:cNvSpPr/>
          <p:nvPr/>
        </p:nvSpPr>
        <p:spPr>
          <a:xfrm>
            <a:off x="6035040" y="1143000"/>
            <a:ext cx="2606040" cy="1691640"/>
          </a:xfrm>
          <a:prstGeom prst="roundRect">
            <a:avLst>
              <a:gd name="adj" fmla="val 3784"/>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4" name="Shape 19"/>
          <p:cNvSpPr/>
          <p:nvPr/>
        </p:nvSpPr>
        <p:spPr>
          <a:xfrm>
            <a:off x="6217920" y="1298448"/>
            <a:ext cx="457200" cy="457200"/>
          </a:xfrm>
          <a:prstGeom prst="roundRect">
            <a:avLst>
              <a:gd name="adj" fmla="val 22000"/>
            </a:avLst>
          </a:prstGeom>
          <a:solidFill>
            <a:srgbClr val="BE185D"/>
          </a:solidFill>
          <a:ln w="12700">
            <a:solidFill>
              <a:srgbClr val="BE185D"/>
            </a:solidFill>
            <a:prstDash val="solid"/>
          </a:ln>
        </p:spPr>
      </p:sp>
      <p:pic>
        <p:nvPicPr>
          <p:cNvPr id="25" name="Image 2" descr="preencoded.png"/>
          <p:cNvPicPr>
            <a:picLocks noChangeAspect="1"/>
          </p:cNvPicPr>
          <p:nvPr/>
        </p:nvPicPr>
        <p:blipFill>
          <a:blip r:embed="rId5"/>
          <a:stretch>
            <a:fillRect/>
          </a:stretch>
        </p:blipFill>
        <p:spPr>
          <a:xfrm>
            <a:off x="6327648" y="1408176"/>
            <a:ext cx="237744" cy="237744"/>
          </a:xfrm>
          <a:prstGeom prst="rect">
            <a:avLst/>
          </a:prstGeom>
        </p:spPr>
      </p:pic>
      <p:sp>
        <p:nvSpPr>
          <p:cNvPr id="26" name="Text 20"/>
          <p:cNvSpPr txBox="1"/>
          <p:nvPr/>
        </p:nvSpPr>
        <p:spPr>
          <a:xfrm>
            <a:off x="6812280" y="1298448"/>
            <a:ext cx="1737360" cy="457200"/>
          </a:xfrm>
          <a:prstGeom prst="rect">
            <a:avLst/>
          </a:prstGeom>
          <a:noFill/>
          <a:ln/>
        </p:spPr>
        <p:txBody>
          <a:bodyPr wrap="square" lIns="0" tIns="0" rIns="0" bIns="0" rtlCol="0" anchor="ctr"/>
          <a:lstStyle/>
          <a:p>
            <a:pPr marL="0" indent="0">
              <a:buNone/>
            </a:pPr>
            <a:r>
              <a:rPr lang="en-US" sz="1350" b="1" dirty="0">
                <a:solidFill>
                  <a:srgbClr val="0B1F4B"/>
                </a:solidFill>
              </a:rPr>
              <a:t>Complicated shopping flow</a:t>
            </a:r>
            <a:endParaRPr lang="en-US" sz="1350" dirty="0"/>
          </a:p>
        </p:txBody>
      </p:sp>
      <p:sp>
        <p:nvSpPr>
          <p:cNvPr id="27" name="Text 21"/>
          <p:cNvSpPr txBox="1"/>
          <p:nvPr/>
        </p:nvSpPr>
        <p:spPr>
          <a:xfrm>
            <a:off x="6217920" y="1920240"/>
            <a:ext cx="2286000" cy="868680"/>
          </a:xfrm>
          <a:prstGeom prst="rect">
            <a:avLst/>
          </a:prstGeom>
          <a:noFill/>
          <a:ln/>
        </p:spPr>
        <p:txBody>
          <a:bodyPr wrap="square" lIns="0" tIns="0" rIns="0" bIns="0" rtlCol="0" anchor="t"/>
          <a:lstStyle/>
          <a:p>
            <a:pPr marL="0" indent="0">
              <a:buNone/>
            </a:pPr>
            <a:r>
              <a:rPr lang="en-US" sz="1200" dirty="0">
                <a:solidFill>
                  <a:srgbClr val="1F2937"/>
                </a:solidFill>
              </a:rPr>
              <a:t>Unclear next steps, or forms that lose data after an error.</a:t>
            </a:r>
            <a:endParaRPr lang="en-US" sz="1200" dirty="0"/>
          </a:p>
        </p:txBody>
      </p:sp>
      <p:sp>
        <p:nvSpPr>
          <p:cNvPr id="28" name="Text 22"/>
          <p:cNvSpPr txBox="1"/>
          <p:nvPr/>
        </p:nvSpPr>
        <p:spPr>
          <a:xfrm>
            <a:off x="7132320" y="2852928"/>
            <a:ext cx="457200" cy="228600"/>
          </a:xfrm>
          <a:prstGeom prst="rect">
            <a:avLst/>
          </a:prstGeom>
          <a:noFill/>
          <a:ln/>
        </p:spPr>
        <p:txBody>
          <a:bodyPr wrap="square" lIns="0" tIns="0" rIns="0" bIns="0" rtlCol="0" anchor="t"/>
          <a:lstStyle/>
          <a:p>
            <a:pPr marL="0" indent="0" algn="ctr">
              <a:buNone/>
            </a:pPr>
            <a:r>
              <a:rPr lang="en-US" sz="1200" dirty="0">
                <a:solidFill>
                  <a:srgbClr val="2F5BFF"/>
                </a:solidFill>
              </a:rPr>
              <a:t>▼</a:t>
            </a:r>
            <a:endParaRPr lang="en-US" sz="1200" dirty="0"/>
          </a:p>
        </p:txBody>
      </p:sp>
      <p:sp>
        <p:nvSpPr>
          <p:cNvPr id="29" name="Shape 23"/>
          <p:cNvSpPr/>
          <p:nvPr/>
        </p:nvSpPr>
        <p:spPr>
          <a:xfrm>
            <a:off x="6035040" y="3108960"/>
            <a:ext cx="2606040" cy="1280160"/>
          </a:xfrm>
          <a:prstGeom prst="roundRect">
            <a:avLst>
              <a:gd name="adj" fmla="val 5000"/>
            </a:avLst>
          </a:prstGeom>
          <a:solidFill>
            <a:srgbClr val="E6ECFF"/>
          </a:solidFill>
          <a:ln w="12700">
            <a:solidFill>
              <a:srgbClr val="E6ECFF"/>
            </a:solidFill>
            <a:prstDash val="solid"/>
          </a:ln>
        </p:spPr>
      </p:sp>
      <p:sp>
        <p:nvSpPr>
          <p:cNvPr id="30" name="Text 24"/>
          <p:cNvSpPr txBox="1"/>
          <p:nvPr/>
        </p:nvSpPr>
        <p:spPr>
          <a:xfrm>
            <a:off x="6217920" y="3200400"/>
            <a:ext cx="2194560" cy="201168"/>
          </a:xfrm>
          <a:prstGeom prst="rect">
            <a:avLst/>
          </a:prstGeom>
          <a:noFill/>
          <a:ln/>
        </p:spPr>
        <p:txBody>
          <a:bodyPr wrap="square" lIns="0" tIns="0" rIns="0" bIns="0" rtlCol="0" anchor="t"/>
          <a:lstStyle/>
          <a:p>
            <a:pPr marL="0" indent="0">
              <a:buNone/>
            </a:pPr>
            <a:r>
              <a:rPr lang="en-US" sz="1000" b="1" kern="0" spc="150" dirty="0">
                <a:solidFill>
                  <a:srgbClr val="2F5BFF"/>
                </a:solidFill>
              </a:rPr>
              <a:t>DESIGN RESPONSE</a:t>
            </a:r>
            <a:endParaRPr lang="en-US" sz="1000" dirty="0"/>
          </a:p>
        </p:txBody>
      </p:sp>
      <p:sp>
        <p:nvSpPr>
          <p:cNvPr id="31" name="Text 25"/>
          <p:cNvSpPr txBox="1"/>
          <p:nvPr/>
        </p:nvSpPr>
        <p:spPr>
          <a:xfrm>
            <a:off x="6217920" y="3456432"/>
            <a:ext cx="2286000" cy="914400"/>
          </a:xfrm>
          <a:prstGeom prst="rect">
            <a:avLst/>
          </a:prstGeom>
          <a:noFill/>
          <a:ln/>
        </p:spPr>
        <p:txBody>
          <a:bodyPr wrap="square" lIns="0" tIns="0" rIns="0" bIns="0" rtlCol="0" anchor="t"/>
          <a:lstStyle/>
          <a:p>
            <a:pPr marL="0" indent="0">
              <a:buNone/>
            </a:pPr>
            <a:r>
              <a:rPr lang="en-US" sz="1200" dirty="0">
                <a:solidFill>
                  <a:srgbClr val="0B1F4B"/>
                </a:solidFill>
              </a:rPr>
              <a:t>Visible checkout steps, cart review and plain-language error messages</a:t>
            </a:r>
            <a:endParaRPr lang="en-US" sz="1200" dirty="0"/>
          </a:p>
        </p:txBody>
      </p:sp>
      <p:sp>
        <p:nvSpPr>
          <p:cNvPr id="32" name="Text 26"/>
          <p:cNvSpPr txBox="1"/>
          <p:nvPr/>
        </p:nvSpPr>
        <p:spPr>
          <a:xfrm>
            <a:off x="457200" y="4480560"/>
            <a:ext cx="8229600" cy="228600"/>
          </a:xfrm>
          <a:prstGeom prst="rect">
            <a:avLst/>
          </a:prstGeom>
          <a:noFill/>
          <a:ln/>
        </p:spPr>
        <p:txBody>
          <a:bodyPr wrap="square" lIns="0" tIns="0" rIns="0" bIns="0" rtlCol="0" anchor="t"/>
          <a:lstStyle/>
          <a:p>
            <a:pPr marL="0" indent="0">
              <a:buNone/>
            </a:pPr>
            <a:r>
              <a:rPr lang="en-US" sz="1050" dirty="0">
                <a:solidFill>
                  <a:srgbClr val="6B7280"/>
                </a:solidFill>
              </a:rPr>
              <a:t>General design challenges, not findings from user research.</a:t>
            </a:r>
            <a:endParaRPr lang="en-US" sz="105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05 · PROJECT</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Project Objectives: What I Designed</a:t>
            </a:r>
            <a:endParaRPr lang="en-US" sz="2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56032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Design goal</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0B1F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 designed and documented</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0B1F4B"/>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0B1F4B"/>
                          </a:solidFill>
                          <a:latin typeface="Calibri" pitchFamily="34" charset="0"/>
                          <a:ea typeface="Calibri" pitchFamily="34" charset="-122"/>
                          <a:cs typeface="Calibri" pitchFamily="34" charset="-120"/>
                        </a:rPr>
                        <a:t>Product discovery</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250" dirty="0">
                          <a:solidFill>
                            <a:srgbClr val="1F2937"/>
                          </a:solidFill>
                          <a:latin typeface="Calibri" pitchFamily="34" charset="0"/>
                          <a:ea typeface="Calibri" pitchFamily="34" charset="-122"/>
                          <a:cs typeface="Calibri" pitchFamily="34" charset="-120"/>
                        </a:rPr>
                        <a:t>Home page structure, category navigation, search concept</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50" b="1" dirty="0">
                          <a:solidFill>
                            <a:srgbClr val="0B1F4B"/>
                          </a:solidFill>
                          <a:latin typeface="Calibri" pitchFamily="34" charset="0"/>
                          <a:ea typeface="Calibri" pitchFamily="34" charset="-122"/>
                          <a:cs typeface="Calibri" pitchFamily="34" charset="-120"/>
                        </a:rPr>
                        <a:t>Product comparison</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4F6FB"/>
                    </a:solidFill>
                  </a:tcPr>
                </a:tc>
                <a:tc>
                  <a:txBody>
                    <a:bodyPr/>
                    <a:lstStyle/>
                    <a:p>
                      <a:pPr marL="0" indent="0">
                        <a:buNone/>
                      </a:pPr>
                      <a:r>
                        <a:rPr lang="en-US" sz="1250" dirty="0">
                          <a:solidFill>
                            <a:srgbClr val="1F2937"/>
                          </a:solidFill>
                          <a:latin typeface="Calibri" pitchFamily="34" charset="0"/>
                          <a:ea typeface="Calibri" pitchFamily="34" charset="-122"/>
                          <a:cs typeface="Calibri" pitchFamily="34" charset="-120"/>
                        </a:rPr>
                        <a:t>Consistent listing cards, filter and sort concepts</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384048">
                <a:tc>
                  <a:txBody>
                    <a:bodyPr/>
                    <a:lstStyle/>
                    <a:p>
                      <a:pPr marL="0" indent="0">
                        <a:buNone/>
                      </a:pPr>
                      <a:r>
                        <a:rPr lang="en-US" sz="1250" b="1" dirty="0">
                          <a:solidFill>
                            <a:srgbClr val="0B1F4B"/>
                          </a:solidFill>
                          <a:latin typeface="Calibri" pitchFamily="34" charset="0"/>
                          <a:ea typeface="Calibri" pitchFamily="34" charset="-122"/>
                          <a:cs typeface="Calibri" pitchFamily="34" charset="-120"/>
                        </a:rPr>
                        <a:t>Clear product details</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250" dirty="0">
                          <a:solidFill>
                            <a:srgbClr val="1F2937"/>
                          </a:solidFill>
                          <a:latin typeface="Calibri" pitchFamily="34" charset="0"/>
                          <a:ea typeface="Calibri" pitchFamily="34" charset="-122"/>
                          <a:cs typeface="Calibri" pitchFamily="34" charset="-120"/>
                        </a:rPr>
                        <a:t>Detail layout with price, options, primary action</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50" b="1" dirty="0">
                          <a:solidFill>
                            <a:srgbClr val="0B1F4B"/>
                          </a:solidFill>
                          <a:latin typeface="Calibri" pitchFamily="34" charset="0"/>
                          <a:ea typeface="Calibri" pitchFamily="34" charset="-122"/>
                          <a:cs typeface="Calibri" pitchFamily="34" charset="-120"/>
                        </a:rPr>
                        <a:t>Simple shopping journey</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4F6FB"/>
                    </a:solidFill>
                  </a:tcPr>
                </a:tc>
                <a:tc>
                  <a:txBody>
                    <a:bodyPr/>
                    <a:lstStyle/>
                    <a:p>
                      <a:pPr marL="0" indent="0">
                        <a:buNone/>
                      </a:pPr>
                      <a:r>
                        <a:rPr lang="en-US" sz="1250" dirty="0">
                          <a:solidFill>
                            <a:srgbClr val="1F2937"/>
                          </a:solidFill>
                          <a:latin typeface="Calibri" pitchFamily="34" charset="0"/>
                          <a:ea typeface="Calibri" pitchFamily="34" charset="-122"/>
                          <a:cs typeface="Calibri" pitchFamily="34" charset="-120"/>
                        </a:rPr>
                        <a:t>Cart and checkout screen concepts with clear steps</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384048">
                <a:tc>
                  <a:txBody>
                    <a:bodyPr/>
                    <a:lstStyle/>
                    <a:p>
                      <a:pPr marL="0" indent="0">
                        <a:buNone/>
                      </a:pPr>
                      <a:r>
                        <a:rPr lang="en-US" sz="1250" b="1" dirty="0">
                          <a:solidFill>
                            <a:srgbClr val="0B1F4B"/>
                          </a:solidFill>
                          <a:latin typeface="Calibri" pitchFamily="34" charset="0"/>
                          <a:ea typeface="Calibri" pitchFamily="34" charset="-122"/>
                          <a:cs typeface="Calibri" pitchFamily="34" charset="-120"/>
                        </a:rPr>
                        <a:t>Consistent visual design</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250" dirty="0">
                          <a:solidFill>
                            <a:srgbClr val="1F2937"/>
                          </a:solidFill>
                          <a:latin typeface="Calibri" pitchFamily="34" charset="0"/>
                          <a:ea typeface="Calibri" pitchFamily="34" charset="-122"/>
                          <a:cs typeface="Calibri" pitchFamily="34" charset="-120"/>
                        </a:rPr>
                        <a:t>Reusable components and visual-style specification</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250" b="1" dirty="0">
                          <a:solidFill>
                            <a:srgbClr val="0B1F4B"/>
                          </a:solidFill>
                          <a:latin typeface="Calibri" pitchFamily="34" charset="0"/>
                          <a:ea typeface="Calibri" pitchFamily="34" charset="-122"/>
                          <a:cs typeface="Calibri" pitchFamily="34" charset="-120"/>
                        </a:rPr>
                        <a:t>Mobile use</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4F6FB"/>
                    </a:solidFill>
                  </a:tcPr>
                </a:tc>
                <a:tc>
                  <a:txBody>
                    <a:bodyPr/>
                    <a:lstStyle/>
                    <a:p>
                      <a:pPr marL="0" indent="0">
                        <a:buNone/>
                      </a:pPr>
                      <a:r>
                        <a:rPr lang="en-US" sz="1250" dirty="0">
                          <a:solidFill>
                            <a:srgbClr val="1F2937"/>
                          </a:solidFill>
                          <a:latin typeface="Calibri" pitchFamily="34" charset="0"/>
                          <a:ea typeface="Calibri" pitchFamily="34" charset="-122"/>
                          <a:cs typeface="Calibri" pitchFamily="34" charset="-120"/>
                        </a:rPr>
                        <a:t>Responsive layout concepts for selected screens</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r h="384048">
                <a:tc>
                  <a:txBody>
                    <a:bodyPr/>
                    <a:lstStyle/>
                    <a:p>
                      <a:pPr marL="0" indent="0">
                        <a:buNone/>
                      </a:pPr>
                      <a:r>
                        <a:rPr lang="en-US" sz="1250" b="1" dirty="0">
                          <a:solidFill>
                            <a:srgbClr val="0B1F4B"/>
                          </a:solidFill>
                          <a:latin typeface="Calibri" pitchFamily="34" charset="0"/>
                          <a:ea typeface="Calibri" pitchFamily="34" charset="-122"/>
                          <a:cs typeface="Calibri" pitchFamily="34" charset="-120"/>
                        </a:rPr>
                        <a:t>Interaction sequence</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250" dirty="0">
                          <a:solidFill>
                            <a:srgbClr val="1F2937"/>
                          </a:solidFill>
                          <a:latin typeface="Calibri" pitchFamily="34" charset="0"/>
                          <a:ea typeface="Calibri" pitchFamily="34" charset="-122"/>
                          <a:cs typeface="Calibri" pitchFamily="34" charset="-120"/>
                        </a:rPr>
                        <a:t>User-flow diagram and prototype connection plan</a:t>
                      </a:r>
                      <a:endParaRPr lang="en-US" sz="125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hape 2"/>
          <p:cNvSpPr/>
          <p:nvPr/>
        </p:nvSpPr>
        <p:spPr>
          <a:xfrm>
            <a:off x="457200" y="4297680"/>
            <a:ext cx="8229600" cy="365760"/>
          </a:xfrm>
          <a:prstGeom prst="roundRect">
            <a:avLst>
              <a:gd name="adj" fmla="val 15000"/>
            </a:avLst>
          </a:prstGeom>
          <a:solidFill>
            <a:srgbClr val="E6ECFF"/>
          </a:solidFill>
          <a:ln w="12700">
            <a:solidFill>
              <a:srgbClr val="E6ECFF"/>
            </a:solidFill>
            <a:prstDash val="solid"/>
          </a:ln>
        </p:spPr>
      </p:sp>
      <p:sp>
        <p:nvSpPr>
          <p:cNvPr id="7" name="Text 3"/>
          <p:cNvSpPr txBox="1"/>
          <p:nvPr/>
        </p:nvSpPr>
        <p:spPr>
          <a:xfrm>
            <a:off x="640080" y="4297680"/>
            <a:ext cx="7863840" cy="365760"/>
          </a:xfrm>
          <a:prstGeom prst="rect">
            <a:avLst/>
          </a:prstGeom>
          <a:noFill/>
          <a:ln/>
        </p:spPr>
        <p:txBody>
          <a:bodyPr wrap="square" lIns="0" tIns="0" rIns="0" bIns="0" rtlCol="0" anchor="ctr"/>
          <a:lstStyle/>
          <a:p>
            <a:pPr marL="0" indent="0">
              <a:buNone/>
            </a:pPr>
            <a:r>
              <a:rPr lang="en-US" sz="1200" dirty="0">
                <a:solidFill>
                  <a:srgbClr val="0B1F4B"/>
                </a:solidFill>
              </a:rPr>
              <a:t>Scope: interface design and documentation only. No coding, backend, payment or formal usability testing.</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06 · METHOD</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Design Process: What I Did at Each Stage</a:t>
            </a:r>
            <a:endParaRPr lang="en-US" sz="2500" dirty="0"/>
          </a:p>
        </p:txBody>
      </p:sp>
      <p:sp>
        <p:nvSpPr>
          <p:cNvPr id="5" name="Shape 2"/>
          <p:cNvSpPr/>
          <p:nvPr/>
        </p:nvSpPr>
        <p:spPr>
          <a:xfrm>
            <a:off x="822960" y="1463040"/>
            <a:ext cx="7498080" cy="36576"/>
          </a:xfrm>
          <a:prstGeom prst="rect">
            <a:avLst/>
          </a:prstGeom>
          <a:solidFill>
            <a:srgbClr val="DDE3F0"/>
          </a:solidFill>
          <a:ln w="12700">
            <a:solidFill>
              <a:srgbClr val="DDE3F0"/>
            </a:solidFill>
            <a:prstDash val="solid"/>
          </a:ln>
        </p:spPr>
      </p:sp>
      <p:sp>
        <p:nvSpPr>
          <p:cNvPr id="6" name="Shape 3"/>
          <p:cNvSpPr/>
          <p:nvPr/>
        </p:nvSpPr>
        <p:spPr>
          <a:xfrm>
            <a:off x="868680" y="1280160"/>
            <a:ext cx="457200" cy="457200"/>
          </a:xfrm>
          <a:prstGeom prst="ellipse">
            <a:avLst/>
          </a:prstGeom>
          <a:solidFill>
            <a:srgbClr val="2F5BFF"/>
          </a:solidFill>
          <a:ln w="12700">
            <a:solidFill>
              <a:srgbClr val="2F5BFF"/>
            </a:solidFill>
            <a:prstDash val="solid"/>
          </a:ln>
        </p:spPr>
      </p:sp>
      <p:sp>
        <p:nvSpPr>
          <p:cNvPr id="7" name="Text 4"/>
          <p:cNvSpPr txBox="1"/>
          <p:nvPr/>
        </p:nvSpPr>
        <p:spPr>
          <a:xfrm>
            <a:off x="868680" y="1280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8" name="Text 5"/>
          <p:cNvSpPr txBox="1"/>
          <p:nvPr/>
        </p:nvSpPr>
        <p:spPr>
          <a:xfrm>
            <a:off x="457200" y="1874520"/>
            <a:ext cx="1280160" cy="274320"/>
          </a:xfrm>
          <a:prstGeom prst="rect">
            <a:avLst/>
          </a:prstGeom>
          <a:noFill/>
          <a:ln/>
        </p:spPr>
        <p:txBody>
          <a:bodyPr wrap="square" lIns="0" tIns="0" rIns="0" bIns="0" rtlCol="0" anchor="t"/>
          <a:lstStyle/>
          <a:p>
            <a:pPr marL="0" indent="0" algn="ctr">
              <a:buNone/>
            </a:pPr>
            <a:r>
              <a:rPr lang="en-US" sz="1400" b="1" dirty="0">
                <a:solidFill>
                  <a:srgbClr val="0B1F4B"/>
                </a:solidFill>
              </a:rPr>
              <a:t>Understand</a:t>
            </a:r>
            <a:endParaRPr lang="en-US" sz="1400" dirty="0"/>
          </a:p>
        </p:txBody>
      </p:sp>
      <p:sp>
        <p:nvSpPr>
          <p:cNvPr id="9" name="Text 6"/>
          <p:cNvSpPr txBox="1"/>
          <p:nvPr/>
        </p:nvSpPr>
        <p:spPr>
          <a:xfrm>
            <a:off x="502920" y="2194560"/>
            <a:ext cx="1188720" cy="502920"/>
          </a:xfrm>
          <a:prstGeom prst="rect">
            <a:avLst/>
          </a:prstGeom>
          <a:noFill/>
          <a:ln/>
        </p:spPr>
        <p:txBody>
          <a:bodyPr wrap="square" lIns="0" tIns="0" rIns="0" bIns="0" rtlCol="0" anchor="t"/>
          <a:lstStyle/>
          <a:p>
            <a:pPr marL="0" indent="0" algn="ctr">
              <a:buNone/>
            </a:pPr>
            <a:r>
              <a:rPr lang="en-US" sz="1150" dirty="0">
                <a:solidFill>
                  <a:srgbClr val="6B7280"/>
                </a:solidFill>
              </a:rPr>
              <a:t>Assumed shopper needs</a:t>
            </a:r>
            <a:endParaRPr lang="en-US" sz="1150" dirty="0"/>
          </a:p>
        </p:txBody>
      </p:sp>
      <p:sp>
        <p:nvSpPr>
          <p:cNvPr id="10" name="Shape 7"/>
          <p:cNvSpPr/>
          <p:nvPr/>
        </p:nvSpPr>
        <p:spPr>
          <a:xfrm>
            <a:off x="484632" y="2834640"/>
            <a:ext cx="1225296" cy="1280160"/>
          </a:xfrm>
          <a:prstGeom prst="roundRect">
            <a:avLst>
              <a:gd name="adj" fmla="val 5224"/>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1" name="Text 8"/>
          <p:cNvSpPr txBox="1"/>
          <p:nvPr/>
        </p:nvSpPr>
        <p:spPr>
          <a:xfrm>
            <a:off x="484632" y="2926080"/>
            <a:ext cx="1225296" cy="182880"/>
          </a:xfrm>
          <a:prstGeom prst="rect">
            <a:avLst/>
          </a:prstGeom>
          <a:noFill/>
          <a:ln/>
        </p:spPr>
        <p:txBody>
          <a:bodyPr wrap="square" lIns="0" tIns="0" rIns="0" bIns="0" rtlCol="0" anchor="t"/>
          <a:lstStyle/>
          <a:p>
            <a:pPr marL="0" indent="0" algn="ctr">
              <a:buNone/>
            </a:pPr>
            <a:r>
              <a:rPr lang="en-US" sz="900" b="1" kern="0" spc="150" dirty="0">
                <a:solidFill>
                  <a:srgbClr val="2F5BFF"/>
                </a:solidFill>
              </a:rPr>
              <a:t>OUTPUT</a:t>
            </a:r>
            <a:endParaRPr lang="en-US" sz="900" dirty="0"/>
          </a:p>
        </p:txBody>
      </p:sp>
      <p:sp>
        <p:nvSpPr>
          <p:cNvPr id="12" name="Text 9"/>
          <p:cNvSpPr txBox="1"/>
          <p:nvPr/>
        </p:nvSpPr>
        <p:spPr>
          <a:xfrm>
            <a:off x="548640" y="3154680"/>
            <a:ext cx="1097280" cy="914400"/>
          </a:xfrm>
          <a:prstGeom prst="rect">
            <a:avLst/>
          </a:prstGeom>
          <a:noFill/>
          <a:ln/>
        </p:spPr>
        <p:txBody>
          <a:bodyPr wrap="square" lIns="0" tIns="0" rIns="0" bIns="0" rtlCol="0" anchor="ctr"/>
          <a:lstStyle/>
          <a:p>
            <a:pPr marL="0" indent="0" algn="ctr">
              <a:buNone/>
            </a:pPr>
            <a:r>
              <a:rPr lang="en-US" sz="1200" b="1" dirty="0">
                <a:solidFill>
                  <a:srgbClr val="0B1F4B"/>
                </a:solidFill>
              </a:rPr>
              <a:t>Personas and needs table</a:t>
            </a:r>
            <a:endParaRPr lang="en-US" sz="1200" dirty="0"/>
          </a:p>
        </p:txBody>
      </p:sp>
      <p:sp>
        <p:nvSpPr>
          <p:cNvPr id="13" name="Shape 10"/>
          <p:cNvSpPr/>
          <p:nvPr/>
        </p:nvSpPr>
        <p:spPr>
          <a:xfrm>
            <a:off x="2240280" y="1280160"/>
            <a:ext cx="457200" cy="457200"/>
          </a:xfrm>
          <a:prstGeom prst="ellipse">
            <a:avLst/>
          </a:prstGeom>
          <a:solidFill>
            <a:srgbClr val="2F5BFF"/>
          </a:solidFill>
          <a:ln w="12700">
            <a:solidFill>
              <a:srgbClr val="2F5BFF"/>
            </a:solidFill>
            <a:prstDash val="solid"/>
          </a:ln>
        </p:spPr>
      </p:sp>
      <p:sp>
        <p:nvSpPr>
          <p:cNvPr id="14" name="Text 11"/>
          <p:cNvSpPr txBox="1"/>
          <p:nvPr/>
        </p:nvSpPr>
        <p:spPr>
          <a:xfrm>
            <a:off x="2240280" y="1280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5" name="Text 12"/>
          <p:cNvSpPr txBox="1"/>
          <p:nvPr/>
        </p:nvSpPr>
        <p:spPr>
          <a:xfrm>
            <a:off x="1828800" y="1874520"/>
            <a:ext cx="1280160" cy="274320"/>
          </a:xfrm>
          <a:prstGeom prst="rect">
            <a:avLst/>
          </a:prstGeom>
          <a:noFill/>
          <a:ln/>
        </p:spPr>
        <p:txBody>
          <a:bodyPr wrap="square" lIns="0" tIns="0" rIns="0" bIns="0" rtlCol="0" anchor="t"/>
          <a:lstStyle/>
          <a:p>
            <a:pPr marL="0" indent="0" algn="ctr">
              <a:buNone/>
            </a:pPr>
            <a:r>
              <a:rPr lang="en-US" sz="1400" b="1" dirty="0">
                <a:solidFill>
                  <a:srgbClr val="0B1F4B"/>
                </a:solidFill>
              </a:rPr>
              <a:t>Plan</a:t>
            </a:r>
            <a:endParaRPr lang="en-US" sz="1400" dirty="0"/>
          </a:p>
        </p:txBody>
      </p:sp>
      <p:sp>
        <p:nvSpPr>
          <p:cNvPr id="16" name="Text 13"/>
          <p:cNvSpPr txBox="1"/>
          <p:nvPr/>
        </p:nvSpPr>
        <p:spPr>
          <a:xfrm>
            <a:off x="1874520" y="2194560"/>
            <a:ext cx="1188720" cy="502920"/>
          </a:xfrm>
          <a:prstGeom prst="rect">
            <a:avLst/>
          </a:prstGeom>
          <a:noFill/>
          <a:ln/>
        </p:spPr>
        <p:txBody>
          <a:bodyPr wrap="square" lIns="0" tIns="0" rIns="0" bIns="0" rtlCol="0" anchor="t"/>
          <a:lstStyle/>
          <a:p>
            <a:pPr marL="0" indent="0" algn="ctr">
              <a:buNone/>
            </a:pPr>
            <a:r>
              <a:rPr lang="en-US" sz="1150" dirty="0">
                <a:solidFill>
                  <a:srgbClr val="6B7280"/>
                </a:solidFill>
              </a:rPr>
              <a:t>Scope, site structure</a:t>
            </a:r>
            <a:endParaRPr lang="en-US" sz="1150" dirty="0"/>
          </a:p>
        </p:txBody>
      </p:sp>
      <p:sp>
        <p:nvSpPr>
          <p:cNvPr id="17" name="Shape 14"/>
          <p:cNvSpPr/>
          <p:nvPr/>
        </p:nvSpPr>
        <p:spPr>
          <a:xfrm>
            <a:off x="1856232" y="2834640"/>
            <a:ext cx="1225296" cy="1280160"/>
          </a:xfrm>
          <a:prstGeom prst="roundRect">
            <a:avLst>
              <a:gd name="adj" fmla="val 5224"/>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8" name="Text 15"/>
          <p:cNvSpPr txBox="1"/>
          <p:nvPr/>
        </p:nvSpPr>
        <p:spPr>
          <a:xfrm>
            <a:off x="1856232" y="2926080"/>
            <a:ext cx="1225296" cy="182880"/>
          </a:xfrm>
          <a:prstGeom prst="rect">
            <a:avLst/>
          </a:prstGeom>
          <a:noFill/>
          <a:ln/>
        </p:spPr>
        <p:txBody>
          <a:bodyPr wrap="square" lIns="0" tIns="0" rIns="0" bIns="0" rtlCol="0" anchor="t"/>
          <a:lstStyle/>
          <a:p>
            <a:pPr marL="0" indent="0" algn="ctr">
              <a:buNone/>
            </a:pPr>
            <a:r>
              <a:rPr lang="en-US" sz="900" b="1" kern="0" spc="150" dirty="0">
                <a:solidFill>
                  <a:srgbClr val="2F5BFF"/>
                </a:solidFill>
              </a:rPr>
              <a:t>OUTPUT</a:t>
            </a:r>
            <a:endParaRPr lang="en-US" sz="900" dirty="0"/>
          </a:p>
        </p:txBody>
      </p:sp>
      <p:sp>
        <p:nvSpPr>
          <p:cNvPr id="19" name="Text 16"/>
          <p:cNvSpPr txBox="1"/>
          <p:nvPr/>
        </p:nvSpPr>
        <p:spPr>
          <a:xfrm>
            <a:off x="1920240" y="3154680"/>
            <a:ext cx="1097280" cy="914400"/>
          </a:xfrm>
          <a:prstGeom prst="rect">
            <a:avLst/>
          </a:prstGeom>
          <a:noFill/>
          <a:ln/>
        </p:spPr>
        <p:txBody>
          <a:bodyPr wrap="square" lIns="0" tIns="0" rIns="0" bIns="0" rtlCol="0" anchor="ctr"/>
          <a:lstStyle/>
          <a:p>
            <a:pPr marL="0" indent="0" algn="ctr">
              <a:buNone/>
            </a:pPr>
            <a:r>
              <a:rPr lang="en-US" sz="1200" b="1" dirty="0">
                <a:solidFill>
                  <a:srgbClr val="0B1F4B"/>
                </a:solidFill>
              </a:rPr>
              <a:t>Site map, 12 requirements</a:t>
            </a:r>
            <a:endParaRPr lang="en-US" sz="1200" dirty="0"/>
          </a:p>
        </p:txBody>
      </p:sp>
      <p:sp>
        <p:nvSpPr>
          <p:cNvPr id="20" name="Shape 17"/>
          <p:cNvSpPr/>
          <p:nvPr/>
        </p:nvSpPr>
        <p:spPr>
          <a:xfrm>
            <a:off x="3611880" y="1280160"/>
            <a:ext cx="457200" cy="457200"/>
          </a:xfrm>
          <a:prstGeom prst="ellipse">
            <a:avLst/>
          </a:prstGeom>
          <a:solidFill>
            <a:srgbClr val="2F5BFF"/>
          </a:solidFill>
          <a:ln w="12700">
            <a:solidFill>
              <a:srgbClr val="2F5BFF"/>
            </a:solidFill>
            <a:prstDash val="solid"/>
          </a:ln>
        </p:spPr>
      </p:sp>
      <p:sp>
        <p:nvSpPr>
          <p:cNvPr id="21" name="Text 18"/>
          <p:cNvSpPr txBox="1"/>
          <p:nvPr/>
        </p:nvSpPr>
        <p:spPr>
          <a:xfrm>
            <a:off x="3611880" y="1280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22" name="Text 19"/>
          <p:cNvSpPr txBox="1"/>
          <p:nvPr/>
        </p:nvSpPr>
        <p:spPr>
          <a:xfrm>
            <a:off x="3200400" y="1874520"/>
            <a:ext cx="1280160" cy="274320"/>
          </a:xfrm>
          <a:prstGeom prst="rect">
            <a:avLst/>
          </a:prstGeom>
          <a:noFill/>
          <a:ln/>
        </p:spPr>
        <p:txBody>
          <a:bodyPr wrap="square" lIns="0" tIns="0" rIns="0" bIns="0" rtlCol="0" anchor="t"/>
          <a:lstStyle/>
          <a:p>
            <a:pPr marL="0" indent="0" algn="ctr">
              <a:buNone/>
            </a:pPr>
            <a:r>
              <a:rPr lang="en-US" sz="1400" b="1" dirty="0">
                <a:solidFill>
                  <a:srgbClr val="0B1F4B"/>
                </a:solidFill>
              </a:rPr>
              <a:t>Wireframe</a:t>
            </a:r>
            <a:endParaRPr lang="en-US" sz="1400" dirty="0"/>
          </a:p>
        </p:txBody>
      </p:sp>
      <p:sp>
        <p:nvSpPr>
          <p:cNvPr id="23" name="Text 20"/>
          <p:cNvSpPr txBox="1"/>
          <p:nvPr/>
        </p:nvSpPr>
        <p:spPr>
          <a:xfrm>
            <a:off x="3246120" y="2194560"/>
            <a:ext cx="1188720" cy="502920"/>
          </a:xfrm>
          <a:prstGeom prst="rect">
            <a:avLst/>
          </a:prstGeom>
          <a:noFill/>
          <a:ln/>
        </p:spPr>
        <p:txBody>
          <a:bodyPr wrap="square" lIns="0" tIns="0" rIns="0" bIns="0" rtlCol="0" anchor="t"/>
          <a:lstStyle/>
          <a:p>
            <a:pPr marL="0" indent="0" algn="ctr">
              <a:buNone/>
            </a:pPr>
            <a:r>
              <a:rPr lang="en-US" sz="1150" dirty="0">
                <a:solidFill>
                  <a:srgbClr val="6B7280"/>
                </a:solidFill>
              </a:rPr>
              <a:t>Layout before style</a:t>
            </a:r>
            <a:endParaRPr lang="en-US" sz="1150" dirty="0"/>
          </a:p>
        </p:txBody>
      </p:sp>
      <p:sp>
        <p:nvSpPr>
          <p:cNvPr id="24" name="Shape 21"/>
          <p:cNvSpPr/>
          <p:nvPr/>
        </p:nvSpPr>
        <p:spPr>
          <a:xfrm>
            <a:off x="3227832" y="2834640"/>
            <a:ext cx="1225296" cy="1280160"/>
          </a:xfrm>
          <a:prstGeom prst="roundRect">
            <a:avLst>
              <a:gd name="adj" fmla="val 5224"/>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5" name="Text 22"/>
          <p:cNvSpPr txBox="1"/>
          <p:nvPr/>
        </p:nvSpPr>
        <p:spPr>
          <a:xfrm>
            <a:off x="3227832" y="2926080"/>
            <a:ext cx="1225296" cy="182880"/>
          </a:xfrm>
          <a:prstGeom prst="rect">
            <a:avLst/>
          </a:prstGeom>
          <a:noFill/>
          <a:ln/>
        </p:spPr>
        <p:txBody>
          <a:bodyPr wrap="square" lIns="0" tIns="0" rIns="0" bIns="0" rtlCol="0" anchor="t"/>
          <a:lstStyle/>
          <a:p>
            <a:pPr marL="0" indent="0" algn="ctr">
              <a:buNone/>
            </a:pPr>
            <a:r>
              <a:rPr lang="en-US" sz="900" b="1" kern="0" spc="150" dirty="0">
                <a:solidFill>
                  <a:srgbClr val="2F5BFF"/>
                </a:solidFill>
              </a:rPr>
              <a:t>OUTPUT</a:t>
            </a:r>
            <a:endParaRPr lang="en-US" sz="900" dirty="0"/>
          </a:p>
        </p:txBody>
      </p:sp>
      <p:sp>
        <p:nvSpPr>
          <p:cNvPr id="26" name="Text 23"/>
          <p:cNvSpPr txBox="1"/>
          <p:nvPr/>
        </p:nvSpPr>
        <p:spPr>
          <a:xfrm>
            <a:off x="3291840" y="3154680"/>
            <a:ext cx="1097280" cy="914400"/>
          </a:xfrm>
          <a:prstGeom prst="rect">
            <a:avLst/>
          </a:prstGeom>
          <a:noFill/>
          <a:ln/>
        </p:spPr>
        <p:txBody>
          <a:bodyPr wrap="square" lIns="0" tIns="0" rIns="0" bIns="0" rtlCol="0" anchor="ctr"/>
          <a:lstStyle/>
          <a:p>
            <a:pPr marL="0" indent="0" algn="ctr">
              <a:buNone/>
            </a:pPr>
            <a:r>
              <a:rPr lang="en-US" sz="1200" b="1" dirty="0">
                <a:solidFill>
                  <a:srgbClr val="0B1F4B"/>
                </a:solidFill>
              </a:rPr>
              <a:t>5 key screen wireframes</a:t>
            </a:r>
            <a:endParaRPr lang="en-US" sz="1200" dirty="0"/>
          </a:p>
        </p:txBody>
      </p:sp>
      <p:sp>
        <p:nvSpPr>
          <p:cNvPr id="27" name="Shape 24"/>
          <p:cNvSpPr/>
          <p:nvPr/>
        </p:nvSpPr>
        <p:spPr>
          <a:xfrm>
            <a:off x="4983480" y="1280160"/>
            <a:ext cx="457200" cy="457200"/>
          </a:xfrm>
          <a:prstGeom prst="ellipse">
            <a:avLst/>
          </a:prstGeom>
          <a:solidFill>
            <a:srgbClr val="2F5BFF"/>
          </a:solidFill>
          <a:ln w="12700">
            <a:solidFill>
              <a:srgbClr val="2F5BFF"/>
            </a:solidFill>
            <a:prstDash val="solid"/>
          </a:ln>
        </p:spPr>
      </p:sp>
      <p:sp>
        <p:nvSpPr>
          <p:cNvPr id="28" name="Text 25"/>
          <p:cNvSpPr txBox="1"/>
          <p:nvPr/>
        </p:nvSpPr>
        <p:spPr>
          <a:xfrm>
            <a:off x="4983480" y="1280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9" name="Text 26"/>
          <p:cNvSpPr txBox="1"/>
          <p:nvPr/>
        </p:nvSpPr>
        <p:spPr>
          <a:xfrm>
            <a:off x="4572000" y="1874520"/>
            <a:ext cx="1280160" cy="274320"/>
          </a:xfrm>
          <a:prstGeom prst="rect">
            <a:avLst/>
          </a:prstGeom>
          <a:noFill/>
          <a:ln/>
        </p:spPr>
        <p:txBody>
          <a:bodyPr wrap="square" lIns="0" tIns="0" rIns="0" bIns="0" rtlCol="0" anchor="t"/>
          <a:lstStyle/>
          <a:p>
            <a:pPr marL="0" indent="0" algn="ctr">
              <a:buNone/>
            </a:pPr>
            <a:r>
              <a:rPr lang="en-US" sz="1400" b="1" dirty="0">
                <a:solidFill>
                  <a:srgbClr val="0B1F4B"/>
                </a:solidFill>
              </a:rPr>
              <a:t>Design</a:t>
            </a:r>
            <a:endParaRPr lang="en-US" sz="1400" dirty="0"/>
          </a:p>
        </p:txBody>
      </p:sp>
      <p:sp>
        <p:nvSpPr>
          <p:cNvPr id="30" name="Text 27"/>
          <p:cNvSpPr txBox="1"/>
          <p:nvPr/>
        </p:nvSpPr>
        <p:spPr>
          <a:xfrm>
            <a:off x="4617720" y="2194560"/>
            <a:ext cx="1188720" cy="502920"/>
          </a:xfrm>
          <a:prstGeom prst="rect">
            <a:avLst/>
          </a:prstGeom>
          <a:noFill/>
          <a:ln/>
        </p:spPr>
        <p:txBody>
          <a:bodyPr wrap="square" lIns="0" tIns="0" rIns="0" bIns="0" rtlCol="0" anchor="t"/>
          <a:lstStyle/>
          <a:p>
            <a:pPr marL="0" indent="0" algn="ctr">
              <a:buNone/>
            </a:pPr>
            <a:r>
              <a:rPr lang="en-US" sz="1150" dirty="0">
                <a:solidFill>
                  <a:srgbClr val="6B7280"/>
                </a:solidFill>
              </a:rPr>
              <a:t>Colours, type, components</a:t>
            </a:r>
            <a:endParaRPr lang="en-US" sz="1150" dirty="0"/>
          </a:p>
        </p:txBody>
      </p:sp>
      <p:sp>
        <p:nvSpPr>
          <p:cNvPr id="31" name="Shape 28"/>
          <p:cNvSpPr/>
          <p:nvPr/>
        </p:nvSpPr>
        <p:spPr>
          <a:xfrm>
            <a:off x="4599432" y="2834640"/>
            <a:ext cx="1225296" cy="1280160"/>
          </a:xfrm>
          <a:prstGeom prst="roundRect">
            <a:avLst>
              <a:gd name="adj" fmla="val 5224"/>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2" name="Text 29"/>
          <p:cNvSpPr txBox="1"/>
          <p:nvPr/>
        </p:nvSpPr>
        <p:spPr>
          <a:xfrm>
            <a:off x="4599432" y="2926080"/>
            <a:ext cx="1225296" cy="182880"/>
          </a:xfrm>
          <a:prstGeom prst="rect">
            <a:avLst/>
          </a:prstGeom>
          <a:noFill/>
          <a:ln/>
        </p:spPr>
        <p:txBody>
          <a:bodyPr wrap="square" lIns="0" tIns="0" rIns="0" bIns="0" rtlCol="0" anchor="t"/>
          <a:lstStyle/>
          <a:p>
            <a:pPr marL="0" indent="0" algn="ctr">
              <a:buNone/>
            </a:pPr>
            <a:r>
              <a:rPr lang="en-US" sz="900" b="1" kern="0" spc="150" dirty="0">
                <a:solidFill>
                  <a:srgbClr val="2F5BFF"/>
                </a:solidFill>
              </a:rPr>
              <a:t>OUTPUT</a:t>
            </a:r>
            <a:endParaRPr lang="en-US" sz="900" dirty="0"/>
          </a:p>
        </p:txBody>
      </p:sp>
      <p:sp>
        <p:nvSpPr>
          <p:cNvPr id="33" name="Text 30"/>
          <p:cNvSpPr txBox="1"/>
          <p:nvPr/>
        </p:nvSpPr>
        <p:spPr>
          <a:xfrm>
            <a:off x="4663440" y="3154680"/>
            <a:ext cx="1097280" cy="914400"/>
          </a:xfrm>
          <a:prstGeom prst="rect">
            <a:avLst/>
          </a:prstGeom>
          <a:noFill/>
          <a:ln/>
        </p:spPr>
        <p:txBody>
          <a:bodyPr wrap="square" lIns="0" tIns="0" rIns="0" bIns="0" rtlCol="0" anchor="ctr"/>
          <a:lstStyle/>
          <a:p>
            <a:pPr marL="0" indent="0" algn="ctr">
              <a:buNone/>
            </a:pPr>
            <a:r>
              <a:rPr lang="en-US" sz="1200" b="1" dirty="0">
                <a:solidFill>
                  <a:srgbClr val="0B1F4B"/>
                </a:solidFill>
              </a:rPr>
              <a:t>Palette, type scale, states</a:t>
            </a:r>
            <a:endParaRPr lang="en-US" sz="1200" dirty="0"/>
          </a:p>
        </p:txBody>
      </p:sp>
      <p:sp>
        <p:nvSpPr>
          <p:cNvPr id="34" name="Shape 31"/>
          <p:cNvSpPr/>
          <p:nvPr/>
        </p:nvSpPr>
        <p:spPr>
          <a:xfrm>
            <a:off x="6355080" y="1280160"/>
            <a:ext cx="457200" cy="457200"/>
          </a:xfrm>
          <a:prstGeom prst="ellipse">
            <a:avLst/>
          </a:prstGeom>
          <a:solidFill>
            <a:srgbClr val="2F5BFF"/>
          </a:solidFill>
          <a:ln w="12700">
            <a:solidFill>
              <a:srgbClr val="2F5BFF"/>
            </a:solidFill>
            <a:prstDash val="solid"/>
          </a:ln>
        </p:spPr>
      </p:sp>
      <p:sp>
        <p:nvSpPr>
          <p:cNvPr id="35" name="Text 32"/>
          <p:cNvSpPr txBox="1"/>
          <p:nvPr/>
        </p:nvSpPr>
        <p:spPr>
          <a:xfrm>
            <a:off x="6355080" y="1280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36" name="Text 33"/>
          <p:cNvSpPr txBox="1"/>
          <p:nvPr/>
        </p:nvSpPr>
        <p:spPr>
          <a:xfrm>
            <a:off x="5943600" y="1874520"/>
            <a:ext cx="1280160" cy="274320"/>
          </a:xfrm>
          <a:prstGeom prst="rect">
            <a:avLst/>
          </a:prstGeom>
          <a:noFill/>
          <a:ln/>
        </p:spPr>
        <p:txBody>
          <a:bodyPr wrap="square" lIns="0" tIns="0" rIns="0" bIns="0" rtlCol="0" anchor="t"/>
          <a:lstStyle/>
          <a:p>
            <a:pPr marL="0" indent="0" algn="ctr">
              <a:buNone/>
            </a:pPr>
            <a:r>
              <a:rPr lang="en-US" sz="1400" b="1" dirty="0">
                <a:solidFill>
                  <a:srgbClr val="0B1F4B"/>
                </a:solidFill>
              </a:rPr>
              <a:t>Prototype</a:t>
            </a:r>
            <a:endParaRPr lang="en-US" sz="1400" dirty="0"/>
          </a:p>
        </p:txBody>
      </p:sp>
      <p:sp>
        <p:nvSpPr>
          <p:cNvPr id="37" name="Text 34"/>
          <p:cNvSpPr txBox="1"/>
          <p:nvPr/>
        </p:nvSpPr>
        <p:spPr>
          <a:xfrm>
            <a:off x="5989320" y="2194560"/>
            <a:ext cx="1188720" cy="502920"/>
          </a:xfrm>
          <a:prstGeom prst="rect">
            <a:avLst/>
          </a:prstGeom>
          <a:noFill/>
          <a:ln/>
        </p:spPr>
        <p:txBody>
          <a:bodyPr wrap="square" lIns="0" tIns="0" rIns="0" bIns="0" rtlCol="0" anchor="t"/>
          <a:lstStyle/>
          <a:p>
            <a:pPr marL="0" indent="0" algn="ctr">
              <a:buNone/>
            </a:pPr>
            <a:r>
              <a:rPr lang="en-US" sz="1150" dirty="0">
                <a:solidFill>
                  <a:srgbClr val="6B7280"/>
                </a:solidFill>
              </a:rPr>
              <a:t>Screen-to-screen flow</a:t>
            </a:r>
            <a:endParaRPr lang="en-US" sz="1150" dirty="0"/>
          </a:p>
        </p:txBody>
      </p:sp>
      <p:sp>
        <p:nvSpPr>
          <p:cNvPr id="38" name="Shape 35"/>
          <p:cNvSpPr/>
          <p:nvPr/>
        </p:nvSpPr>
        <p:spPr>
          <a:xfrm>
            <a:off x="5971032" y="2834640"/>
            <a:ext cx="1225296" cy="1280160"/>
          </a:xfrm>
          <a:prstGeom prst="roundRect">
            <a:avLst>
              <a:gd name="adj" fmla="val 5224"/>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9" name="Text 36"/>
          <p:cNvSpPr txBox="1"/>
          <p:nvPr/>
        </p:nvSpPr>
        <p:spPr>
          <a:xfrm>
            <a:off x="5971032" y="2926080"/>
            <a:ext cx="1225296" cy="182880"/>
          </a:xfrm>
          <a:prstGeom prst="rect">
            <a:avLst/>
          </a:prstGeom>
          <a:noFill/>
          <a:ln/>
        </p:spPr>
        <p:txBody>
          <a:bodyPr wrap="square" lIns="0" tIns="0" rIns="0" bIns="0" rtlCol="0" anchor="t"/>
          <a:lstStyle/>
          <a:p>
            <a:pPr marL="0" indent="0" algn="ctr">
              <a:buNone/>
            </a:pPr>
            <a:r>
              <a:rPr lang="en-US" sz="900" b="1" kern="0" spc="150" dirty="0">
                <a:solidFill>
                  <a:srgbClr val="2F5BFF"/>
                </a:solidFill>
              </a:rPr>
              <a:t>OUTPUT</a:t>
            </a:r>
            <a:endParaRPr lang="en-US" sz="900" dirty="0"/>
          </a:p>
        </p:txBody>
      </p:sp>
      <p:sp>
        <p:nvSpPr>
          <p:cNvPr id="40" name="Text 37"/>
          <p:cNvSpPr txBox="1"/>
          <p:nvPr/>
        </p:nvSpPr>
        <p:spPr>
          <a:xfrm>
            <a:off x="6035040" y="3154680"/>
            <a:ext cx="1097280" cy="914400"/>
          </a:xfrm>
          <a:prstGeom prst="rect">
            <a:avLst/>
          </a:prstGeom>
          <a:noFill/>
          <a:ln/>
        </p:spPr>
        <p:txBody>
          <a:bodyPr wrap="square" lIns="0" tIns="0" rIns="0" bIns="0" rtlCol="0" anchor="ctr"/>
          <a:lstStyle/>
          <a:p>
            <a:pPr marL="0" indent="0" algn="ctr">
              <a:buNone/>
            </a:pPr>
            <a:r>
              <a:rPr lang="en-US" sz="1200" b="1" dirty="0">
                <a:solidFill>
                  <a:srgbClr val="0B1F4B"/>
                </a:solidFill>
              </a:rPr>
              <a:t>Plan of 6 interactions</a:t>
            </a:r>
            <a:endParaRPr lang="en-US" sz="1200" dirty="0"/>
          </a:p>
        </p:txBody>
      </p:sp>
      <p:sp>
        <p:nvSpPr>
          <p:cNvPr id="41" name="Shape 38"/>
          <p:cNvSpPr/>
          <p:nvPr/>
        </p:nvSpPr>
        <p:spPr>
          <a:xfrm>
            <a:off x="7726680" y="1280160"/>
            <a:ext cx="457200" cy="457200"/>
          </a:xfrm>
          <a:prstGeom prst="ellipse">
            <a:avLst/>
          </a:prstGeom>
          <a:solidFill>
            <a:srgbClr val="2F5BFF"/>
          </a:solidFill>
          <a:ln w="12700">
            <a:solidFill>
              <a:srgbClr val="2F5BFF"/>
            </a:solidFill>
            <a:prstDash val="solid"/>
          </a:ln>
        </p:spPr>
      </p:sp>
      <p:sp>
        <p:nvSpPr>
          <p:cNvPr id="42" name="Text 39"/>
          <p:cNvSpPr txBox="1"/>
          <p:nvPr/>
        </p:nvSpPr>
        <p:spPr>
          <a:xfrm>
            <a:off x="7726680" y="1280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6</a:t>
            </a:r>
            <a:endParaRPr lang="en-US" sz="1600" dirty="0"/>
          </a:p>
        </p:txBody>
      </p:sp>
      <p:sp>
        <p:nvSpPr>
          <p:cNvPr id="43" name="Text 40"/>
          <p:cNvSpPr txBox="1"/>
          <p:nvPr/>
        </p:nvSpPr>
        <p:spPr>
          <a:xfrm>
            <a:off x="7315200" y="1874520"/>
            <a:ext cx="1280160" cy="274320"/>
          </a:xfrm>
          <a:prstGeom prst="rect">
            <a:avLst/>
          </a:prstGeom>
          <a:noFill/>
          <a:ln/>
        </p:spPr>
        <p:txBody>
          <a:bodyPr wrap="square" lIns="0" tIns="0" rIns="0" bIns="0" rtlCol="0" anchor="t"/>
          <a:lstStyle/>
          <a:p>
            <a:pPr marL="0" indent="0" algn="ctr">
              <a:buNone/>
            </a:pPr>
            <a:r>
              <a:rPr lang="en-US" sz="1400" b="1" dirty="0">
                <a:solidFill>
                  <a:srgbClr val="0B1F4B"/>
                </a:solidFill>
              </a:rPr>
              <a:t>Review</a:t>
            </a:r>
            <a:endParaRPr lang="en-US" sz="1400" dirty="0"/>
          </a:p>
        </p:txBody>
      </p:sp>
      <p:sp>
        <p:nvSpPr>
          <p:cNvPr id="44" name="Text 41"/>
          <p:cNvSpPr txBox="1"/>
          <p:nvPr/>
        </p:nvSpPr>
        <p:spPr>
          <a:xfrm>
            <a:off x="7360920" y="2194560"/>
            <a:ext cx="1188720" cy="502920"/>
          </a:xfrm>
          <a:prstGeom prst="rect">
            <a:avLst/>
          </a:prstGeom>
          <a:noFill/>
          <a:ln/>
        </p:spPr>
        <p:txBody>
          <a:bodyPr wrap="square" lIns="0" tIns="0" rIns="0" bIns="0" rtlCol="0" anchor="t"/>
          <a:lstStyle/>
          <a:p>
            <a:pPr marL="0" indent="0" algn="ctr">
              <a:buNone/>
            </a:pPr>
            <a:r>
              <a:rPr lang="en-US" sz="1150" dirty="0">
                <a:solidFill>
                  <a:srgbClr val="6B7280"/>
                </a:solidFill>
              </a:rPr>
              <a:t>Design inspection</a:t>
            </a:r>
            <a:endParaRPr lang="en-US" sz="1150" dirty="0"/>
          </a:p>
        </p:txBody>
      </p:sp>
      <p:sp>
        <p:nvSpPr>
          <p:cNvPr id="45" name="Shape 42"/>
          <p:cNvSpPr/>
          <p:nvPr/>
        </p:nvSpPr>
        <p:spPr>
          <a:xfrm>
            <a:off x="7342632" y="2834640"/>
            <a:ext cx="1225296" cy="1280160"/>
          </a:xfrm>
          <a:prstGeom prst="roundRect">
            <a:avLst>
              <a:gd name="adj" fmla="val 5224"/>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46" name="Text 43"/>
          <p:cNvSpPr txBox="1"/>
          <p:nvPr/>
        </p:nvSpPr>
        <p:spPr>
          <a:xfrm>
            <a:off x="7342632" y="2926080"/>
            <a:ext cx="1225296" cy="182880"/>
          </a:xfrm>
          <a:prstGeom prst="rect">
            <a:avLst/>
          </a:prstGeom>
          <a:noFill/>
          <a:ln/>
        </p:spPr>
        <p:txBody>
          <a:bodyPr wrap="square" lIns="0" tIns="0" rIns="0" bIns="0" rtlCol="0" anchor="t"/>
          <a:lstStyle/>
          <a:p>
            <a:pPr marL="0" indent="0" algn="ctr">
              <a:buNone/>
            </a:pPr>
            <a:r>
              <a:rPr lang="en-US" sz="900" b="1" kern="0" spc="150" dirty="0">
                <a:solidFill>
                  <a:srgbClr val="2F5BFF"/>
                </a:solidFill>
              </a:rPr>
              <a:t>OUTPUT</a:t>
            </a:r>
            <a:endParaRPr lang="en-US" sz="900" dirty="0"/>
          </a:p>
        </p:txBody>
      </p:sp>
      <p:sp>
        <p:nvSpPr>
          <p:cNvPr id="47" name="Text 44"/>
          <p:cNvSpPr txBox="1"/>
          <p:nvPr/>
        </p:nvSpPr>
        <p:spPr>
          <a:xfrm>
            <a:off x="7406640" y="3154680"/>
            <a:ext cx="1097280" cy="914400"/>
          </a:xfrm>
          <a:prstGeom prst="rect">
            <a:avLst/>
          </a:prstGeom>
          <a:noFill/>
          <a:ln/>
        </p:spPr>
        <p:txBody>
          <a:bodyPr wrap="square" lIns="0" tIns="0" rIns="0" bIns="0" rtlCol="0" anchor="ctr"/>
          <a:lstStyle/>
          <a:p>
            <a:pPr marL="0" indent="0" algn="ctr">
              <a:buNone/>
            </a:pPr>
            <a:r>
              <a:rPr lang="en-US" sz="1200" b="1" dirty="0">
                <a:solidFill>
                  <a:srgbClr val="0B1F4B"/>
                </a:solidFill>
              </a:rPr>
              <a:t>Checklist, risks, fixes</a:t>
            </a:r>
            <a:endParaRPr lang="en-US" sz="1200" dirty="0"/>
          </a:p>
        </p:txBody>
      </p:sp>
      <p:sp>
        <p:nvSpPr>
          <p:cNvPr id="48" name="Text 45"/>
          <p:cNvSpPr txBox="1"/>
          <p:nvPr/>
        </p:nvSpPr>
        <p:spPr>
          <a:xfrm>
            <a:off x="457200" y="4434840"/>
            <a:ext cx="8229600" cy="228600"/>
          </a:xfrm>
          <a:prstGeom prst="rect">
            <a:avLst/>
          </a:prstGeom>
          <a:noFill/>
          <a:ln/>
        </p:spPr>
        <p:txBody>
          <a:bodyPr wrap="square" lIns="0" tIns="0" rIns="0" bIns="0" rtlCol="0" anchor="t"/>
          <a:lstStyle/>
          <a:p>
            <a:pPr marL="0" indent="0">
              <a:buNone/>
            </a:pPr>
            <a:r>
              <a:rPr lang="en-US" sz="1050" dirty="0">
                <a:solidFill>
                  <a:srgbClr val="6B7280"/>
                </a:solidFill>
              </a:rPr>
              <a:t>No formal user research or usability testing is claimed; personas are assumptions.</a:t>
            </a:r>
            <a:endParaRPr lang="en-US" sz="105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06 · METHOD</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Information Architecture and User Flow</a:t>
            </a:r>
            <a:endParaRPr lang="en-US" sz="2500" dirty="0"/>
          </a:p>
        </p:txBody>
      </p:sp>
      <p:sp>
        <p:nvSpPr>
          <p:cNvPr id="5" name="Text 2"/>
          <p:cNvSpPr txBox="1"/>
          <p:nvPr/>
        </p:nvSpPr>
        <p:spPr>
          <a:xfrm>
            <a:off x="457200" y="1097280"/>
            <a:ext cx="2743200" cy="256032"/>
          </a:xfrm>
          <a:prstGeom prst="rect">
            <a:avLst/>
          </a:prstGeom>
          <a:noFill/>
          <a:ln/>
        </p:spPr>
        <p:txBody>
          <a:bodyPr wrap="square" lIns="0" tIns="0" rIns="0" bIns="0" rtlCol="0" anchor="t"/>
          <a:lstStyle/>
          <a:p>
            <a:pPr marL="0" indent="0">
              <a:buNone/>
            </a:pPr>
            <a:r>
              <a:rPr lang="en-US" sz="1300" b="1" dirty="0">
                <a:solidFill>
                  <a:srgbClr val="0B1F4B"/>
                </a:solidFill>
              </a:rPr>
              <a:t>Shopping flow</a:t>
            </a:r>
            <a:endParaRPr lang="en-US" sz="1300" dirty="0"/>
          </a:p>
        </p:txBody>
      </p:sp>
      <p:sp>
        <p:nvSpPr>
          <p:cNvPr id="6" name="Shape 3"/>
          <p:cNvSpPr/>
          <p:nvPr/>
        </p:nvSpPr>
        <p:spPr>
          <a:xfrm>
            <a:off x="5669280" y="1069848"/>
            <a:ext cx="3017520" cy="256032"/>
          </a:xfrm>
          <a:prstGeom prst="roundRect">
            <a:avLst>
              <a:gd name="adj" fmla="val 50000"/>
            </a:avLst>
          </a:prstGeom>
          <a:solidFill>
            <a:srgbClr val="E6ECFF"/>
          </a:solidFill>
          <a:ln w="12700">
            <a:solidFill>
              <a:srgbClr val="E6ECFF"/>
            </a:solidFill>
            <a:prstDash val="solid"/>
          </a:ln>
        </p:spPr>
      </p:sp>
      <p:sp>
        <p:nvSpPr>
          <p:cNvPr id="7" name="Text 4"/>
          <p:cNvSpPr txBox="1"/>
          <p:nvPr/>
        </p:nvSpPr>
        <p:spPr>
          <a:xfrm>
            <a:off x="5669280" y="1069848"/>
            <a:ext cx="3017520" cy="256032"/>
          </a:xfrm>
          <a:prstGeom prst="rect">
            <a:avLst/>
          </a:prstGeom>
          <a:noFill/>
          <a:ln/>
        </p:spPr>
        <p:txBody>
          <a:bodyPr wrap="square" lIns="0" tIns="0" rIns="0" bIns="0" rtlCol="0" anchor="ctr"/>
          <a:lstStyle/>
          <a:p>
            <a:pPr marL="0" indent="0" algn="ctr">
              <a:buNone/>
            </a:pPr>
            <a:r>
              <a:rPr lang="en-US" sz="1050" b="1" dirty="0">
                <a:solidFill>
                  <a:srgbClr val="2F5BFF"/>
                </a:solidFill>
              </a:rPr>
              <a:t>Planning diagrams: not implemented or tested</a:t>
            </a:r>
            <a:endParaRPr lang="en-US" sz="1050" dirty="0"/>
          </a:p>
        </p:txBody>
      </p:sp>
      <p:sp>
        <p:nvSpPr>
          <p:cNvPr id="8" name="Shape 5"/>
          <p:cNvSpPr/>
          <p:nvPr/>
        </p:nvSpPr>
        <p:spPr>
          <a:xfrm>
            <a:off x="457200" y="1417320"/>
            <a:ext cx="1371600" cy="822960"/>
          </a:xfrm>
          <a:prstGeom prst="roundRect">
            <a:avLst>
              <a:gd name="adj" fmla="val 7778"/>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9" name="Shape 6"/>
          <p:cNvSpPr/>
          <p:nvPr/>
        </p:nvSpPr>
        <p:spPr>
          <a:xfrm>
            <a:off x="960120" y="1481328"/>
            <a:ext cx="365760" cy="365760"/>
          </a:xfrm>
          <a:prstGeom prst="roundRect">
            <a:avLst>
              <a:gd name="adj" fmla="val 22000"/>
            </a:avLst>
          </a:prstGeom>
          <a:solidFill>
            <a:srgbClr val="2F5BFF"/>
          </a:solidFill>
          <a:ln w="12700">
            <a:solidFill>
              <a:srgbClr val="2F5BFF"/>
            </a:solidFill>
            <a:prstDash val="solid"/>
          </a:ln>
        </p:spPr>
      </p:sp>
      <p:pic>
        <p:nvPicPr>
          <p:cNvPr id="10" name="Image 0" descr="preencoded.png"/>
          <p:cNvPicPr>
            <a:picLocks noChangeAspect="1"/>
          </p:cNvPicPr>
          <p:nvPr/>
        </p:nvPicPr>
        <p:blipFill>
          <a:blip r:embed="rId3"/>
          <a:stretch>
            <a:fillRect/>
          </a:stretch>
        </p:blipFill>
        <p:spPr>
          <a:xfrm>
            <a:off x="1047902" y="1569110"/>
            <a:ext cx="190195" cy="190195"/>
          </a:xfrm>
          <a:prstGeom prst="rect">
            <a:avLst/>
          </a:prstGeom>
        </p:spPr>
      </p:pic>
      <p:sp>
        <p:nvSpPr>
          <p:cNvPr id="11" name="Text 7"/>
          <p:cNvSpPr txBox="1"/>
          <p:nvPr/>
        </p:nvSpPr>
        <p:spPr>
          <a:xfrm>
            <a:off x="457200" y="1892808"/>
            <a:ext cx="1371600" cy="320040"/>
          </a:xfrm>
          <a:prstGeom prst="rect">
            <a:avLst/>
          </a:prstGeom>
          <a:noFill/>
          <a:ln/>
        </p:spPr>
        <p:txBody>
          <a:bodyPr wrap="square" lIns="0" tIns="0" rIns="0" bIns="0" rtlCol="0" anchor="t"/>
          <a:lstStyle/>
          <a:p>
            <a:pPr marL="0" indent="0" algn="ctr">
              <a:buNone/>
            </a:pPr>
            <a:r>
              <a:rPr lang="en-US" sz="1200" b="1" dirty="0">
                <a:solidFill>
                  <a:srgbClr val="0B1F4B"/>
                </a:solidFill>
              </a:rPr>
              <a:t>Home</a:t>
            </a:r>
            <a:endParaRPr lang="en-US" sz="1200" dirty="0"/>
          </a:p>
        </p:txBody>
      </p:sp>
      <p:sp>
        <p:nvSpPr>
          <p:cNvPr id="12" name="Shape 8"/>
          <p:cNvSpPr/>
          <p:nvPr/>
        </p:nvSpPr>
        <p:spPr>
          <a:xfrm>
            <a:off x="1828800" y="1828800"/>
            <a:ext cx="310896" cy="0"/>
          </a:xfrm>
          <a:prstGeom prst="line">
            <a:avLst/>
          </a:prstGeom>
          <a:noFill/>
          <a:ln w="19050">
            <a:solidFill>
              <a:srgbClr val="2F5BFF"/>
            </a:solidFill>
            <a:prstDash val="solid"/>
            <a:tailEnd type="triangle"/>
          </a:ln>
        </p:spPr>
      </p:sp>
      <p:sp>
        <p:nvSpPr>
          <p:cNvPr id="13" name="Shape 9"/>
          <p:cNvSpPr/>
          <p:nvPr/>
        </p:nvSpPr>
        <p:spPr>
          <a:xfrm>
            <a:off x="2139696" y="1417320"/>
            <a:ext cx="1371600" cy="822960"/>
          </a:xfrm>
          <a:prstGeom prst="roundRect">
            <a:avLst>
              <a:gd name="adj" fmla="val 7778"/>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4" name="Shape 10"/>
          <p:cNvSpPr/>
          <p:nvPr/>
        </p:nvSpPr>
        <p:spPr>
          <a:xfrm>
            <a:off x="2642616" y="1481328"/>
            <a:ext cx="365760" cy="365760"/>
          </a:xfrm>
          <a:prstGeom prst="roundRect">
            <a:avLst>
              <a:gd name="adj" fmla="val 22000"/>
            </a:avLst>
          </a:prstGeom>
          <a:solidFill>
            <a:srgbClr val="2F5BFF"/>
          </a:solidFill>
          <a:ln w="12700">
            <a:solidFill>
              <a:srgbClr val="2F5BFF"/>
            </a:solidFill>
            <a:prstDash val="solid"/>
          </a:ln>
        </p:spPr>
      </p:sp>
      <p:pic>
        <p:nvPicPr>
          <p:cNvPr id="15" name="Image 1" descr="preencoded.png"/>
          <p:cNvPicPr>
            <a:picLocks noChangeAspect="1"/>
          </p:cNvPicPr>
          <p:nvPr/>
        </p:nvPicPr>
        <p:blipFill>
          <a:blip r:embed="rId4"/>
          <a:stretch>
            <a:fillRect/>
          </a:stretch>
        </p:blipFill>
        <p:spPr>
          <a:xfrm>
            <a:off x="2730398" y="1569110"/>
            <a:ext cx="190195" cy="190195"/>
          </a:xfrm>
          <a:prstGeom prst="rect">
            <a:avLst/>
          </a:prstGeom>
        </p:spPr>
      </p:pic>
      <p:sp>
        <p:nvSpPr>
          <p:cNvPr id="16" name="Text 11"/>
          <p:cNvSpPr txBox="1"/>
          <p:nvPr/>
        </p:nvSpPr>
        <p:spPr>
          <a:xfrm>
            <a:off x="2139696" y="1892808"/>
            <a:ext cx="1371600" cy="320040"/>
          </a:xfrm>
          <a:prstGeom prst="rect">
            <a:avLst/>
          </a:prstGeom>
          <a:noFill/>
          <a:ln/>
        </p:spPr>
        <p:txBody>
          <a:bodyPr wrap="square" lIns="0" tIns="0" rIns="0" bIns="0" rtlCol="0" anchor="t"/>
          <a:lstStyle/>
          <a:p>
            <a:pPr marL="0" indent="0" algn="ctr">
              <a:buNone/>
            </a:pPr>
            <a:r>
              <a:rPr lang="en-US" sz="1200" b="1" dirty="0">
                <a:solidFill>
                  <a:srgbClr val="0B1F4B"/>
                </a:solidFill>
              </a:rPr>
              <a:t>Product Listing</a:t>
            </a:r>
            <a:endParaRPr lang="en-US" sz="1200" dirty="0"/>
          </a:p>
        </p:txBody>
      </p:sp>
      <p:sp>
        <p:nvSpPr>
          <p:cNvPr id="17" name="Shape 12"/>
          <p:cNvSpPr/>
          <p:nvPr/>
        </p:nvSpPr>
        <p:spPr>
          <a:xfrm>
            <a:off x="3511296" y="1828800"/>
            <a:ext cx="310896" cy="0"/>
          </a:xfrm>
          <a:prstGeom prst="line">
            <a:avLst/>
          </a:prstGeom>
          <a:noFill/>
          <a:ln w="19050">
            <a:solidFill>
              <a:srgbClr val="2F5BFF"/>
            </a:solidFill>
            <a:prstDash val="solid"/>
            <a:tailEnd type="triangle"/>
          </a:ln>
        </p:spPr>
      </p:sp>
      <p:sp>
        <p:nvSpPr>
          <p:cNvPr id="18" name="Shape 13"/>
          <p:cNvSpPr/>
          <p:nvPr/>
        </p:nvSpPr>
        <p:spPr>
          <a:xfrm>
            <a:off x="3822192" y="1417320"/>
            <a:ext cx="1371600" cy="822960"/>
          </a:xfrm>
          <a:prstGeom prst="roundRect">
            <a:avLst>
              <a:gd name="adj" fmla="val 7778"/>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9" name="Shape 14"/>
          <p:cNvSpPr/>
          <p:nvPr/>
        </p:nvSpPr>
        <p:spPr>
          <a:xfrm>
            <a:off x="4325112" y="1481328"/>
            <a:ext cx="365760" cy="365760"/>
          </a:xfrm>
          <a:prstGeom prst="roundRect">
            <a:avLst>
              <a:gd name="adj" fmla="val 22000"/>
            </a:avLst>
          </a:prstGeom>
          <a:solidFill>
            <a:srgbClr val="2F5BFF"/>
          </a:solidFill>
          <a:ln w="12700">
            <a:solidFill>
              <a:srgbClr val="2F5BFF"/>
            </a:solidFill>
            <a:prstDash val="solid"/>
          </a:ln>
        </p:spPr>
      </p:sp>
      <p:pic>
        <p:nvPicPr>
          <p:cNvPr id="20" name="Image 2" descr="preencoded.png"/>
          <p:cNvPicPr>
            <a:picLocks noChangeAspect="1"/>
          </p:cNvPicPr>
          <p:nvPr/>
        </p:nvPicPr>
        <p:blipFill>
          <a:blip r:embed="rId5"/>
          <a:stretch>
            <a:fillRect/>
          </a:stretch>
        </p:blipFill>
        <p:spPr>
          <a:xfrm>
            <a:off x="4412894" y="1569110"/>
            <a:ext cx="190195" cy="190195"/>
          </a:xfrm>
          <a:prstGeom prst="rect">
            <a:avLst/>
          </a:prstGeom>
        </p:spPr>
      </p:pic>
      <p:sp>
        <p:nvSpPr>
          <p:cNvPr id="21" name="Text 15"/>
          <p:cNvSpPr txBox="1"/>
          <p:nvPr/>
        </p:nvSpPr>
        <p:spPr>
          <a:xfrm>
            <a:off x="3822192" y="1892808"/>
            <a:ext cx="1371600" cy="320040"/>
          </a:xfrm>
          <a:prstGeom prst="rect">
            <a:avLst/>
          </a:prstGeom>
          <a:noFill/>
          <a:ln/>
        </p:spPr>
        <p:txBody>
          <a:bodyPr wrap="square" lIns="0" tIns="0" rIns="0" bIns="0" rtlCol="0" anchor="t"/>
          <a:lstStyle/>
          <a:p>
            <a:pPr marL="0" indent="0" algn="ctr">
              <a:buNone/>
            </a:pPr>
            <a:r>
              <a:rPr lang="en-US" sz="1200" b="1" dirty="0">
                <a:solidFill>
                  <a:srgbClr val="0B1F4B"/>
                </a:solidFill>
              </a:rPr>
              <a:t>Product Details</a:t>
            </a:r>
            <a:endParaRPr lang="en-US" sz="1200" dirty="0"/>
          </a:p>
        </p:txBody>
      </p:sp>
      <p:sp>
        <p:nvSpPr>
          <p:cNvPr id="22" name="Shape 16"/>
          <p:cNvSpPr/>
          <p:nvPr/>
        </p:nvSpPr>
        <p:spPr>
          <a:xfrm>
            <a:off x="5193792" y="1828800"/>
            <a:ext cx="310896" cy="0"/>
          </a:xfrm>
          <a:prstGeom prst="line">
            <a:avLst/>
          </a:prstGeom>
          <a:noFill/>
          <a:ln w="19050">
            <a:solidFill>
              <a:srgbClr val="2F5BFF"/>
            </a:solidFill>
            <a:prstDash val="solid"/>
            <a:tailEnd type="triangle"/>
          </a:ln>
        </p:spPr>
      </p:sp>
      <p:sp>
        <p:nvSpPr>
          <p:cNvPr id="23" name="Shape 17"/>
          <p:cNvSpPr/>
          <p:nvPr/>
        </p:nvSpPr>
        <p:spPr>
          <a:xfrm>
            <a:off x="5504688" y="1417320"/>
            <a:ext cx="1371600" cy="822960"/>
          </a:xfrm>
          <a:prstGeom prst="roundRect">
            <a:avLst>
              <a:gd name="adj" fmla="val 7778"/>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4" name="Shape 18"/>
          <p:cNvSpPr/>
          <p:nvPr/>
        </p:nvSpPr>
        <p:spPr>
          <a:xfrm>
            <a:off x="6007608" y="1481328"/>
            <a:ext cx="365760" cy="365760"/>
          </a:xfrm>
          <a:prstGeom prst="roundRect">
            <a:avLst>
              <a:gd name="adj" fmla="val 22000"/>
            </a:avLst>
          </a:prstGeom>
          <a:solidFill>
            <a:srgbClr val="2F5BFF"/>
          </a:solidFill>
          <a:ln w="12700">
            <a:solidFill>
              <a:srgbClr val="2F5BFF"/>
            </a:solidFill>
            <a:prstDash val="solid"/>
          </a:ln>
        </p:spPr>
      </p:sp>
      <p:pic>
        <p:nvPicPr>
          <p:cNvPr id="25" name="Image 3" descr="preencoded.png"/>
          <p:cNvPicPr>
            <a:picLocks noChangeAspect="1"/>
          </p:cNvPicPr>
          <p:nvPr/>
        </p:nvPicPr>
        <p:blipFill>
          <a:blip r:embed="rId6"/>
          <a:stretch>
            <a:fillRect/>
          </a:stretch>
        </p:blipFill>
        <p:spPr>
          <a:xfrm>
            <a:off x="6095390" y="1569110"/>
            <a:ext cx="190195" cy="190195"/>
          </a:xfrm>
          <a:prstGeom prst="rect">
            <a:avLst/>
          </a:prstGeom>
        </p:spPr>
      </p:pic>
      <p:sp>
        <p:nvSpPr>
          <p:cNvPr id="26" name="Text 19"/>
          <p:cNvSpPr txBox="1"/>
          <p:nvPr/>
        </p:nvSpPr>
        <p:spPr>
          <a:xfrm>
            <a:off x="5504688" y="1892808"/>
            <a:ext cx="1371600" cy="320040"/>
          </a:xfrm>
          <a:prstGeom prst="rect">
            <a:avLst/>
          </a:prstGeom>
          <a:noFill/>
          <a:ln/>
        </p:spPr>
        <p:txBody>
          <a:bodyPr wrap="square" lIns="0" tIns="0" rIns="0" bIns="0" rtlCol="0" anchor="t"/>
          <a:lstStyle/>
          <a:p>
            <a:pPr marL="0" indent="0" algn="ctr">
              <a:buNone/>
            </a:pPr>
            <a:r>
              <a:rPr lang="en-US" sz="1200" b="1" dirty="0">
                <a:solidFill>
                  <a:srgbClr val="0B1F4B"/>
                </a:solidFill>
              </a:rPr>
              <a:t>Cart</a:t>
            </a:r>
            <a:endParaRPr lang="en-US" sz="1200" dirty="0"/>
          </a:p>
        </p:txBody>
      </p:sp>
      <p:sp>
        <p:nvSpPr>
          <p:cNvPr id="27" name="Shape 20"/>
          <p:cNvSpPr/>
          <p:nvPr/>
        </p:nvSpPr>
        <p:spPr>
          <a:xfrm>
            <a:off x="6876288" y="1828800"/>
            <a:ext cx="310896" cy="0"/>
          </a:xfrm>
          <a:prstGeom prst="line">
            <a:avLst/>
          </a:prstGeom>
          <a:noFill/>
          <a:ln w="19050">
            <a:solidFill>
              <a:srgbClr val="2F5BFF"/>
            </a:solidFill>
            <a:prstDash val="solid"/>
            <a:tailEnd type="triangle"/>
          </a:ln>
        </p:spPr>
      </p:sp>
      <p:sp>
        <p:nvSpPr>
          <p:cNvPr id="28" name="Shape 21"/>
          <p:cNvSpPr/>
          <p:nvPr/>
        </p:nvSpPr>
        <p:spPr>
          <a:xfrm>
            <a:off x="7187184" y="1417320"/>
            <a:ext cx="1371600" cy="822960"/>
          </a:xfrm>
          <a:prstGeom prst="roundRect">
            <a:avLst>
              <a:gd name="adj" fmla="val 7778"/>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9" name="Shape 22"/>
          <p:cNvSpPr/>
          <p:nvPr/>
        </p:nvSpPr>
        <p:spPr>
          <a:xfrm>
            <a:off x="7690104" y="1481328"/>
            <a:ext cx="365760" cy="365760"/>
          </a:xfrm>
          <a:prstGeom prst="roundRect">
            <a:avLst>
              <a:gd name="adj" fmla="val 22000"/>
            </a:avLst>
          </a:prstGeom>
          <a:solidFill>
            <a:srgbClr val="0B1F4B"/>
          </a:solidFill>
          <a:ln w="12700">
            <a:solidFill>
              <a:srgbClr val="0B1F4B"/>
            </a:solidFill>
            <a:prstDash val="solid"/>
          </a:ln>
        </p:spPr>
      </p:sp>
      <p:pic>
        <p:nvPicPr>
          <p:cNvPr id="30" name="Image 4" descr="preencoded.png"/>
          <p:cNvPicPr>
            <a:picLocks noChangeAspect="1"/>
          </p:cNvPicPr>
          <p:nvPr/>
        </p:nvPicPr>
        <p:blipFill>
          <a:blip r:embed="rId7"/>
          <a:stretch>
            <a:fillRect/>
          </a:stretch>
        </p:blipFill>
        <p:spPr>
          <a:xfrm>
            <a:off x="7777886" y="1569110"/>
            <a:ext cx="190195" cy="190195"/>
          </a:xfrm>
          <a:prstGeom prst="rect">
            <a:avLst/>
          </a:prstGeom>
        </p:spPr>
      </p:pic>
      <p:sp>
        <p:nvSpPr>
          <p:cNvPr id="31" name="Text 23"/>
          <p:cNvSpPr txBox="1"/>
          <p:nvPr/>
        </p:nvSpPr>
        <p:spPr>
          <a:xfrm>
            <a:off x="7187184" y="1892808"/>
            <a:ext cx="1371600" cy="320040"/>
          </a:xfrm>
          <a:prstGeom prst="rect">
            <a:avLst/>
          </a:prstGeom>
          <a:noFill/>
          <a:ln/>
        </p:spPr>
        <p:txBody>
          <a:bodyPr wrap="square" lIns="0" tIns="0" rIns="0" bIns="0" rtlCol="0" anchor="t"/>
          <a:lstStyle/>
          <a:p>
            <a:pPr marL="0" indent="0" algn="ctr">
              <a:buNone/>
            </a:pPr>
            <a:r>
              <a:rPr lang="en-US" sz="1200" b="1" dirty="0">
                <a:solidFill>
                  <a:srgbClr val="0B1F4B"/>
                </a:solidFill>
              </a:rPr>
              <a:t>Checkout</a:t>
            </a:r>
            <a:endParaRPr lang="en-US" sz="1200" dirty="0"/>
          </a:p>
        </p:txBody>
      </p:sp>
      <p:sp>
        <p:nvSpPr>
          <p:cNvPr id="32" name="Text 24"/>
          <p:cNvSpPr txBox="1"/>
          <p:nvPr/>
        </p:nvSpPr>
        <p:spPr>
          <a:xfrm>
            <a:off x="457200" y="2395728"/>
            <a:ext cx="4572000" cy="256032"/>
          </a:xfrm>
          <a:prstGeom prst="rect">
            <a:avLst/>
          </a:prstGeom>
          <a:noFill/>
          <a:ln/>
        </p:spPr>
        <p:txBody>
          <a:bodyPr wrap="square" lIns="0" tIns="0" rIns="0" bIns="0" rtlCol="0" anchor="t"/>
          <a:lstStyle/>
          <a:p>
            <a:pPr marL="0" indent="0">
              <a:buNone/>
            </a:pPr>
            <a:r>
              <a:rPr lang="en-US" sz="1300" b="1" dirty="0">
                <a:solidFill>
                  <a:srgbClr val="0B1F4B"/>
                </a:solidFill>
              </a:rPr>
              <a:t>Site map (information architecture)</a:t>
            </a:r>
            <a:endParaRPr lang="en-US" sz="1300" dirty="0"/>
          </a:p>
        </p:txBody>
      </p:sp>
      <p:sp>
        <p:nvSpPr>
          <p:cNvPr id="33" name="Shape 25"/>
          <p:cNvSpPr/>
          <p:nvPr/>
        </p:nvSpPr>
        <p:spPr>
          <a:xfrm>
            <a:off x="3291840" y="2697480"/>
            <a:ext cx="2560320" cy="347472"/>
          </a:xfrm>
          <a:prstGeom prst="roundRect">
            <a:avLst>
              <a:gd name="adj" fmla="val 15789"/>
            </a:avLst>
          </a:prstGeom>
          <a:solidFill>
            <a:srgbClr val="0B1F4B"/>
          </a:solidFill>
          <a:ln w="12700">
            <a:solidFill>
              <a:srgbClr val="0B1F4B"/>
            </a:solidFill>
            <a:prstDash val="solid"/>
          </a:ln>
        </p:spPr>
      </p:sp>
      <p:sp>
        <p:nvSpPr>
          <p:cNvPr id="34" name="Text 26"/>
          <p:cNvSpPr txBox="1"/>
          <p:nvPr/>
        </p:nvSpPr>
        <p:spPr>
          <a:xfrm>
            <a:off x="3291840" y="2697480"/>
            <a:ext cx="2560320" cy="347472"/>
          </a:xfrm>
          <a:prstGeom prst="rect">
            <a:avLst/>
          </a:prstGeom>
          <a:noFill/>
          <a:ln/>
        </p:spPr>
        <p:txBody>
          <a:bodyPr wrap="square" lIns="0" tIns="0" rIns="0" bIns="0" rtlCol="0" anchor="ctr"/>
          <a:lstStyle/>
          <a:p>
            <a:pPr marL="0" indent="0" algn="ctr">
              <a:buNone/>
            </a:pPr>
            <a:r>
              <a:rPr lang="en-US" sz="1300" b="1" dirty="0">
                <a:solidFill>
                  <a:srgbClr val="FFFFFF"/>
                </a:solidFill>
              </a:rPr>
              <a:t>Home</a:t>
            </a:r>
            <a:endParaRPr lang="en-US" sz="1300" dirty="0"/>
          </a:p>
        </p:txBody>
      </p:sp>
      <p:sp>
        <p:nvSpPr>
          <p:cNvPr id="35" name="Shape 27"/>
          <p:cNvSpPr/>
          <p:nvPr/>
        </p:nvSpPr>
        <p:spPr>
          <a:xfrm>
            <a:off x="457200" y="3200400"/>
            <a:ext cx="1371600" cy="365760"/>
          </a:xfrm>
          <a:prstGeom prst="roundRect">
            <a:avLst>
              <a:gd name="adj" fmla="val 12500"/>
            </a:avLst>
          </a:prstGeom>
          <a:solidFill>
            <a:srgbClr val="E6ECFF"/>
          </a:solidFill>
          <a:ln w="12700">
            <a:solidFill>
              <a:srgbClr val="E6ECFF"/>
            </a:solidFill>
            <a:prstDash val="solid"/>
          </a:ln>
        </p:spPr>
      </p:sp>
      <p:sp>
        <p:nvSpPr>
          <p:cNvPr id="36" name="Text 28"/>
          <p:cNvSpPr txBox="1"/>
          <p:nvPr/>
        </p:nvSpPr>
        <p:spPr>
          <a:xfrm>
            <a:off x="457200" y="3200400"/>
            <a:ext cx="1371600" cy="365760"/>
          </a:xfrm>
          <a:prstGeom prst="rect">
            <a:avLst/>
          </a:prstGeom>
          <a:noFill/>
          <a:ln/>
        </p:spPr>
        <p:txBody>
          <a:bodyPr wrap="square" lIns="0" tIns="0" rIns="0" bIns="0" rtlCol="0" anchor="ctr"/>
          <a:lstStyle/>
          <a:p>
            <a:pPr marL="0" indent="0" algn="ctr">
              <a:buNone/>
            </a:pPr>
            <a:r>
              <a:rPr lang="en-US" sz="1150" b="1" dirty="0">
                <a:solidFill>
                  <a:srgbClr val="0B1F4B"/>
                </a:solidFill>
              </a:rPr>
              <a:t>Category listing</a:t>
            </a:r>
            <a:endParaRPr lang="en-US" sz="1150" dirty="0"/>
          </a:p>
        </p:txBody>
      </p:sp>
      <p:sp>
        <p:nvSpPr>
          <p:cNvPr id="37" name="Shape 29"/>
          <p:cNvSpPr/>
          <p:nvPr/>
        </p:nvSpPr>
        <p:spPr>
          <a:xfrm>
            <a:off x="457200" y="3657600"/>
            <a:ext cx="1371600" cy="347472"/>
          </a:xfrm>
          <a:prstGeom prst="roundRect">
            <a:avLst>
              <a:gd name="adj" fmla="val 13158"/>
            </a:avLst>
          </a:prstGeom>
          <a:solidFill>
            <a:srgbClr val="FFFFFF"/>
          </a:solidFill>
          <a:ln w="9525">
            <a:solidFill>
              <a:srgbClr val="DDE3F0"/>
            </a:solidFill>
            <a:prstDash val="solid"/>
          </a:ln>
        </p:spPr>
      </p:sp>
      <p:sp>
        <p:nvSpPr>
          <p:cNvPr id="38" name="Text 30"/>
          <p:cNvSpPr txBox="1"/>
          <p:nvPr/>
        </p:nvSpPr>
        <p:spPr>
          <a:xfrm>
            <a:off x="457200" y="3657600"/>
            <a:ext cx="1371600" cy="347472"/>
          </a:xfrm>
          <a:prstGeom prst="rect">
            <a:avLst/>
          </a:prstGeom>
          <a:noFill/>
          <a:ln/>
        </p:spPr>
        <p:txBody>
          <a:bodyPr wrap="square" lIns="0" tIns="0" rIns="0" bIns="0" rtlCol="0" anchor="ctr"/>
          <a:lstStyle/>
          <a:p>
            <a:pPr marL="0" indent="0" algn="ctr">
              <a:buNone/>
            </a:pPr>
            <a:r>
              <a:rPr lang="en-US" sz="1100" dirty="0">
                <a:solidFill>
                  <a:srgbClr val="1F2937"/>
                </a:solidFill>
              </a:rPr>
              <a:t>Product detail</a:t>
            </a:r>
            <a:endParaRPr lang="en-US" sz="1100" dirty="0"/>
          </a:p>
        </p:txBody>
      </p:sp>
      <p:sp>
        <p:nvSpPr>
          <p:cNvPr id="39" name="Shape 31"/>
          <p:cNvSpPr/>
          <p:nvPr/>
        </p:nvSpPr>
        <p:spPr>
          <a:xfrm>
            <a:off x="2139696" y="3200400"/>
            <a:ext cx="1371600" cy="365760"/>
          </a:xfrm>
          <a:prstGeom prst="roundRect">
            <a:avLst>
              <a:gd name="adj" fmla="val 12500"/>
            </a:avLst>
          </a:prstGeom>
          <a:solidFill>
            <a:srgbClr val="E6ECFF"/>
          </a:solidFill>
          <a:ln w="12700">
            <a:solidFill>
              <a:srgbClr val="E6ECFF"/>
            </a:solidFill>
            <a:prstDash val="solid"/>
          </a:ln>
        </p:spPr>
      </p:sp>
      <p:sp>
        <p:nvSpPr>
          <p:cNvPr id="40" name="Text 32"/>
          <p:cNvSpPr txBox="1"/>
          <p:nvPr/>
        </p:nvSpPr>
        <p:spPr>
          <a:xfrm>
            <a:off x="2139696" y="3200400"/>
            <a:ext cx="1371600" cy="365760"/>
          </a:xfrm>
          <a:prstGeom prst="rect">
            <a:avLst/>
          </a:prstGeom>
          <a:noFill/>
          <a:ln/>
        </p:spPr>
        <p:txBody>
          <a:bodyPr wrap="square" lIns="0" tIns="0" rIns="0" bIns="0" rtlCol="0" anchor="ctr"/>
          <a:lstStyle/>
          <a:p>
            <a:pPr marL="0" indent="0" algn="ctr">
              <a:buNone/>
            </a:pPr>
            <a:r>
              <a:rPr lang="en-US" sz="1150" b="1" dirty="0">
                <a:solidFill>
                  <a:srgbClr val="0B1F4B"/>
                </a:solidFill>
              </a:rPr>
              <a:t>Search results</a:t>
            </a:r>
            <a:endParaRPr lang="en-US" sz="1150" dirty="0"/>
          </a:p>
        </p:txBody>
      </p:sp>
      <p:sp>
        <p:nvSpPr>
          <p:cNvPr id="41" name="Shape 33"/>
          <p:cNvSpPr/>
          <p:nvPr/>
        </p:nvSpPr>
        <p:spPr>
          <a:xfrm>
            <a:off x="2139696" y="3657600"/>
            <a:ext cx="1371600" cy="347472"/>
          </a:xfrm>
          <a:prstGeom prst="roundRect">
            <a:avLst>
              <a:gd name="adj" fmla="val 13158"/>
            </a:avLst>
          </a:prstGeom>
          <a:solidFill>
            <a:srgbClr val="FFFFFF"/>
          </a:solidFill>
          <a:ln w="9525">
            <a:solidFill>
              <a:srgbClr val="DDE3F0"/>
            </a:solidFill>
            <a:prstDash val="solid"/>
          </a:ln>
        </p:spPr>
      </p:sp>
      <p:sp>
        <p:nvSpPr>
          <p:cNvPr id="42" name="Text 34"/>
          <p:cNvSpPr txBox="1"/>
          <p:nvPr/>
        </p:nvSpPr>
        <p:spPr>
          <a:xfrm>
            <a:off x="2139696" y="3657600"/>
            <a:ext cx="1371600" cy="347472"/>
          </a:xfrm>
          <a:prstGeom prst="rect">
            <a:avLst/>
          </a:prstGeom>
          <a:noFill/>
          <a:ln/>
        </p:spPr>
        <p:txBody>
          <a:bodyPr wrap="square" lIns="0" tIns="0" rIns="0" bIns="0" rtlCol="0" anchor="ctr"/>
          <a:lstStyle/>
          <a:p>
            <a:pPr marL="0" indent="0" algn="ctr">
              <a:buNone/>
            </a:pPr>
            <a:r>
              <a:rPr lang="en-US" sz="1100" dirty="0">
                <a:solidFill>
                  <a:srgbClr val="1F2937"/>
                </a:solidFill>
              </a:rPr>
              <a:t>Product detail</a:t>
            </a:r>
            <a:endParaRPr lang="en-US" sz="1100" dirty="0"/>
          </a:p>
        </p:txBody>
      </p:sp>
      <p:sp>
        <p:nvSpPr>
          <p:cNvPr id="43" name="Shape 35"/>
          <p:cNvSpPr/>
          <p:nvPr/>
        </p:nvSpPr>
        <p:spPr>
          <a:xfrm>
            <a:off x="3822192" y="3200400"/>
            <a:ext cx="1371600" cy="365760"/>
          </a:xfrm>
          <a:prstGeom prst="roundRect">
            <a:avLst>
              <a:gd name="adj" fmla="val 12500"/>
            </a:avLst>
          </a:prstGeom>
          <a:solidFill>
            <a:srgbClr val="E6ECFF"/>
          </a:solidFill>
          <a:ln w="12700">
            <a:solidFill>
              <a:srgbClr val="E6ECFF"/>
            </a:solidFill>
            <a:prstDash val="solid"/>
          </a:ln>
        </p:spPr>
      </p:sp>
      <p:sp>
        <p:nvSpPr>
          <p:cNvPr id="44" name="Text 36"/>
          <p:cNvSpPr txBox="1"/>
          <p:nvPr/>
        </p:nvSpPr>
        <p:spPr>
          <a:xfrm>
            <a:off x="3822192" y="3200400"/>
            <a:ext cx="1371600" cy="365760"/>
          </a:xfrm>
          <a:prstGeom prst="rect">
            <a:avLst/>
          </a:prstGeom>
          <a:noFill/>
          <a:ln/>
        </p:spPr>
        <p:txBody>
          <a:bodyPr wrap="square" lIns="0" tIns="0" rIns="0" bIns="0" rtlCol="0" anchor="ctr"/>
          <a:lstStyle/>
          <a:p>
            <a:pPr marL="0" indent="0" algn="ctr">
              <a:buNone/>
            </a:pPr>
            <a:r>
              <a:rPr lang="en-US" sz="1150" b="1" dirty="0">
                <a:solidFill>
                  <a:srgbClr val="0B1F4B"/>
                </a:solidFill>
              </a:rPr>
              <a:t>Cart</a:t>
            </a:r>
            <a:endParaRPr lang="en-US" sz="1150" dirty="0"/>
          </a:p>
        </p:txBody>
      </p:sp>
      <p:sp>
        <p:nvSpPr>
          <p:cNvPr id="45" name="Shape 37"/>
          <p:cNvSpPr/>
          <p:nvPr/>
        </p:nvSpPr>
        <p:spPr>
          <a:xfrm>
            <a:off x="3822192" y="3657600"/>
            <a:ext cx="1371600" cy="347472"/>
          </a:xfrm>
          <a:prstGeom prst="roundRect">
            <a:avLst>
              <a:gd name="adj" fmla="val 13158"/>
            </a:avLst>
          </a:prstGeom>
          <a:solidFill>
            <a:srgbClr val="FFFFFF"/>
          </a:solidFill>
          <a:ln w="9525">
            <a:solidFill>
              <a:srgbClr val="DDE3F0"/>
            </a:solidFill>
            <a:prstDash val="solid"/>
          </a:ln>
        </p:spPr>
      </p:sp>
      <p:sp>
        <p:nvSpPr>
          <p:cNvPr id="46" name="Text 38"/>
          <p:cNvSpPr txBox="1"/>
          <p:nvPr/>
        </p:nvSpPr>
        <p:spPr>
          <a:xfrm>
            <a:off x="3822192" y="3657600"/>
            <a:ext cx="1371600" cy="347472"/>
          </a:xfrm>
          <a:prstGeom prst="rect">
            <a:avLst/>
          </a:prstGeom>
          <a:noFill/>
          <a:ln/>
        </p:spPr>
        <p:txBody>
          <a:bodyPr wrap="square" lIns="0" tIns="0" rIns="0" bIns="0" rtlCol="0" anchor="ctr"/>
          <a:lstStyle/>
          <a:p>
            <a:pPr marL="0" indent="0" algn="ctr">
              <a:buNone/>
            </a:pPr>
            <a:r>
              <a:rPr lang="en-US" sz="1100" dirty="0">
                <a:solidFill>
                  <a:srgbClr val="1F2937"/>
                </a:solidFill>
              </a:rPr>
              <a:t>Checkout</a:t>
            </a:r>
            <a:endParaRPr lang="en-US" sz="1100" dirty="0"/>
          </a:p>
        </p:txBody>
      </p:sp>
      <p:sp>
        <p:nvSpPr>
          <p:cNvPr id="47" name="Shape 39"/>
          <p:cNvSpPr/>
          <p:nvPr/>
        </p:nvSpPr>
        <p:spPr>
          <a:xfrm>
            <a:off x="5504688" y="3200400"/>
            <a:ext cx="1371600" cy="365760"/>
          </a:xfrm>
          <a:prstGeom prst="roundRect">
            <a:avLst>
              <a:gd name="adj" fmla="val 12500"/>
            </a:avLst>
          </a:prstGeom>
          <a:solidFill>
            <a:srgbClr val="E6ECFF"/>
          </a:solidFill>
          <a:ln w="12700">
            <a:solidFill>
              <a:srgbClr val="E6ECFF"/>
            </a:solidFill>
            <a:prstDash val="solid"/>
          </a:ln>
        </p:spPr>
      </p:sp>
      <p:sp>
        <p:nvSpPr>
          <p:cNvPr id="48" name="Text 40"/>
          <p:cNvSpPr txBox="1"/>
          <p:nvPr/>
        </p:nvSpPr>
        <p:spPr>
          <a:xfrm>
            <a:off x="5504688" y="3200400"/>
            <a:ext cx="1371600" cy="365760"/>
          </a:xfrm>
          <a:prstGeom prst="rect">
            <a:avLst/>
          </a:prstGeom>
          <a:noFill/>
          <a:ln/>
        </p:spPr>
        <p:txBody>
          <a:bodyPr wrap="square" lIns="0" tIns="0" rIns="0" bIns="0" rtlCol="0" anchor="ctr"/>
          <a:lstStyle/>
          <a:p>
            <a:pPr marL="0" indent="0" algn="ctr">
              <a:buNone/>
            </a:pPr>
            <a:r>
              <a:rPr lang="en-US" sz="1150" b="1" dirty="0">
                <a:solidFill>
                  <a:srgbClr val="0B1F4B"/>
                </a:solidFill>
              </a:rPr>
              <a:t>Account</a:t>
            </a:r>
            <a:endParaRPr lang="en-US" sz="1150" dirty="0"/>
          </a:p>
        </p:txBody>
      </p:sp>
      <p:sp>
        <p:nvSpPr>
          <p:cNvPr id="49" name="Shape 41"/>
          <p:cNvSpPr/>
          <p:nvPr/>
        </p:nvSpPr>
        <p:spPr>
          <a:xfrm>
            <a:off x="5504688" y="3657600"/>
            <a:ext cx="1371600" cy="347472"/>
          </a:xfrm>
          <a:prstGeom prst="roundRect">
            <a:avLst>
              <a:gd name="adj" fmla="val 13158"/>
            </a:avLst>
          </a:prstGeom>
          <a:solidFill>
            <a:srgbClr val="FFFFFF"/>
          </a:solidFill>
          <a:ln w="9525">
            <a:solidFill>
              <a:srgbClr val="DDE3F0"/>
            </a:solidFill>
            <a:prstDash val="solid"/>
          </a:ln>
        </p:spPr>
      </p:sp>
      <p:sp>
        <p:nvSpPr>
          <p:cNvPr id="50" name="Text 42"/>
          <p:cNvSpPr txBox="1"/>
          <p:nvPr/>
        </p:nvSpPr>
        <p:spPr>
          <a:xfrm>
            <a:off x="5504688" y="3657600"/>
            <a:ext cx="1371600" cy="347472"/>
          </a:xfrm>
          <a:prstGeom prst="rect">
            <a:avLst/>
          </a:prstGeom>
          <a:noFill/>
          <a:ln/>
        </p:spPr>
        <p:txBody>
          <a:bodyPr wrap="square" lIns="0" tIns="0" rIns="0" bIns="0" rtlCol="0" anchor="ctr"/>
          <a:lstStyle/>
          <a:p>
            <a:pPr marL="0" indent="0" algn="ctr">
              <a:buNone/>
            </a:pPr>
            <a:r>
              <a:rPr lang="en-US" sz="1100" dirty="0">
                <a:solidFill>
                  <a:srgbClr val="1F2937"/>
                </a:solidFill>
              </a:rPr>
              <a:t>Orders, addresses</a:t>
            </a:r>
            <a:endParaRPr lang="en-US" sz="1100" dirty="0"/>
          </a:p>
        </p:txBody>
      </p:sp>
      <p:sp>
        <p:nvSpPr>
          <p:cNvPr id="51" name="Shape 43"/>
          <p:cNvSpPr/>
          <p:nvPr/>
        </p:nvSpPr>
        <p:spPr>
          <a:xfrm>
            <a:off x="7187184" y="3200400"/>
            <a:ext cx="1371600" cy="365760"/>
          </a:xfrm>
          <a:prstGeom prst="roundRect">
            <a:avLst>
              <a:gd name="adj" fmla="val 12500"/>
            </a:avLst>
          </a:prstGeom>
          <a:solidFill>
            <a:srgbClr val="E6ECFF"/>
          </a:solidFill>
          <a:ln w="12700">
            <a:solidFill>
              <a:srgbClr val="E6ECFF"/>
            </a:solidFill>
            <a:prstDash val="solid"/>
          </a:ln>
        </p:spPr>
      </p:sp>
      <p:sp>
        <p:nvSpPr>
          <p:cNvPr id="52" name="Text 44"/>
          <p:cNvSpPr txBox="1"/>
          <p:nvPr/>
        </p:nvSpPr>
        <p:spPr>
          <a:xfrm>
            <a:off x="7187184" y="3200400"/>
            <a:ext cx="1371600" cy="365760"/>
          </a:xfrm>
          <a:prstGeom prst="rect">
            <a:avLst/>
          </a:prstGeom>
          <a:noFill/>
          <a:ln/>
        </p:spPr>
        <p:txBody>
          <a:bodyPr wrap="square" lIns="0" tIns="0" rIns="0" bIns="0" rtlCol="0" anchor="ctr"/>
          <a:lstStyle/>
          <a:p>
            <a:pPr marL="0" indent="0" algn="ctr">
              <a:buNone/>
            </a:pPr>
            <a:r>
              <a:rPr lang="en-US" sz="1150" b="1" dirty="0">
                <a:solidFill>
                  <a:srgbClr val="0B1F4B"/>
                </a:solidFill>
              </a:rPr>
              <a:t>Support</a:t>
            </a:r>
            <a:endParaRPr lang="en-US" sz="1150" dirty="0"/>
          </a:p>
        </p:txBody>
      </p:sp>
      <p:sp>
        <p:nvSpPr>
          <p:cNvPr id="53" name="Shape 45"/>
          <p:cNvSpPr/>
          <p:nvPr/>
        </p:nvSpPr>
        <p:spPr>
          <a:xfrm>
            <a:off x="7187184" y="3657600"/>
            <a:ext cx="1371600" cy="347472"/>
          </a:xfrm>
          <a:prstGeom prst="roundRect">
            <a:avLst>
              <a:gd name="adj" fmla="val 13158"/>
            </a:avLst>
          </a:prstGeom>
          <a:solidFill>
            <a:srgbClr val="FFFFFF"/>
          </a:solidFill>
          <a:ln w="9525">
            <a:solidFill>
              <a:srgbClr val="DDE3F0"/>
            </a:solidFill>
            <a:prstDash val="solid"/>
          </a:ln>
        </p:spPr>
      </p:sp>
      <p:sp>
        <p:nvSpPr>
          <p:cNvPr id="54" name="Text 46"/>
          <p:cNvSpPr txBox="1"/>
          <p:nvPr/>
        </p:nvSpPr>
        <p:spPr>
          <a:xfrm>
            <a:off x="7187184" y="3657600"/>
            <a:ext cx="1371600" cy="347472"/>
          </a:xfrm>
          <a:prstGeom prst="rect">
            <a:avLst/>
          </a:prstGeom>
          <a:noFill/>
          <a:ln/>
        </p:spPr>
        <p:txBody>
          <a:bodyPr wrap="square" lIns="0" tIns="0" rIns="0" bIns="0" rtlCol="0" anchor="ctr"/>
          <a:lstStyle/>
          <a:p>
            <a:pPr marL="0" indent="0" algn="ctr">
              <a:buNone/>
            </a:pPr>
            <a:r>
              <a:rPr lang="en-US" sz="1100" dirty="0">
                <a:solidFill>
                  <a:srgbClr val="1F2937"/>
                </a:solidFill>
              </a:rPr>
              <a:t>Delivery, returns</a:t>
            </a:r>
            <a:endParaRPr lang="en-US" sz="1100" dirty="0"/>
          </a:p>
        </p:txBody>
      </p:sp>
      <p:sp>
        <p:nvSpPr>
          <p:cNvPr id="55" name="Shape 47"/>
          <p:cNvSpPr/>
          <p:nvPr/>
        </p:nvSpPr>
        <p:spPr>
          <a:xfrm>
            <a:off x="457200" y="4160520"/>
            <a:ext cx="8229600" cy="457200"/>
          </a:xfrm>
          <a:prstGeom prst="roundRect">
            <a:avLst>
              <a:gd name="adj" fmla="val 12000"/>
            </a:avLst>
          </a:prstGeom>
          <a:solidFill>
            <a:srgbClr val="E6ECFF"/>
          </a:solidFill>
          <a:ln w="12700">
            <a:solidFill>
              <a:srgbClr val="E6ECFF"/>
            </a:solidFill>
            <a:prstDash val="solid"/>
          </a:ln>
        </p:spPr>
      </p:sp>
      <p:sp>
        <p:nvSpPr>
          <p:cNvPr id="56" name="Shape 48"/>
          <p:cNvSpPr/>
          <p:nvPr/>
        </p:nvSpPr>
        <p:spPr>
          <a:xfrm>
            <a:off x="548640" y="4206240"/>
            <a:ext cx="365760" cy="365760"/>
          </a:xfrm>
          <a:prstGeom prst="roundRect">
            <a:avLst>
              <a:gd name="adj" fmla="val 22000"/>
            </a:avLst>
          </a:prstGeom>
          <a:solidFill>
            <a:srgbClr val="BE185D"/>
          </a:solidFill>
          <a:ln w="12700">
            <a:solidFill>
              <a:srgbClr val="BE185D"/>
            </a:solidFill>
            <a:prstDash val="solid"/>
          </a:ln>
        </p:spPr>
      </p:sp>
      <p:pic>
        <p:nvPicPr>
          <p:cNvPr id="57" name="Image 5" descr="preencoded.png"/>
          <p:cNvPicPr>
            <a:picLocks noChangeAspect="1"/>
          </p:cNvPicPr>
          <p:nvPr/>
        </p:nvPicPr>
        <p:blipFill>
          <a:blip r:embed="rId8"/>
          <a:stretch>
            <a:fillRect/>
          </a:stretch>
        </p:blipFill>
        <p:spPr>
          <a:xfrm>
            <a:off x="636422" y="4294022"/>
            <a:ext cx="190195" cy="190195"/>
          </a:xfrm>
          <a:prstGeom prst="rect">
            <a:avLst/>
          </a:prstGeom>
        </p:spPr>
      </p:pic>
      <p:sp>
        <p:nvSpPr>
          <p:cNvPr id="58" name="Text 49"/>
          <p:cNvSpPr txBox="1"/>
          <p:nvPr/>
        </p:nvSpPr>
        <p:spPr>
          <a:xfrm>
            <a:off x="1005840" y="4160520"/>
            <a:ext cx="7589520" cy="457200"/>
          </a:xfrm>
          <a:prstGeom prst="rect">
            <a:avLst/>
          </a:prstGeom>
          <a:noFill/>
          <a:ln/>
        </p:spPr>
        <p:txBody>
          <a:bodyPr wrap="square" lIns="0" tIns="0" rIns="0" bIns="0" rtlCol="0" anchor="ctr"/>
          <a:lstStyle/>
          <a:p>
            <a:pPr marL="0" indent="0">
              <a:buNone/>
            </a:pPr>
            <a:r>
              <a:rPr lang="en-US" sz="1200" dirty="0">
                <a:solidFill>
                  <a:srgbClr val="0B1F4B"/>
                </a:solidFill>
              </a:rPr>
              <a:t>Error branches planned: option not chosen shows an inline message; an unavailable cart item is flagged with a way forward.</a:t>
            </a:r>
            <a:endParaRPr lang="en-US" sz="120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07 · DESIGN</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Wireframes: Layout Before Style</a:t>
            </a:r>
            <a:endParaRPr lang="en-US" sz="2500" dirty="0"/>
          </a:p>
        </p:txBody>
      </p:sp>
      <p:sp>
        <p:nvSpPr>
          <p:cNvPr id="5" name="Shape 2"/>
          <p:cNvSpPr/>
          <p:nvPr/>
        </p:nvSpPr>
        <p:spPr>
          <a:xfrm>
            <a:off x="457200" y="1143000"/>
            <a:ext cx="3931920" cy="2743200"/>
          </a:xfrm>
          <a:prstGeom prst="roundRect">
            <a:avLst>
              <a:gd name="adj" fmla="val 1333"/>
            </a:avLst>
          </a:prstGeom>
          <a:solidFill>
            <a:srgbClr val="FFFFFF"/>
          </a:solidFill>
          <a:ln w="9525">
            <a:solidFill>
              <a:srgbClr val="CBD5E1"/>
            </a:solidFill>
            <a:prstDash val="solid"/>
          </a:ln>
          <a:effectLst>
            <a:outerShdw blurRad="101600" dist="25400" dir="5400000" algn="bl" rotWithShape="0">
              <a:srgbClr val="000000">
                <a:alpha val="14000"/>
              </a:srgbClr>
            </a:outerShdw>
          </a:effectLst>
        </p:spPr>
      </p:sp>
      <p:sp>
        <p:nvSpPr>
          <p:cNvPr id="6" name="Shape 3"/>
          <p:cNvSpPr/>
          <p:nvPr/>
        </p:nvSpPr>
        <p:spPr>
          <a:xfrm>
            <a:off x="457200" y="1143000"/>
            <a:ext cx="3931920" cy="228600"/>
          </a:xfrm>
          <a:prstGeom prst="roundRect">
            <a:avLst>
              <a:gd name="adj" fmla="val 16000"/>
            </a:avLst>
          </a:prstGeom>
          <a:solidFill>
            <a:srgbClr val="E5E7EB"/>
          </a:solidFill>
          <a:ln w="12700">
            <a:solidFill>
              <a:srgbClr val="E5E7EB"/>
            </a:solidFill>
            <a:prstDash val="solid"/>
          </a:ln>
        </p:spPr>
      </p:sp>
      <p:sp>
        <p:nvSpPr>
          <p:cNvPr id="7" name="Shape 4"/>
          <p:cNvSpPr/>
          <p:nvPr/>
        </p:nvSpPr>
        <p:spPr>
          <a:xfrm>
            <a:off x="548640" y="1216152"/>
            <a:ext cx="82296" cy="82296"/>
          </a:xfrm>
          <a:prstGeom prst="ellipse">
            <a:avLst/>
          </a:prstGeom>
          <a:solidFill>
            <a:srgbClr val="F87171"/>
          </a:solidFill>
          <a:ln w="12700">
            <a:solidFill>
              <a:srgbClr val="F87171"/>
            </a:solidFill>
            <a:prstDash val="solid"/>
          </a:ln>
        </p:spPr>
      </p:sp>
      <p:sp>
        <p:nvSpPr>
          <p:cNvPr id="8" name="Shape 5"/>
          <p:cNvSpPr/>
          <p:nvPr/>
        </p:nvSpPr>
        <p:spPr>
          <a:xfrm>
            <a:off x="676656" y="1216152"/>
            <a:ext cx="82296" cy="82296"/>
          </a:xfrm>
          <a:prstGeom prst="ellipse">
            <a:avLst/>
          </a:prstGeom>
          <a:solidFill>
            <a:srgbClr val="FBBF24"/>
          </a:solidFill>
          <a:ln w="12700">
            <a:solidFill>
              <a:srgbClr val="FBBF24"/>
            </a:solidFill>
            <a:prstDash val="solid"/>
          </a:ln>
        </p:spPr>
      </p:sp>
      <p:sp>
        <p:nvSpPr>
          <p:cNvPr id="9" name="Shape 6"/>
          <p:cNvSpPr/>
          <p:nvPr/>
        </p:nvSpPr>
        <p:spPr>
          <a:xfrm>
            <a:off x="804672" y="1216152"/>
            <a:ext cx="82296" cy="82296"/>
          </a:xfrm>
          <a:prstGeom prst="ellipse">
            <a:avLst/>
          </a:prstGeom>
          <a:solidFill>
            <a:srgbClr val="34D399"/>
          </a:solidFill>
          <a:ln w="12700">
            <a:solidFill>
              <a:srgbClr val="34D399"/>
            </a:solidFill>
            <a:prstDash val="solid"/>
          </a:ln>
        </p:spPr>
      </p:sp>
      <p:sp>
        <p:nvSpPr>
          <p:cNvPr id="10" name="Shape 7"/>
          <p:cNvSpPr/>
          <p:nvPr/>
        </p:nvSpPr>
        <p:spPr>
          <a:xfrm>
            <a:off x="566928" y="1444752"/>
            <a:ext cx="3712464" cy="233172"/>
          </a:xfrm>
          <a:prstGeom prst="rect">
            <a:avLst/>
          </a:prstGeom>
          <a:solidFill>
            <a:srgbClr val="EEF0F4"/>
          </a:solidFill>
          <a:ln w="9525">
            <a:solidFill>
              <a:srgbClr val="9CA3AF"/>
            </a:solidFill>
            <a:prstDash val="solid"/>
          </a:ln>
        </p:spPr>
      </p:sp>
      <p:sp>
        <p:nvSpPr>
          <p:cNvPr id="11" name="Text 8"/>
          <p:cNvSpPr txBox="1"/>
          <p:nvPr/>
        </p:nvSpPr>
        <p:spPr>
          <a:xfrm>
            <a:off x="566928" y="1444752"/>
            <a:ext cx="3712464" cy="233172"/>
          </a:xfrm>
          <a:prstGeom prst="rect">
            <a:avLst/>
          </a:prstGeom>
          <a:noFill/>
          <a:ln/>
        </p:spPr>
        <p:txBody>
          <a:bodyPr wrap="square" lIns="0" tIns="0" rIns="0" bIns="0" rtlCol="0" anchor="ctr"/>
          <a:lstStyle/>
          <a:p>
            <a:pPr marL="0" indent="0" algn="ctr">
              <a:buNone/>
            </a:pPr>
            <a:r>
              <a:rPr lang="en-US" sz="800" dirty="0">
                <a:solidFill>
                  <a:srgbClr val="6B7280"/>
                </a:solidFill>
              </a:rPr>
              <a:t>Header · logo · search · cart</a:t>
            </a:r>
            <a:endParaRPr lang="en-US" sz="800" dirty="0"/>
          </a:p>
        </p:txBody>
      </p:sp>
      <p:sp>
        <p:nvSpPr>
          <p:cNvPr id="12" name="Shape 9"/>
          <p:cNvSpPr/>
          <p:nvPr/>
        </p:nvSpPr>
        <p:spPr>
          <a:xfrm>
            <a:off x="566928" y="1747876"/>
            <a:ext cx="3712464" cy="629564"/>
          </a:xfrm>
          <a:prstGeom prst="rect">
            <a:avLst/>
          </a:prstGeom>
          <a:solidFill>
            <a:srgbClr val="EEF0F4"/>
          </a:solidFill>
          <a:ln w="9525">
            <a:solidFill>
              <a:srgbClr val="9CA3AF"/>
            </a:solidFill>
            <a:prstDash val="solid"/>
          </a:ln>
        </p:spPr>
      </p:sp>
      <p:sp>
        <p:nvSpPr>
          <p:cNvPr id="13" name="Text 10"/>
          <p:cNvSpPr txBox="1"/>
          <p:nvPr/>
        </p:nvSpPr>
        <p:spPr>
          <a:xfrm>
            <a:off x="566928" y="1747876"/>
            <a:ext cx="3712464" cy="629564"/>
          </a:xfrm>
          <a:prstGeom prst="rect">
            <a:avLst/>
          </a:prstGeom>
          <a:noFill/>
          <a:ln/>
        </p:spPr>
        <p:txBody>
          <a:bodyPr wrap="square" lIns="0" tIns="0" rIns="0" bIns="0" rtlCol="0" anchor="ctr"/>
          <a:lstStyle/>
          <a:p>
            <a:pPr marL="0" indent="0" algn="ctr">
              <a:buNone/>
            </a:pPr>
            <a:r>
              <a:rPr lang="en-US" sz="800" dirty="0">
                <a:solidFill>
                  <a:srgbClr val="6B7280"/>
                </a:solidFill>
              </a:rPr>
              <a:t>Hero: headline + one primary call to action</a:t>
            </a:r>
            <a:endParaRPr lang="en-US" sz="800" dirty="0"/>
          </a:p>
        </p:txBody>
      </p:sp>
      <p:sp>
        <p:nvSpPr>
          <p:cNvPr id="14" name="Shape 11"/>
          <p:cNvSpPr/>
          <p:nvPr/>
        </p:nvSpPr>
        <p:spPr>
          <a:xfrm>
            <a:off x="566928" y="2447392"/>
            <a:ext cx="3712464" cy="186538"/>
          </a:xfrm>
          <a:prstGeom prst="rect">
            <a:avLst/>
          </a:prstGeom>
          <a:solidFill>
            <a:srgbClr val="EEF0F4"/>
          </a:solidFill>
          <a:ln w="9525">
            <a:solidFill>
              <a:srgbClr val="9CA3AF"/>
            </a:solidFill>
            <a:prstDash val="solid"/>
          </a:ln>
        </p:spPr>
      </p:sp>
      <p:sp>
        <p:nvSpPr>
          <p:cNvPr id="15" name="Text 12"/>
          <p:cNvSpPr txBox="1"/>
          <p:nvPr/>
        </p:nvSpPr>
        <p:spPr>
          <a:xfrm>
            <a:off x="566928" y="2447392"/>
            <a:ext cx="3712464" cy="186538"/>
          </a:xfrm>
          <a:prstGeom prst="rect">
            <a:avLst/>
          </a:prstGeom>
          <a:noFill/>
          <a:ln/>
        </p:spPr>
        <p:txBody>
          <a:bodyPr wrap="square" lIns="0" tIns="0" rIns="0" bIns="0" rtlCol="0" anchor="ctr"/>
          <a:lstStyle/>
          <a:p>
            <a:pPr marL="0" indent="0" algn="ctr">
              <a:buNone/>
            </a:pPr>
            <a:r>
              <a:rPr lang="en-US" sz="800" dirty="0">
                <a:solidFill>
                  <a:srgbClr val="6B7280"/>
                </a:solidFill>
              </a:rPr>
              <a:t>Reassurance strip</a:t>
            </a:r>
            <a:endParaRPr lang="en-US" sz="800" dirty="0"/>
          </a:p>
        </p:txBody>
      </p:sp>
      <p:sp>
        <p:nvSpPr>
          <p:cNvPr id="16" name="Shape 13"/>
          <p:cNvSpPr/>
          <p:nvPr/>
        </p:nvSpPr>
        <p:spPr>
          <a:xfrm>
            <a:off x="566928" y="2703881"/>
            <a:ext cx="853867" cy="233172"/>
          </a:xfrm>
          <a:prstGeom prst="rect">
            <a:avLst/>
          </a:prstGeom>
          <a:solidFill>
            <a:srgbClr val="EEF0F4"/>
          </a:solidFill>
          <a:ln w="9525">
            <a:solidFill>
              <a:srgbClr val="9CA3AF"/>
            </a:solidFill>
            <a:prstDash val="solid"/>
          </a:ln>
        </p:spPr>
      </p:sp>
      <p:sp>
        <p:nvSpPr>
          <p:cNvPr id="17" name="Text 14"/>
          <p:cNvSpPr txBox="1"/>
          <p:nvPr/>
        </p:nvSpPr>
        <p:spPr>
          <a:xfrm>
            <a:off x="566928" y="2703881"/>
            <a:ext cx="853867" cy="233172"/>
          </a:xfrm>
          <a:prstGeom prst="rect">
            <a:avLst/>
          </a:prstGeom>
          <a:noFill/>
          <a:ln/>
        </p:spPr>
        <p:txBody>
          <a:bodyPr wrap="square" lIns="0" tIns="0" rIns="0" bIns="0" rtlCol="0" anchor="ctr"/>
          <a:lstStyle/>
          <a:p>
            <a:pPr marL="0" indent="0" algn="ctr">
              <a:buNone/>
            </a:pPr>
            <a:r>
              <a:rPr lang="en-US" sz="800" dirty="0">
                <a:solidFill>
                  <a:srgbClr val="6B7280"/>
                </a:solidFill>
              </a:rPr>
              <a:t>Category 1</a:t>
            </a:r>
            <a:endParaRPr lang="en-US" sz="800" dirty="0"/>
          </a:p>
        </p:txBody>
      </p:sp>
      <p:sp>
        <p:nvSpPr>
          <p:cNvPr id="18" name="Shape 15"/>
          <p:cNvSpPr/>
          <p:nvPr/>
        </p:nvSpPr>
        <p:spPr>
          <a:xfrm>
            <a:off x="1495044" y="2703881"/>
            <a:ext cx="853867" cy="233172"/>
          </a:xfrm>
          <a:prstGeom prst="rect">
            <a:avLst/>
          </a:prstGeom>
          <a:solidFill>
            <a:srgbClr val="EEF0F4"/>
          </a:solidFill>
          <a:ln w="9525">
            <a:solidFill>
              <a:srgbClr val="9CA3AF"/>
            </a:solidFill>
            <a:prstDash val="solid"/>
          </a:ln>
        </p:spPr>
      </p:sp>
      <p:sp>
        <p:nvSpPr>
          <p:cNvPr id="19" name="Text 16"/>
          <p:cNvSpPr txBox="1"/>
          <p:nvPr/>
        </p:nvSpPr>
        <p:spPr>
          <a:xfrm>
            <a:off x="1495044" y="2703881"/>
            <a:ext cx="853867" cy="233172"/>
          </a:xfrm>
          <a:prstGeom prst="rect">
            <a:avLst/>
          </a:prstGeom>
          <a:noFill/>
          <a:ln/>
        </p:spPr>
        <p:txBody>
          <a:bodyPr wrap="square" lIns="0" tIns="0" rIns="0" bIns="0" rtlCol="0" anchor="ctr"/>
          <a:lstStyle/>
          <a:p>
            <a:pPr marL="0" indent="0" algn="ctr">
              <a:buNone/>
            </a:pPr>
            <a:r>
              <a:rPr lang="en-US" sz="800" dirty="0">
                <a:solidFill>
                  <a:srgbClr val="6B7280"/>
                </a:solidFill>
              </a:rPr>
              <a:t>Category 2</a:t>
            </a:r>
            <a:endParaRPr lang="en-US" sz="800" dirty="0"/>
          </a:p>
        </p:txBody>
      </p:sp>
      <p:sp>
        <p:nvSpPr>
          <p:cNvPr id="20" name="Shape 17"/>
          <p:cNvSpPr/>
          <p:nvPr/>
        </p:nvSpPr>
        <p:spPr>
          <a:xfrm>
            <a:off x="2423160" y="2703881"/>
            <a:ext cx="853867" cy="233172"/>
          </a:xfrm>
          <a:prstGeom prst="rect">
            <a:avLst/>
          </a:prstGeom>
          <a:solidFill>
            <a:srgbClr val="EEF0F4"/>
          </a:solidFill>
          <a:ln w="9525">
            <a:solidFill>
              <a:srgbClr val="9CA3AF"/>
            </a:solidFill>
            <a:prstDash val="solid"/>
          </a:ln>
        </p:spPr>
      </p:sp>
      <p:sp>
        <p:nvSpPr>
          <p:cNvPr id="21" name="Text 18"/>
          <p:cNvSpPr txBox="1"/>
          <p:nvPr/>
        </p:nvSpPr>
        <p:spPr>
          <a:xfrm>
            <a:off x="2423160" y="2703881"/>
            <a:ext cx="853867" cy="233172"/>
          </a:xfrm>
          <a:prstGeom prst="rect">
            <a:avLst/>
          </a:prstGeom>
          <a:noFill/>
          <a:ln/>
        </p:spPr>
        <p:txBody>
          <a:bodyPr wrap="square" lIns="0" tIns="0" rIns="0" bIns="0" rtlCol="0" anchor="ctr"/>
          <a:lstStyle/>
          <a:p>
            <a:pPr marL="0" indent="0" algn="ctr">
              <a:buNone/>
            </a:pPr>
            <a:r>
              <a:rPr lang="en-US" sz="800" dirty="0">
                <a:solidFill>
                  <a:srgbClr val="6B7280"/>
                </a:solidFill>
              </a:rPr>
              <a:t>Category 3</a:t>
            </a:r>
            <a:endParaRPr lang="en-US" sz="800" dirty="0"/>
          </a:p>
        </p:txBody>
      </p:sp>
      <p:sp>
        <p:nvSpPr>
          <p:cNvPr id="22" name="Shape 19"/>
          <p:cNvSpPr/>
          <p:nvPr/>
        </p:nvSpPr>
        <p:spPr>
          <a:xfrm>
            <a:off x="3351276" y="2703881"/>
            <a:ext cx="853867" cy="233172"/>
          </a:xfrm>
          <a:prstGeom prst="rect">
            <a:avLst/>
          </a:prstGeom>
          <a:solidFill>
            <a:srgbClr val="EEF0F4"/>
          </a:solidFill>
          <a:ln w="9525">
            <a:solidFill>
              <a:srgbClr val="9CA3AF"/>
            </a:solidFill>
            <a:prstDash val="solid"/>
          </a:ln>
        </p:spPr>
      </p:sp>
      <p:sp>
        <p:nvSpPr>
          <p:cNvPr id="23" name="Text 20"/>
          <p:cNvSpPr txBox="1"/>
          <p:nvPr/>
        </p:nvSpPr>
        <p:spPr>
          <a:xfrm>
            <a:off x="3351276" y="2703881"/>
            <a:ext cx="853867" cy="233172"/>
          </a:xfrm>
          <a:prstGeom prst="rect">
            <a:avLst/>
          </a:prstGeom>
          <a:noFill/>
          <a:ln/>
        </p:spPr>
        <p:txBody>
          <a:bodyPr wrap="square" lIns="0" tIns="0" rIns="0" bIns="0" rtlCol="0" anchor="ctr"/>
          <a:lstStyle/>
          <a:p>
            <a:pPr marL="0" indent="0" algn="ctr">
              <a:buNone/>
            </a:pPr>
            <a:r>
              <a:rPr lang="en-US" sz="800" dirty="0">
                <a:solidFill>
                  <a:srgbClr val="6B7280"/>
                </a:solidFill>
              </a:rPr>
              <a:t>Category 4</a:t>
            </a:r>
            <a:endParaRPr lang="en-US" sz="800" dirty="0"/>
          </a:p>
        </p:txBody>
      </p:sp>
      <p:sp>
        <p:nvSpPr>
          <p:cNvPr id="24" name="Shape 21"/>
          <p:cNvSpPr/>
          <p:nvPr/>
        </p:nvSpPr>
        <p:spPr>
          <a:xfrm>
            <a:off x="566928" y="3030322"/>
            <a:ext cx="853867" cy="512978"/>
          </a:xfrm>
          <a:prstGeom prst="rect">
            <a:avLst/>
          </a:prstGeom>
          <a:solidFill>
            <a:srgbClr val="EEF0F4"/>
          </a:solidFill>
          <a:ln w="9525">
            <a:solidFill>
              <a:srgbClr val="9CA3AF"/>
            </a:solidFill>
            <a:prstDash val="solid"/>
          </a:ln>
        </p:spPr>
      </p:sp>
      <p:sp>
        <p:nvSpPr>
          <p:cNvPr id="25" name="Text 22"/>
          <p:cNvSpPr txBox="1"/>
          <p:nvPr/>
        </p:nvSpPr>
        <p:spPr>
          <a:xfrm>
            <a:off x="566928" y="3030322"/>
            <a:ext cx="853867" cy="512978"/>
          </a:xfrm>
          <a:prstGeom prst="rect">
            <a:avLst/>
          </a:prstGeom>
          <a:noFill/>
          <a:ln/>
        </p:spPr>
        <p:txBody>
          <a:bodyPr wrap="square" lIns="0" tIns="0" rIns="0" bIns="0" rtlCol="0" anchor="ctr"/>
          <a:lstStyle/>
          <a:p>
            <a:pPr marL="0" indent="0" algn="ctr">
              <a:buNone/>
            </a:pPr>
            <a:r>
              <a:rPr lang="en-US" sz="800" dirty="0">
                <a:solidFill>
                  <a:srgbClr val="6B7280"/>
                </a:solidFill>
              </a:rPr>
              <a:t>Product</a:t>
            </a:r>
            <a:endParaRPr lang="en-US" sz="800" dirty="0"/>
          </a:p>
        </p:txBody>
      </p:sp>
      <p:sp>
        <p:nvSpPr>
          <p:cNvPr id="26" name="Shape 23"/>
          <p:cNvSpPr/>
          <p:nvPr/>
        </p:nvSpPr>
        <p:spPr>
          <a:xfrm>
            <a:off x="1495044" y="3030322"/>
            <a:ext cx="853867" cy="512978"/>
          </a:xfrm>
          <a:prstGeom prst="rect">
            <a:avLst/>
          </a:prstGeom>
          <a:solidFill>
            <a:srgbClr val="EEF0F4"/>
          </a:solidFill>
          <a:ln w="9525">
            <a:solidFill>
              <a:srgbClr val="9CA3AF"/>
            </a:solidFill>
            <a:prstDash val="solid"/>
          </a:ln>
        </p:spPr>
      </p:sp>
      <p:sp>
        <p:nvSpPr>
          <p:cNvPr id="27" name="Text 24"/>
          <p:cNvSpPr txBox="1"/>
          <p:nvPr/>
        </p:nvSpPr>
        <p:spPr>
          <a:xfrm>
            <a:off x="1495044" y="3030322"/>
            <a:ext cx="853867" cy="512978"/>
          </a:xfrm>
          <a:prstGeom prst="rect">
            <a:avLst/>
          </a:prstGeom>
          <a:noFill/>
          <a:ln/>
        </p:spPr>
        <p:txBody>
          <a:bodyPr wrap="square" lIns="0" tIns="0" rIns="0" bIns="0" rtlCol="0" anchor="ctr"/>
          <a:lstStyle/>
          <a:p>
            <a:pPr marL="0" indent="0" algn="ctr">
              <a:buNone/>
            </a:pPr>
            <a:r>
              <a:rPr lang="en-US" sz="800" dirty="0">
                <a:solidFill>
                  <a:srgbClr val="6B7280"/>
                </a:solidFill>
              </a:rPr>
              <a:t>Product</a:t>
            </a:r>
            <a:endParaRPr lang="en-US" sz="800" dirty="0"/>
          </a:p>
        </p:txBody>
      </p:sp>
      <p:sp>
        <p:nvSpPr>
          <p:cNvPr id="28" name="Shape 25"/>
          <p:cNvSpPr/>
          <p:nvPr/>
        </p:nvSpPr>
        <p:spPr>
          <a:xfrm>
            <a:off x="2423160" y="3030322"/>
            <a:ext cx="853867" cy="512978"/>
          </a:xfrm>
          <a:prstGeom prst="rect">
            <a:avLst/>
          </a:prstGeom>
          <a:solidFill>
            <a:srgbClr val="EEF0F4"/>
          </a:solidFill>
          <a:ln w="9525">
            <a:solidFill>
              <a:srgbClr val="9CA3AF"/>
            </a:solidFill>
            <a:prstDash val="solid"/>
          </a:ln>
        </p:spPr>
      </p:sp>
      <p:sp>
        <p:nvSpPr>
          <p:cNvPr id="29" name="Text 26"/>
          <p:cNvSpPr txBox="1"/>
          <p:nvPr/>
        </p:nvSpPr>
        <p:spPr>
          <a:xfrm>
            <a:off x="2423160" y="3030322"/>
            <a:ext cx="853867" cy="512978"/>
          </a:xfrm>
          <a:prstGeom prst="rect">
            <a:avLst/>
          </a:prstGeom>
          <a:noFill/>
          <a:ln/>
        </p:spPr>
        <p:txBody>
          <a:bodyPr wrap="square" lIns="0" tIns="0" rIns="0" bIns="0" rtlCol="0" anchor="ctr"/>
          <a:lstStyle/>
          <a:p>
            <a:pPr marL="0" indent="0" algn="ctr">
              <a:buNone/>
            </a:pPr>
            <a:r>
              <a:rPr lang="en-US" sz="800" dirty="0">
                <a:solidFill>
                  <a:srgbClr val="6B7280"/>
                </a:solidFill>
              </a:rPr>
              <a:t>Product</a:t>
            </a:r>
            <a:endParaRPr lang="en-US" sz="800" dirty="0"/>
          </a:p>
        </p:txBody>
      </p:sp>
      <p:sp>
        <p:nvSpPr>
          <p:cNvPr id="30" name="Shape 27"/>
          <p:cNvSpPr/>
          <p:nvPr/>
        </p:nvSpPr>
        <p:spPr>
          <a:xfrm>
            <a:off x="3351276" y="3030322"/>
            <a:ext cx="853867" cy="512978"/>
          </a:xfrm>
          <a:prstGeom prst="rect">
            <a:avLst/>
          </a:prstGeom>
          <a:solidFill>
            <a:srgbClr val="EEF0F4"/>
          </a:solidFill>
          <a:ln w="9525">
            <a:solidFill>
              <a:srgbClr val="9CA3AF"/>
            </a:solidFill>
            <a:prstDash val="solid"/>
          </a:ln>
        </p:spPr>
      </p:sp>
      <p:sp>
        <p:nvSpPr>
          <p:cNvPr id="31" name="Text 28"/>
          <p:cNvSpPr txBox="1"/>
          <p:nvPr/>
        </p:nvSpPr>
        <p:spPr>
          <a:xfrm>
            <a:off x="3351276" y="3030322"/>
            <a:ext cx="853867" cy="512978"/>
          </a:xfrm>
          <a:prstGeom prst="rect">
            <a:avLst/>
          </a:prstGeom>
          <a:noFill/>
          <a:ln/>
        </p:spPr>
        <p:txBody>
          <a:bodyPr wrap="square" lIns="0" tIns="0" rIns="0" bIns="0" rtlCol="0" anchor="ctr"/>
          <a:lstStyle/>
          <a:p>
            <a:pPr marL="0" indent="0" algn="ctr">
              <a:buNone/>
            </a:pPr>
            <a:r>
              <a:rPr lang="en-US" sz="800" dirty="0">
                <a:solidFill>
                  <a:srgbClr val="6B7280"/>
                </a:solidFill>
              </a:rPr>
              <a:t>Product</a:t>
            </a:r>
            <a:endParaRPr lang="en-US" sz="800" dirty="0"/>
          </a:p>
        </p:txBody>
      </p:sp>
      <p:sp>
        <p:nvSpPr>
          <p:cNvPr id="32" name="Shape 29"/>
          <p:cNvSpPr/>
          <p:nvPr/>
        </p:nvSpPr>
        <p:spPr>
          <a:xfrm>
            <a:off x="566928" y="3613252"/>
            <a:ext cx="3712464" cy="163220"/>
          </a:xfrm>
          <a:prstGeom prst="rect">
            <a:avLst/>
          </a:prstGeom>
          <a:solidFill>
            <a:srgbClr val="EEF0F4"/>
          </a:solidFill>
          <a:ln w="9525">
            <a:solidFill>
              <a:srgbClr val="9CA3AF"/>
            </a:solidFill>
            <a:prstDash val="solid"/>
          </a:ln>
        </p:spPr>
      </p:sp>
      <p:sp>
        <p:nvSpPr>
          <p:cNvPr id="33" name="Text 30"/>
          <p:cNvSpPr txBox="1"/>
          <p:nvPr/>
        </p:nvSpPr>
        <p:spPr>
          <a:xfrm>
            <a:off x="566928" y="3613252"/>
            <a:ext cx="3712464" cy="163220"/>
          </a:xfrm>
          <a:prstGeom prst="rect">
            <a:avLst/>
          </a:prstGeom>
          <a:noFill/>
          <a:ln/>
        </p:spPr>
        <p:txBody>
          <a:bodyPr wrap="square" lIns="0" tIns="0" rIns="0" bIns="0" rtlCol="0" anchor="ctr"/>
          <a:lstStyle/>
          <a:p>
            <a:pPr marL="0" indent="0" algn="ctr">
              <a:buNone/>
            </a:pPr>
            <a:r>
              <a:rPr lang="en-US" sz="800" dirty="0">
                <a:solidFill>
                  <a:srgbClr val="6B7280"/>
                </a:solidFill>
              </a:rPr>
              <a:t>Footer</a:t>
            </a:r>
            <a:endParaRPr lang="en-US" sz="800" dirty="0"/>
          </a:p>
        </p:txBody>
      </p:sp>
      <p:sp>
        <p:nvSpPr>
          <p:cNvPr id="34" name="Shape 31"/>
          <p:cNvSpPr/>
          <p:nvPr/>
        </p:nvSpPr>
        <p:spPr>
          <a:xfrm>
            <a:off x="4754880" y="1143000"/>
            <a:ext cx="3931920" cy="2743200"/>
          </a:xfrm>
          <a:prstGeom prst="roundRect">
            <a:avLst>
              <a:gd name="adj" fmla="val 1333"/>
            </a:avLst>
          </a:prstGeom>
          <a:solidFill>
            <a:srgbClr val="FFFFFF"/>
          </a:solidFill>
          <a:ln w="9525">
            <a:solidFill>
              <a:srgbClr val="CBD5E1"/>
            </a:solidFill>
            <a:prstDash val="solid"/>
          </a:ln>
          <a:effectLst>
            <a:outerShdw blurRad="101600" dist="25400" dir="5400000" algn="bl" rotWithShape="0">
              <a:srgbClr val="000000">
                <a:alpha val="14000"/>
              </a:srgbClr>
            </a:outerShdw>
          </a:effectLst>
        </p:spPr>
      </p:sp>
      <p:sp>
        <p:nvSpPr>
          <p:cNvPr id="35" name="Shape 32"/>
          <p:cNvSpPr/>
          <p:nvPr/>
        </p:nvSpPr>
        <p:spPr>
          <a:xfrm>
            <a:off x="4754880" y="1143000"/>
            <a:ext cx="3931920" cy="228600"/>
          </a:xfrm>
          <a:prstGeom prst="roundRect">
            <a:avLst>
              <a:gd name="adj" fmla="val 16000"/>
            </a:avLst>
          </a:prstGeom>
          <a:solidFill>
            <a:srgbClr val="E5E7EB"/>
          </a:solidFill>
          <a:ln w="12700">
            <a:solidFill>
              <a:srgbClr val="E5E7EB"/>
            </a:solidFill>
            <a:prstDash val="solid"/>
          </a:ln>
        </p:spPr>
      </p:sp>
      <p:sp>
        <p:nvSpPr>
          <p:cNvPr id="36" name="Shape 33"/>
          <p:cNvSpPr/>
          <p:nvPr/>
        </p:nvSpPr>
        <p:spPr>
          <a:xfrm>
            <a:off x="4846320" y="1216152"/>
            <a:ext cx="82296" cy="82296"/>
          </a:xfrm>
          <a:prstGeom prst="ellipse">
            <a:avLst/>
          </a:prstGeom>
          <a:solidFill>
            <a:srgbClr val="F87171"/>
          </a:solidFill>
          <a:ln w="12700">
            <a:solidFill>
              <a:srgbClr val="F87171"/>
            </a:solidFill>
            <a:prstDash val="solid"/>
          </a:ln>
        </p:spPr>
      </p:sp>
      <p:sp>
        <p:nvSpPr>
          <p:cNvPr id="37" name="Shape 34"/>
          <p:cNvSpPr/>
          <p:nvPr/>
        </p:nvSpPr>
        <p:spPr>
          <a:xfrm>
            <a:off x="4974336" y="1216152"/>
            <a:ext cx="82296" cy="82296"/>
          </a:xfrm>
          <a:prstGeom prst="ellipse">
            <a:avLst/>
          </a:prstGeom>
          <a:solidFill>
            <a:srgbClr val="FBBF24"/>
          </a:solidFill>
          <a:ln w="12700">
            <a:solidFill>
              <a:srgbClr val="FBBF24"/>
            </a:solidFill>
            <a:prstDash val="solid"/>
          </a:ln>
        </p:spPr>
      </p:sp>
      <p:sp>
        <p:nvSpPr>
          <p:cNvPr id="38" name="Shape 35"/>
          <p:cNvSpPr/>
          <p:nvPr/>
        </p:nvSpPr>
        <p:spPr>
          <a:xfrm>
            <a:off x="5102352" y="1216152"/>
            <a:ext cx="82296" cy="82296"/>
          </a:xfrm>
          <a:prstGeom prst="ellipse">
            <a:avLst/>
          </a:prstGeom>
          <a:solidFill>
            <a:srgbClr val="34D399"/>
          </a:solidFill>
          <a:ln w="12700">
            <a:solidFill>
              <a:srgbClr val="34D399"/>
            </a:solidFill>
            <a:prstDash val="solid"/>
          </a:ln>
        </p:spPr>
      </p:sp>
      <p:sp>
        <p:nvSpPr>
          <p:cNvPr id="39" name="Shape 36"/>
          <p:cNvSpPr/>
          <p:nvPr/>
        </p:nvSpPr>
        <p:spPr>
          <a:xfrm>
            <a:off x="4864608" y="1444752"/>
            <a:ext cx="3712464" cy="233172"/>
          </a:xfrm>
          <a:prstGeom prst="rect">
            <a:avLst/>
          </a:prstGeom>
          <a:solidFill>
            <a:srgbClr val="EEF0F4"/>
          </a:solidFill>
          <a:ln w="9525">
            <a:solidFill>
              <a:srgbClr val="9CA3AF"/>
            </a:solidFill>
            <a:prstDash val="solid"/>
          </a:ln>
        </p:spPr>
      </p:sp>
      <p:sp>
        <p:nvSpPr>
          <p:cNvPr id="40" name="Text 37"/>
          <p:cNvSpPr txBox="1"/>
          <p:nvPr/>
        </p:nvSpPr>
        <p:spPr>
          <a:xfrm>
            <a:off x="4864608" y="1444752"/>
            <a:ext cx="3712464" cy="233172"/>
          </a:xfrm>
          <a:prstGeom prst="rect">
            <a:avLst/>
          </a:prstGeom>
          <a:noFill/>
          <a:ln/>
        </p:spPr>
        <p:txBody>
          <a:bodyPr wrap="square" lIns="0" tIns="0" rIns="0" bIns="0" rtlCol="0" anchor="ctr"/>
          <a:lstStyle/>
          <a:p>
            <a:pPr marL="0" indent="0" algn="ctr">
              <a:buNone/>
            </a:pPr>
            <a:r>
              <a:rPr lang="en-US" sz="800" dirty="0">
                <a:solidFill>
                  <a:srgbClr val="6B7280"/>
                </a:solidFill>
              </a:rPr>
              <a:t>Header · logo · search · cart</a:t>
            </a:r>
            <a:endParaRPr lang="en-US" sz="800" dirty="0"/>
          </a:p>
        </p:txBody>
      </p:sp>
      <p:sp>
        <p:nvSpPr>
          <p:cNvPr id="41" name="Shape 38"/>
          <p:cNvSpPr/>
          <p:nvPr/>
        </p:nvSpPr>
        <p:spPr>
          <a:xfrm>
            <a:off x="4864608" y="1747876"/>
            <a:ext cx="816742" cy="1981962"/>
          </a:xfrm>
          <a:prstGeom prst="rect">
            <a:avLst/>
          </a:prstGeom>
          <a:solidFill>
            <a:srgbClr val="EEF0F4"/>
          </a:solidFill>
          <a:ln w="9525">
            <a:solidFill>
              <a:srgbClr val="9CA3AF"/>
            </a:solidFill>
            <a:prstDash val="solid"/>
          </a:ln>
        </p:spPr>
      </p:sp>
      <p:sp>
        <p:nvSpPr>
          <p:cNvPr id="42" name="Text 39"/>
          <p:cNvSpPr txBox="1"/>
          <p:nvPr/>
        </p:nvSpPr>
        <p:spPr>
          <a:xfrm>
            <a:off x="4864608" y="1747876"/>
            <a:ext cx="816742" cy="1981962"/>
          </a:xfrm>
          <a:prstGeom prst="rect">
            <a:avLst/>
          </a:prstGeom>
          <a:noFill/>
          <a:ln/>
        </p:spPr>
        <p:txBody>
          <a:bodyPr wrap="square" lIns="0" tIns="0" rIns="0" bIns="0" rtlCol="0" anchor="ctr"/>
          <a:lstStyle/>
          <a:p>
            <a:pPr marL="0" indent="0" algn="ctr">
              <a:buNone/>
            </a:pPr>
            <a:r>
              <a:rPr lang="en-US" sz="800" dirty="0">
                <a:solidFill>
                  <a:srgbClr val="6B7280"/>
                </a:solidFill>
              </a:rPr>
              <a:t>Filters</a:t>
            </a:r>
            <a:endParaRPr lang="en-US" sz="800" dirty="0"/>
          </a:p>
        </p:txBody>
      </p:sp>
      <p:sp>
        <p:nvSpPr>
          <p:cNvPr id="43" name="Shape 40"/>
          <p:cNvSpPr/>
          <p:nvPr/>
        </p:nvSpPr>
        <p:spPr>
          <a:xfrm>
            <a:off x="5792724" y="1747876"/>
            <a:ext cx="2784348" cy="163220"/>
          </a:xfrm>
          <a:prstGeom prst="rect">
            <a:avLst/>
          </a:prstGeom>
          <a:solidFill>
            <a:srgbClr val="EEF0F4"/>
          </a:solidFill>
          <a:ln w="9525">
            <a:solidFill>
              <a:srgbClr val="9CA3AF"/>
            </a:solidFill>
            <a:prstDash val="solid"/>
          </a:ln>
        </p:spPr>
      </p:sp>
      <p:sp>
        <p:nvSpPr>
          <p:cNvPr id="44" name="Text 41"/>
          <p:cNvSpPr txBox="1"/>
          <p:nvPr/>
        </p:nvSpPr>
        <p:spPr>
          <a:xfrm>
            <a:off x="5792724" y="1747876"/>
            <a:ext cx="2784348" cy="163220"/>
          </a:xfrm>
          <a:prstGeom prst="rect">
            <a:avLst/>
          </a:prstGeom>
          <a:noFill/>
          <a:ln/>
        </p:spPr>
        <p:txBody>
          <a:bodyPr wrap="square" lIns="0" tIns="0" rIns="0" bIns="0" rtlCol="0" anchor="ctr"/>
          <a:lstStyle/>
          <a:p>
            <a:pPr marL="0" indent="0" algn="ctr">
              <a:buNone/>
            </a:pPr>
            <a:r>
              <a:rPr lang="en-US" sz="800" dirty="0">
                <a:solidFill>
                  <a:srgbClr val="6B7280"/>
                </a:solidFill>
              </a:rPr>
              <a:t>Active filters · Sort</a:t>
            </a:r>
            <a:endParaRPr lang="en-US" sz="800" dirty="0"/>
          </a:p>
        </p:txBody>
      </p:sp>
      <p:sp>
        <p:nvSpPr>
          <p:cNvPr id="45" name="Shape 42"/>
          <p:cNvSpPr/>
          <p:nvPr/>
        </p:nvSpPr>
        <p:spPr>
          <a:xfrm>
            <a:off x="5792724" y="1981048"/>
            <a:ext cx="872429" cy="792785"/>
          </a:xfrm>
          <a:prstGeom prst="rect">
            <a:avLst/>
          </a:prstGeom>
          <a:solidFill>
            <a:srgbClr val="EEF0F4"/>
          </a:solidFill>
          <a:ln w="9525">
            <a:solidFill>
              <a:srgbClr val="9CA3AF"/>
            </a:solidFill>
            <a:prstDash val="solid"/>
          </a:ln>
        </p:spPr>
      </p:sp>
      <p:sp>
        <p:nvSpPr>
          <p:cNvPr id="46" name="Text 43"/>
          <p:cNvSpPr txBox="1"/>
          <p:nvPr/>
        </p:nvSpPr>
        <p:spPr>
          <a:xfrm>
            <a:off x="5792724" y="1981048"/>
            <a:ext cx="872429" cy="792785"/>
          </a:xfrm>
          <a:prstGeom prst="rect">
            <a:avLst/>
          </a:prstGeom>
          <a:noFill/>
          <a:ln/>
        </p:spPr>
        <p:txBody>
          <a:bodyPr wrap="square" lIns="0" tIns="0" rIns="0" bIns="0" rtlCol="0" anchor="ctr"/>
          <a:lstStyle/>
          <a:p>
            <a:pPr marL="0" indent="0" algn="ctr">
              <a:buNone/>
            </a:pPr>
            <a:r>
              <a:rPr lang="en-US" sz="800" dirty="0">
                <a:solidFill>
                  <a:srgbClr val="6B7280"/>
                </a:solidFill>
              </a:rPr>
              <a:t>Product card</a:t>
            </a:r>
            <a:endParaRPr lang="en-US" sz="800" dirty="0"/>
          </a:p>
        </p:txBody>
      </p:sp>
      <p:sp>
        <p:nvSpPr>
          <p:cNvPr id="47" name="Shape 44"/>
          <p:cNvSpPr/>
          <p:nvPr/>
        </p:nvSpPr>
        <p:spPr>
          <a:xfrm>
            <a:off x="6739402" y="1981048"/>
            <a:ext cx="872429" cy="792785"/>
          </a:xfrm>
          <a:prstGeom prst="rect">
            <a:avLst/>
          </a:prstGeom>
          <a:solidFill>
            <a:srgbClr val="EEF0F4"/>
          </a:solidFill>
          <a:ln w="9525">
            <a:solidFill>
              <a:srgbClr val="9CA3AF"/>
            </a:solidFill>
            <a:prstDash val="solid"/>
          </a:ln>
        </p:spPr>
      </p:sp>
      <p:sp>
        <p:nvSpPr>
          <p:cNvPr id="48" name="Text 45"/>
          <p:cNvSpPr txBox="1"/>
          <p:nvPr/>
        </p:nvSpPr>
        <p:spPr>
          <a:xfrm>
            <a:off x="6739402" y="1981048"/>
            <a:ext cx="872429" cy="792785"/>
          </a:xfrm>
          <a:prstGeom prst="rect">
            <a:avLst/>
          </a:prstGeom>
          <a:noFill/>
          <a:ln/>
        </p:spPr>
        <p:txBody>
          <a:bodyPr wrap="square" lIns="0" tIns="0" rIns="0" bIns="0" rtlCol="0" anchor="ctr"/>
          <a:lstStyle/>
          <a:p>
            <a:pPr marL="0" indent="0" algn="ctr">
              <a:buNone/>
            </a:pPr>
            <a:r>
              <a:rPr lang="en-US" sz="800" dirty="0">
                <a:solidFill>
                  <a:srgbClr val="6B7280"/>
                </a:solidFill>
              </a:rPr>
              <a:t>Product card</a:t>
            </a:r>
            <a:endParaRPr lang="en-US" sz="800" dirty="0"/>
          </a:p>
        </p:txBody>
      </p:sp>
      <p:sp>
        <p:nvSpPr>
          <p:cNvPr id="49" name="Shape 46"/>
          <p:cNvSpPr/>
          <p:nvPr/>
        </p:nvSpPr>
        <p:spPr>
          <a:xfrm>
            <a:off x="7686081" y="1981048"/>
            <a:ext cx="872429" cy="792785"/>
          </a:xfrm>
          <a:prstGeom prst="rect">
            <a:avLst/>
          </a:prstGeom>
          <a:solidFill>
            <a:srgbClr val="EEF0F4"/>
          </a:solidFill>
          <a:ln w="9525">
            <a:solidFill>
              <a:srgbClr val="9CA3AF"/>
            </a:solidFill>
            <a:prstDash val="solid"/>
          </a:ln>
        </p:spPr>
      </p:sp>
      <p:sp>
        <p:nvSpPr>
          <p:cNvPr id="50" name="Text 47"/>
          <p:cNvSpPr txBox="1"/>
          <p:nvPr/>
        </p:nvSpPr>
        <p:spPr>
          <a:xfrm>
            <a:off x="7686081" y="1981048"/>
            <a:ext cx="872429" cy="792785"/>
          </a:xfrm>
          <a:prstGeom prst="rect">
            <a:avLst/>
          </a:prstGeom>
          <a:noFill/>
          <a:ln/>
        </p:spPr>
        <p:txBody>
          <a:bodyPr wrap="square" lIns="0" tIns="0" rIns="0" bIns="0" rtlCol="0" anchor="ctr"/>
          <a:lstStyle/>
          <a:p>
            <a:pPr marL="0" indent="0" algn="ctr">
              <a:buNone/>
            </a:pPr>
            <a:r>
              <a:rPr lang="en-US" sz="800" dirty="0">
                <a:solidFill>
                  <a:srgbClr val="6B7280"/>
                </a:solidFill>
              </a:rPr>
              <a:t>Product card</a:t>
            </a:r>
            <a:endParaRPr lang="en-US" sz="800" dirty="0"/>
          </a:p>
        </p:txBody>
      </p:sp>
      <p:sp>
        <p:nvSpPr>
          <p:cNvPr id="51" name="Shape 48"/>
          <p:cNvSpPr/>
          <p:nvPr/>
        </p:nvSpPr>
        <p:spPr>
          <a:xfrm>
            <a:off x="5792724" y="2867101"/>
            <a:ext cx="872429" cy="792785"/>
          </a:xfrm>
          <a:prstGeom prst="rect">
            <a:avLst/>
          </a:prstGeom>
          <a:solidFill>
            <a:srgbClr val="EEF0F4"/>
          </a:solidFill>
          <a:ln w="9525">
            <a:solidFill>
              <a:srgbClr val="9CA3AF"/>
            </a:solidFill>
            <a:prstDash val="solid"/>
          </a:ln>
        </p:spPr>
      </p:sp>
      <p:sp>
        <p:nvSpPr>
          <p:cNvPr id="52" name="Text 49"/>
          <p:cNvSpPr txBox="1"/>
          <p:nvPr/>
        </p:nvSpPr>
        <p:spPr>
          <a:xfrm>
            <a:off x="5792724" y="2867101"/>
            <a:ext cx="872429" cy="792785"/>
          </a:xfrm>
          <a:prstGeom prst="rect">
            <a:avLst/>
          </a:prstGeom>
          <a:noFill/>
          <a:ln/>
        </p:spPr>
        <p:txBody>
          <a:bodyPr wrap="square" lIns="0" tIns="0" rIns="0" bIns="0" rtlCol="0" anchor="ctr"/>
          <a:lstStyle/>
          <a:p>
            <a:pPr marL="0" indent="0" algn="ctr">
              <a:buNone/>
            </a:pPr>
            <a:r>
              <a:rPr lang="en-US" sz="800" dirty="0">
                <a:solidFill>
                  <a:srgbClr val="6B7280"/>
                </a:solidFill>
              </a:rPr>
              <a:t>Product card</a:t>
            </a:r>
            <a:endParaRPr lang="en-US" sz="800" dirty="0"/>
          </a:p>
        </p:txBody>
      </p:sp>
      <p:sp>
        <p:nvSpPr>
          <p:cNvPr id="53" name="Shape 50"/>
          <p:cNvSpPr/>
          <p:nvPr/>
        </p:nvSpPr>
        <p:spPr>
          <a:xfrm>
            <a:off x="6739402" y="2867101"/>
            <a:ext cx="872429" cy="792785"/>
          </a:xfrm>
          <a:prstGeom prst="rect">
            <a:avLst/>
          </a:prstGeom>
          <a:solidFill>
            <a:srgbClr val="EEF0F4"/>
          </a:solidFill>
          <a:ln w="9525">
            <a:solidFill>
              <a:srgbClr val="9CA3AF"/>
            </a:solidFill>
            <a:prstDash val="solid"/>
          </a:ln>
        </p:spPr>
      </p:sp>
      <p:sp>
        <p:nvSpPr>
          <p:cNvPr id="54" name="Text 51"/>
          <p:cNvSpPr txBox="1"/>
          <p:nvPr/>
        </p:nvSpPr>
        <p:spPr>
          <a:xfrm>
            <a:off x="6739402" y="2867101"/>
            <a:ext cx="872429" cy="792785"/>
          </a:xfrm>
          <a:prstGeom prst="rect">
            <a:avLst/>
          </a:prstGeom>
          <a:noFill/>
          <a:ln/>
        </p:spPr>
        <p:txBody>
          <a:bodyPr wrap="square" lIns="0" tIns="0" rIns="0" bIns="0" rtlCol="0" anchor="ctr"/>
          <a:lstStyle/>
          <a:p>
            <a:pPr marL="0" indent="0" algn="ctr">
              <a:buNone/>
            </a:pPr>
            <a:r>
              <a:rPr lang="en-US" sz="800" dirty="0">
                <a:solidFill>
                  <a:srgbClr val="6B7280"/>
                </a:solidFill>
              </a:rPr>
              <a:t>Product card</a:t>
            </a:r>
            <a:endParaRPr lang="en-US" sz="800" dirty="0"/>
          </a:p>
        </p:txBody>
      </p:sp>
      <p:sp>
        <p:nvSpPr>
          <p:cNvPr id="55" name="Shape 52"/>
          <p:cNvSpPr/>
          <p:nvPr/>
        </p:nvSpPr>
        <p:spPr>
          <a:xfrm>
            <a:off x="7686081" y="2867101"/>
            <a:ext cx="872429" cy="792785"/>
          </a:xfrm>
          <a:prstGeom prst="rect">
            <a:avLst/>
          </a:prstGeom>
          <a:solidFill>
            <a:srgbClr val="EEF0F4"/>
          </a:solidFill>
          <a:ln w="9525">
            <a:solidFill>
              <a:srgbClr val="9CA3AF"/>
            </a:solidFill>
            <a:prstDash val="solid"/>
          </a:ln>
        </p:spPr>
      </p:sp>
      <p:sp>
        <p:nvSpPr>
          <p:cNvPr id="56" name="Text 53"/>
          <p:cNvSpPr txBox="1"/>
          <p:nvPr/>
        </p:nvSpPr>
        <p:spPr>
          <a:xfrm>
            <a:off x="7686081" y="2867101"/>
            <a:ext cx="872429" cy="792785"/>
          </a:xfrm>
          <a:prstGeom prst="rect">
            <a:avLst/>
          </a:prstGeom>
          <a:noFill/>
          <a:ln/>
        </p:spPr>
        <p:txBody>
          <a:bodyPr wrap="square" lIns="0" tIns="0" rIns="0" bIns="0" rtlCol="0" anchor="ctr"/>
          <a:lstStyle/>
          <a:p>
            <a:pPr marL="0" indent="0" algn="ctr">
              <a:buNone/>
            </a:pPr>
            <a:r>
              <a:rPr lang="en-US" sz="800" dirty="0">
                <a:solidFill>
                  <a:srgbClr val="6B7280"/>
                </a:solidFill>
              </a:rPr>
              <a:t>Product card</a:t>
            </a:r>
            <a:endParaRPr lang="en-US" sz="800" dirty="0"/>
          </a:p>
        </p:txBody>
      </p:sp>
      <p:sp>
        <p:nvSpPr>
          <p:cNvPr id="57" name="Shape 54"/>
          <p:cNvSpPr/>
          <p:nvPr/>
        </p:nvSpPr>
        <p:spPr>
          <a:xfrm>
            <a:off x="457200" y="1024128"/>
            <a:ext cx="237744" cy="237744"/>
          </a:xfrm>
          <a:prstGeom prst="ellipse">
            <a:avLst/>
          </a:prstGeom>
          <a:solidFill>
            <a:srgbClr val="BE185D"/>
          </a:solidFill>
          <a:ln w="12700">
            <a:solidFill>
              <a:srgbClr val="BE185D"/>
            </a:solidFill>
            <a:prstDash val="solid"/>
          </a:ln>
        </p:spPr>
      </p:sp>
      <p:sp>
        <p:nvSpPr>
          <p:cNvPr id="58" name="Text 55"/>
          <p:cNvSpPr txBox="1"/>
          <p:nvPr/>
        </p:nvSpPr>
        <p:spPr>
          <a:xfrm>
            <a:off x="457200" y="1024128"/>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59" name="Shape 56"/>
          <p:cNvSpPr/>
          <p:nvPr/>
        </p:nvSpPr>
        <p:spPr>
          <a:xfrm>
            <a:off x="4023360" y="1554480"/>
            <a:ext cx="237744" cy="237744"/>
          </a:xfrm>
          <a:prstGeom prst="ellipse">
            <a:avLst/>
          </a:prstGeom>
          <a:solidFill>
            <a:srgbClr val="BE185D"/>
          </a:solidFill>
          <a:ln w="12700">
            <a:solidFill>
              <a:srgbClr val="BE185D"/>
            </a:solidFill>
            <a:prstDash val="solid"/>
          </a:ln>
        </p:spPr>
      </p:sp>
      <p:sp>
        <p:nvSpPr>
          <p:cNvPr id="60" name="Text 57"/>
          <p:cNvSpPr txBox="1"/>
          <p:nvPr/>
        </p:nvSpPr>
        <p:spPr>
          <a:xfrm>
            <a:off x="4023360" y="155448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61" name="Shape 58"/>
          <p:cNvSpPr/>
          <p:nvPr/>
        </p:nvSpPr>
        <p:spPr>
          <a:xfrm>
            <a:off x="502920" y="2651760"/>
            <a:ext cx="237744" cy="237744"/>
          </a:xfrm>
          <a:prstGeom prst="ellipse">
            <a:avLst/>
          </a:prstGeom>
          <a:solidFill>
            <a:srgbClr val="BE185D"/>
          </a:solidFill>
          <a:ln w="12700">
            <a:solidFill>
              <a:srgbClr val="BE185D"/>
            </a:solidFill>
            <a:prstDash val="solid"/>
          </a:ln>
        </p:spPr>
      </p:sp>
      <p:sp>
        <p:nvSpPr>
          <p:cNvPr id="62" name="Text 59"/>
          <p:cNvSpPr txBox="1"/>
          <p:nvPr/>
        </p:nvSpPr>
        <p:spPr>
          <a:xfrm>
            <a:off x="502920" y="265176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63" name="Shape 60"/>
          <p:cNvSpPr/>
          <p:nvPr/>
        </p:nvSpPr>
        <p:spPr>
          <a:xfrm>
            <a:off x="4754880" y="1024128"/>
            <a:ext cx="237744" cy="237744"/>
          </a:xfrm>
          <a:prstGeom prst="ellipse">
            <a:avLst/>
          </a:prstGeom>
          <a:solidFill>
            <a:srgbClr val="BE185D"/>
          </a:solidFill>
          <a:ln w="12700">
            <a:solidFill>
              <a:srgbClr val="BE185D"/>
            </a:solidFill>
            <a:prstDash val="solid"/>
          </a:ln>
        </p:spPr>
      </p:sp>
      <p:sp>
        <p:nvSpPr>
          <p:cNvPr id="64" name="Text 61"/>
          <p:cNvSpPr txBox="1"/>
          <p:nvPr/>
        </p:nvSpPr>
        <p:spPr>
          <a:xfrm>
            <a:off x="4754880" y="1024128"/>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65" name="Shape 62"/>
          <p:cNvSpPr/>
          <p:nvPr/>
        </p:nvSpPr>
        <p:spPr>
          <a:xfrm>
            <a:off x="4754880" y="1920240"/>
            <a:ext cx="237744" cy="237744"/>
          </a:xfrm>
          <a:prstGeom prst="ellipse">
            <a:avLst/>
          </a:prstGeom>
          <a:solidFill>
            <a:srgbClr val="BE185D"/>
          </a:solidFill>
          <a:ln w="12700">
            <a:solidFill>
              <a:srgbClr val="BE185D"/>
            </a:solidFill>
            <a:prstDash val="solid"/>
          </a:ln>
        </p:spPr>
      </p:sp>
      <p:sp>
        <p:nvSpPr>
          <p:cNvPr id="66" name="Text 63"/>
          <p:cNvSpPr txBox="1"/>
          <p:nvPr/>
        </p:nvSpPr>
        <p:spPr>
          <a:xfrm>
            <a:off x="4754880" y="192024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67" name="Shape 64"/>
          <p:cNvSpPr/>
          <p:nvPr/>
        </p:nvSpPr>
        <p:spPr>
          <a:xfrm>
            <a:off x="457200" y="4041648"/>
            <a:ext cx="237744" cy="237744"/>
          </a:xfrm>
          <a:prstGeom prst="ellipse">
            <a:avLst/>
          </a:prstGeom>
          <a:solidFill>
            <a:srgbClr val="BE185D"/>
          </a:solidFill>
          <a:ln w="12700">
            <a:solidFill>
              <a:srgbClr val="BE185D"/>
            </a:solidFill>
            <a:prstDash val="solid"/>
          </a:ln>
        </p:spPr>
      </p:sp>
      <p:sp>
        <p:nvSpPr>
          <p:cNvPr id="68" name="Text 65"/>
          <p:cNvSpPr txBox="1"/>
          <p:nvPr/>
        </p:nvSpPr>
        <p:spPr>
          <a:xfrm>
            <a:off x="457200" y="4041648"/>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69" name="Text 66"/>
          <p:cNvSpPr txBox="1"/>
          <p:nvPr/>
        </p:nvSpPr>
        <p:spPr>
          <a:xfrm>
            <a:off x="777240" y="4041648"/>
            <a:ext cx="2377440" cy="237744"/>
          </a:xfrm>
          <a:prstGeom prst="rect">
            <a:avLst/>
          </a:prstGeom>
          <a:noFill/>
          <a:ln/>
        </p:spPr>
        <p:txBody>
          <a:bodyPr wrap="square" lIns="0" tIns="0" rIns="0" bIns="0" rtlCol="0" anchor="ctr"/>
          <a:lstStyle/>
          <a:p>
            <a:pPr marL="0" indent="0">
              <a:buNone/>
            </a:pPr>
            <a:r>
              <a:rPr lang="en-US" sz="1100" dirty="0">
                <a:solidFill>
                  <a:srgbClr val="1F2937"/>
                </a:solidFill>
              </a:rPr>
              <a:t>Header: search and cart on every page</a:t>
            </a:r>
            <a:endParaRPr lang="en-US" sz="1100" dirty="0"/>
          </a:p>
        </p:txBody>
      </p:sp>
      <p:sp>
        <p:nvSpPr>
          <p:cNvPr id="70" name="Shape 67"/>
          <p:cNvSpPr/>
          <p:nvPr/>
        </p:nvSpPr>
        <p:spPr>
          <a:xfrm>
            <a:off x="3246120" y="4041648"/>
            <a:ext cx="237744" cy="237744"/>
          </a:xfrm>
          <a:prstGeom prst="ellipse">
            <a:avLst/>
          </a:prstGeom>
          <a:solidFill>
            <a:srgbClr val="BE185D"/>
          </a:solidFill>
          <a:ln w="12700">
            <a:solidFill>
              <a:srgbClr val="BE185D"/>
            </a:solidFill>
            <a:prstDash val="solid"/>
          </a:ln>
        </p:spPr>
      </p:sp>
      <p:sp>
        <p:nvSpPr>
          <p:cNvPr id="71" name="Text 68"/>
          <p:cNvSpPr txBox="1"/>
          <p:nvPr/>
        </p:nvSpPr>
        <p:spPr>
          <a:xfrm>
            <a:off x="3246120" y="4041648"/>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72" name="Text 69"/>
          <p:cNvSpPr txBox="1"/>
          <p:nvPr/>
        </p:nvSpPr>
        <p:spPr>
          <a:xfrm>
            <a:off x="3566160" y="4041648"/>
            <a:ext cx="2377440" cy="237744"/>
          </a:xfrm>
          <a:prstGeom prst="rect">
            <a:avLst/>
          </a:prstGeom>
          <a:noFill/>
          <a:ln/>
        </p:spPr>
        <p:txBody>
          <a:bodyPr wrap="square" lIns="0" tIns="0" rIns="0" bIns="0" rtlCol="0" anchor="ctr"/>
          <a:lstStyle/>
          <a:p>
            <a:pPr marL="0" indent="0">
              <a:buNone/>
            </a:pPr>
            <a:r>
              <a:rPr lang="en-US" sz="1100" dirty="0">
                <a:solidFill>
                  <a:srgbClr val="1F2937"/>
                </a:solidFill>
              </a:rPr>
              <a:t>One primary call to action</a:t>
            </a:r>
            <a:endParaRPr lang="en-US" sz="1100" dirty="0"/>
          </a:p>
        </p:txBody>
      </p:sp>
      <p:sp>
        <p:nvSpPr>
          <p:cNvPr id="73" name="Shape 70"/>
          <p:cNvSpPr/>
          <p:nvPr/>
        </p:nvSpPr>
        <p:spPr>
          <a:xfrm>
            <a:off x="6035040" y="4041648"/>
            <a:ext cx="237744" cy="237744"/>
          </a:xfrm>
          <a:prstGeom prst="ellipse">
            <a:avLst/>
          </a:prstGeom>
          <a:solidFill>
            <a:srgbClr val="BE185D"/>
          </a:solidFill>
          <a:ln w="12700">
            <a:solidFill>
              <a:srgbClr val="BE185D"/>
            </a:solidFill>
            <a:prstDash val="solid"/>
          </a:ln>
        </p:spPr>
      </p:sp>
      <p:sp>
        <p:nvSpPr>
          <p:cNvPr id="74" name="Text 71"/>
          <p:cNvSpPr txBox="1"/>
          <p:nvPr/>
        </p:nvSpPr>
        <p:spPr>
          <a:xfrm>
            <a:off x="6035040" y="4041648"/>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75" name="Text 72"/>
          <p:cNvSpPr txBox="1"/>
          <p:nvPr/>
        </p:nvSpPr>
        <p:spPr>
          <a:xfrm>
            <a:off x="6355080" y="4041648"/>
            <a:ext cx="2377440" cy="237744"/>
          </a:xfrm>
          <a:prstGeom prst="rect">
            <a:avLst/>
          </a:prstGeom>
          <a:noFill/>
          <a:ln/>
        </p:spPr>
        <p:txBody>
          <a:bodyPr wrap="square" lIns="0" tIns="0" rIns="0" bIns="0" rtlCol="0" anchor="ctr"/>
          <a:lstStyle/>
          <a:p>
            <a:pPr marL="0" indent="0">
              <a:buNone/>
            </a:pPr>
            <a:r>
              <a:rPr lang="en-US" sz="1100" dirty="0">
                <a:solidFill>
                  <a:srgbClr val="1F2937"/>
                </a:solidFill>
              </a:rPr>
              <a:t>Category shortcuts and product grid</a:t>
            </a:r>
            <a:endParaRPr lang="en-US" sz="1100" dirty="0"/>
          </a:p>
        </p:txBody>
      </p:sp>
      <p:sp>
        <p:nvSpPr>
          <p:cNvPr id="76" name="Shape 73"/>
          <p:cNvSpPr/>
          <p:nvPr/>
        </p:nvSpPr>
        <p:spPr>
          <a:xfrm>
            <a:off x="457200" y="4389120"/>
            <a:ext cx="237744" cy="237744"/>
          </a:xfrm>
          <a:prstGeom prst="ellipse">
            <a:avLst/>
          </a:prstGeom>
          <a:solidFill>
            <a:srgbClr val="BE185D"/>
          </a:solidFill>
          <a:ln w="12700">
            <a:solidFill>
              <a:srgbClr val="BE185D"/>
            </a:solidFill>
            <a:prstDash val="solid"/>
          </a:ln>
        </p:spPr>
      </p:sp>
      <p:sp>
        <p:nvSpPr>
          <p:cNvPr id="77" name="Text 74"/>
          <p:cNvSpPr txBox="1"/>
          <p:nvPr/>
        </p:nvSpPr>
        <p:spPr>
          <a:xfrm>
            <a:off x="457200" y="438912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78" name="Text 75"/>
          <p:cNvSpPr txBox="1"/>
          <p:nvPr/>
        </p:nvSpPr>
        <p:spPr>
          <a:xfrm>
            <a:off x="777240" y="4389120"/>
            <a:ext cx="2377440" cy="237744"/>
          </a:xfrm>
          <a:prstGeom prst="rect">
            <a:avLst/>
          </a:prstGeom>
          <a:noFill/>
          <a:ln/>
        </p:spPr>
        <p:txBody>
          <a:bodyPr wrap="square" lIns="0" tIns="0" rIns="0" bIns="0" rtlCol="0" anchor="ctr"/>
          <a:lstStyle/>
          <a:p>
            <a:pPr marL="0" indent="0">
              <a:buNone/>
            </a:pPr>
            <a:r>
              <a:rPr lang="en-US" sz="1100" dirty="0">
                <a:solidFill>
                  <a:srgbClr val="1F2937"/>
                </a:solidFill>
              </a:rPr>
              <a:t>Filters in sidebar, sort above grid</a:t>
            </a:r>
            <a:endParaRPr lang="en-US" sz="1100" dirty="0"/>
          </a:p>
        </p:txBody>
      </p:sp>
      <p:sp>
        <p:nvSpPr>
          <p:cNvPr id="79" name="Shape 76"/>
          <p:cNvSpPr/>
          <p:nvPr/>
        </p:nvSpPr>
        <p:spPr>
          <a:xfrm>
            <a:off x="3246120" y="4389120"/>
            <a:ext cx="237744" cy="237744"/>
          </a:xfrm>
          <a:prstGeom prst="ellipse">
            <a:avLst/>
          </a:prstGeom>
          <a:solidFill>
            <a:srgbClr val="BE185D"/>
          </a:solidFill>
          <a:ln w="12700">
            <a:solidFill>
              <a:srgbClr val="BE185D"/>
            </a:solidFill>
            <a:prstDash val="solid"/>
          </a:ln>
        </p:spPr>
      </p:sp>
      <p:sp>
        <p:nvSpPr>
          <p:cNvPr id="80" name="Text 77"/>
          <p:cNvSpPr txBox="1"/>
          <p:nvPr/>
        </p:nvSpPr>
        <p:spPr>
          <a:xfrm>
            <a:off x="3246120" y="438912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81" name="Text 78"/>
          <p:cNvSpPr txBox="1"/>
          <p:nvPr/>
        </p:nvSpPr>
        <p:spPr>
          <a:xfrm>
            <a:off x="3566160" y="4389120"/>
            <a:ext cx="2377440" cy="237744"/>
          </a:xfrm>
          <a:prstGeom prst="rect">
            <a:avLst/>
          </a:prstGeom>
          <a:noFill/>
          <a:ln/>
        </p:spPr>
        <p:txBody>
          <a:bodyPr wrap="square" lIns="0" tIns="0" rIns="0" bIns="0" rtlCol="0" anchor="ctr"/>
          <a:lstStyle/>
          <a:p>
            <a:pPr marL="0" indent="0">
              <a:buNone/>
            </a:pPr>
            <a:r>
              <a:rPr lang="en-US" sz="1100" dirty="0">
                <a:solidFill>
                  <a:srgbClr val="1F2937"/>
                </a:solidFill>
              </a:rPr>
              <a:t>Active filters stay visible</a:t>
            </a:r>
            <a:endParaRPr lang="en-US" sz="1100" dirty="0"/>
          </a:p>
        </p:txBody>
      </p:sp>
      <p:sp>
        <p:nvSpPr>
          <p:cNvPr id="82" name="Shape 79"/>
          <p:cNvSpPr/>
          <p:nvPr/>
        </p:nvSpPr>
        <p:spPr>
          <a:xfrm>
            <a:off x="6126480" y="4462272"/>
            <a:ext cx="2560320" cy="256032"/>
          </a:xfrm>
          <a:prstGeom prst="roundRect">
            <a:avLst>
              <a:gd name="adj" fmla="val 50000"/>
            </a:avLst>
          </a:prstGeom>
          <a:solidFill>
            <a:srgbClr val="E6ECFF"/>
          </a:solidFill>
          <a:ln w="12700">
            <a:solidFill>
              <a:srgbClr val="E6ECFF"/>
            </a:solidFill>
            <a:prstDash val="solid"/>
          </a:ln>
        </p:spPr>
      </p:sp>
      <p:sp>
        <p:nvSpPr>
          <p:cNvPr id="83" name="Text 80"/>
          <p:cNvSpPr txBox="1"/>
          <p:nvPr/>
        </p:nvSpPr>
        <p:spPr>
          <a:xfrm>
            <a:off x="6126480" y="4462272"/>
            <a:ext cx="2560320" cy="256032"/>
          </a:xfrm>
          <a:prstGeom prst="rect">
            <a:avLst/>
          </a:prstGeom>
          <a:noFill/>
          <a:ln/>
        </p:spPr>
        <p:txBody>
          <a:bodyPr wrap="square" lIns="0" tIns="0" rIns="0" bIns="0" rtlCol="0" anchor="ctr"/>
          <a:lstStyle/>
          <a:p>
            <a:pPr marL="0" indent="0" algn="ctr">
              <a:buNone/>
            </a:pPr>
            <a:r>
              <a:rPr lang="en-US" sz="1050" b="1" dirty="0">
                <a:solidFill>
                  <a:srgbClr val="2F5BFF"/>
                </a:solidFill>
              </a:rPr>
              <a:t>Illustrative wireframes, not Figma exports</a:t>
            </a:r>
            <a:endParaRPr lang="en-US" sz="105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07 · DESIGN</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Visual Design System</a:t>
            </a:r>
            <a:endParaRPr lang="en-US" sz="2500" dirty="0"/>
          </a:p>
        </p:txBody>
      </p:sp>
      <p:sp>
        <p:nvSpPr>
          <p:cNvPr id="5" name="Shape 2"/>
          <p:cNvSpPr/>
          <p:nvPr/>
        </p:nvSpPr>
        <p:spPr>
          <a:xfrm>
            <a:off x="457200" y="1143000"/>
            <a:ext cx="731520" cy="640080"/>
          </a:xfrm>
          <a:prstGeom prst="roundRect">
            <a:avLst>
              <a:gd name="adj" fmla="val 8571"/>
            </a:avLst>
          </a:prstGeom>
          <a:solidFill>
            <a:srgbClr val="0B1F4B"/>
          </a:solidFill>
          <a:ln w="9525">
            <a:solidFill>
              <a:srgbClr val="DDE3F0"/>
            </a:solidFill>
            <a:prstDash val="solid"/>
          </a:ln>
          <a:effectLst>
            <a:outerShdw blurRad="101600" dist="25400" dir="5400000" algn="bl" rotWithShape="0">
              <a:srgbClr val="000000">
                <a:alpha val="14000"/>
              </a:srgbClr>
            </a:outerShdw>
          </a:effectLst>
        </p:spPr>
      </p:sp>
      <p:sp>
        <p:nvSpPr>
          <p:cNvPr id="6" name="Text 3"/>
          <p:cNvSpPr txBox="1"/>
          <p:nvPr/>
        </p:nvSpPr>
        <p:spPr>
          <a:xfrm>
            <a:off x="457200" y="1828800"/>
            <a:ext cx="731520" cy="201168"/>
          </a:xfrm>
          <a:prstGeom prst="rect">
            <a:avLst/>
          </a:prstGeom>
          <a:noFill/>
          <a:ln/>
        </p:spPr>
        <p:txBody>
          <a:bodyPr wrap="square" lIns="0" tIns="0" rIns="0" bIns="0" rtlCol="0" anchor="t"/>
          <a:lstStyle/>
          <a:p>
            <a:pPr marL="0" indent="0" algn="ctr">
              <a:buNone/>
            </a:pPr>
            <a:r>
              <a:rPr lang="en-US" sz="1050" b="1" dirty="0">
                <a:solidFill>
                  <a:srgbClr val="0B1F4B"/>
                </a:solidFill>
              </a:rPr>
              <a:t>Navy</a:t>
            </a:r>
            <a:endParaRPr lang="en-US" sz="1050" dirty="0"/>
          </a:p>
        </p:txBody>
      </p:sp>
      <p:sp>
        <p:nvSpPr>
          <p:cNvPr id="7" name="Text 4"/>
          <p:cNvSpPr txBox="1"/>
          <p:nvPr/>
        </p:nvSpPr>
        <p:spPr>
          <a:xfrm>
            <a:off x="457200" y="2029968"/>
            <a:ext cx="731520" cy="182880"/>
          </a:xfrm>
          <a:prstGeom prst="rect">
            <a:avLst/>
          </a:prstGeom>
          <a:noFill/>
          <a:ln/>
        </p:spPr>
        <p:txBody>
          <a:bodyPr wrap="square" lIns="0" tIns="0" rIns="0" bIns="0" rtlCol="0" anchor="t"/>
          <a:lstStyle/>
          <a:p>
            <a:pPr marL="0" indent="0" algn="ctr">
              <a:buNone/>
            </a:pPr>
            <a:r>
              <a:rPr lang="en-US" sz="950" dirty="0">
                <a:solidFill>
                  <a:srgbClr val="6B7280"/>
                </a:solidFill>
              </a:rPr>
              <a:t>#0B1F4B</a:t>
            </a:r>
            <a:endParaRPr lang="en-US" sz="950" dirty="0"/>
          </a:p>
        </p:txBody>
      </p:sp>
      <p:sp>
        <p:nvSpPr>
          <p:cNvPr id="8" name="Shape 5"/>
          <p:cNvSpPr/>
          <p:nvPr/>
        </p:nvSpPr>
        <p:spPr>
          <a:xfrm>
            <a:off x="1280160" y="1143000"/>
            <a:ext cx="731520" cy="640080"/>
          </a:xfrm>
          <a:prstGeom prst="roundRect">
            <a:avLst>
              <a:gd name="adj" fmla="val 8571"/>
            </a:avLst>
          </a:prstGeom>
          <a:solidFill>
            <a:srgbClr val="2F5BFF"/>
          </a:solidFill>
          <a:ln w="9525">
            <a:solidFill>
              <a:srgbClr val="DDE3F0"/>
            </a:solidFill>
            <a:prstDash val="solid"/>
          </a:ln>
          <a:effectLst>
            <a:outerShdw blurRad="101600" dist="25400" dir="5400000" algn="bl" rotWithShape="0">
              <a:srgbClr val="000000">
                <a:alpha val="14000"/>
              </a:srgbClr>
            </a:outerShdw>
          </a:effectLst>
        </p:spPr>
      </p:sp>
      <p:sp>
        <p:nvSpPr>
          <p:cNvPr id="9" name="Text 6"/>
          <p:cNvSpPr txBox="1"/>
          <p:nvPr/>
        </p:nvSpPr>
        <p:spPr>
          <a:xfrm>
            <a:off x="1280160" y="1828800"/>
            <a:ext cx="731520" cy="201168"/>
          </a:xfrm>
          <a:prstGeom prst="rect">
            <a:avLst/>
          </a:prstGeom>
          <a:noFill/>
          <a:ln/>
        </p:spPr>
        <p:txBody>
          <a:bodyPr wrap="square" lIns="0" tIns="0" rIns="0" bIns="0" rtlCol="0" anchor="t"/>
          <a:lstStyle/>
          <a:p>
            <a:pPr marL="0" indent="0" algn="ctr">
              <a:buNone/>
            </a:pPr>
            <a:r>
              <a:rPr lang="en-US" sz="1050" b="1" dirty="0">
                <a:solidFill>
                  <a:srgbClr val="0B1F4B"/>
                </a:solidFill>
              </a:rPr>
              <a:t>Blue</a:t>
            </a:r>
            <a:endParaRPr lang="en-US" sz="1050" dirty="0"/>
          </a:p>
        </p:txBody>
      </p:sp>
      <p:sp>
        <p:nvSpPr>
          <p:cNvPr id="10" name="Text 7"/>
          <p:cNvSpPr txBox="1"/>
          <p:nvPr/>
        </p:nvSpPr>
        <p:spPr>
          <a:xfrm>
            <a:off x="1280160" y="2029968"/>
            <a:ext cx="731520" cy="182880"/>
          </a:xfrm>
          <a:prstGeom prst="rect">
            <a:avLst/>
          </a:prstGeom>
          <a:noFill/>
          <a:ln/>
        </p:spPr>
        <p:txBody>
          <a:bodyPr wrap="square" lIns="0" tIns="0" rIns="0" bIns="0" rtlCol="0" anchor="t"/>
          <a:lstStyle/>
          <a:p>
            <a:pPr marL="0" indent="0" algn="ctr">
              <a:buNone/>
            </a:pPr>
            <a:r>
              <a:rPr lang="en-US" sz="950" dirty="0">
                <a:solidFill>
                  <a:srgbClr val="6B7280"/>
                </a:solidFill>
              </a:rPr>
              <a:t>#2F5BFF</a:t>
            </a:r>
            <a:endParaRPr lang="en-US" sz="950" dirty="0"/>
          </a:p>
        </p:txBody>
      </p:sp>
      <p:sp>
        <p:nvSpPr>
          <p:cNvPr id="11" name="Shape 8"/>
          <p:cNvSpPr/>
          <p:nvPr/>
        </p:nvSpPr>
        <p:spPr>
          <a:xfrm>
            <a:off x="2103120" y="1143000"/>
            <a:ext cx="731520" cy="640080"/>
          </a:xfrm>
          <a:prstGeom prst="roundRect">
            <a:avLst>
              <a:gd name="adj" fmla="val 8571"/>
            </a:avLst>
          </a:prstGeom>
          <a:solidFill>
            <a:srgbClr val="BE185D"/>
          </a:solidFill>
          <a:ln w="9525">
            <a:solidFill>
              <a:srgbClr val="DDE3F0"/>
            </a:solidFill>
            <a:prstDash val="solid"/>
          </a:ln>
          <a:effectLst>
            <a:outerShdw blurRad="101600" dist="25400" dir="5400000" algn="bl" rotWithShape="0">
              <a:srgbClr val="000000">
                <a:alpha val="14000"/>
              </a:srgbClr>
            </a:outerShdw>
          </a:effectLst>
        </p:spPr>
      </p:sp>
      <p:sp>
        <p:nvSpPr>
          <p:cNvPr id="12" name="Text 9"/>
          <p:cNvSpPr txBox="1"/>
          <p:nvPr/>
        </p:nvSpPr>
        <p:spPr>
          <a:xfrm>
            <a:off x="2103120" y="1828800"/>
            <a:ext cx="731520" cy="201168"/>
          </a:xfrm>
          <a:prstGeom prst="rect">
            <a:avLst/>
          </a:prstGeom>
          <a:noFill/>
          <a:ln/>
        </p:spPr>
        <p:txBody>
          <a:bodyPr wrap="square" lIns="0" tIns="0" rIns="0" bIns="0" rtlCol="0" anchor="t"/>
          <a:lstStyle/>
          <a:p>
            <a:pPr marL="0" indent="0" algn="ctr">
              <a:buNone/>
            </a:pPr>
            <a:r>
              <a:rPr lang="en-US" sz="1050" b="1" dirty="0">
                <a:solidFill>
                  <a:srgbClr val="0B1F4B"/>
                </a:solidFill>
              </a:rPr>
              <a:t>Accent</a:t>
            </a:r>
            <a:endParaRPr lang="en-US" sz="1050" dirty="0"/>
          </a:p>
        </p:txBody>
      </p:sp>
      <p:sp>
        <p:nvSpPr>
          <p:cNvPr id="13" name="Text 10"/>
          <p:cNvSpPr txBox="1"/>
          <p:nvPr/>
        </p:nvSpPr>
        <p:spPr>
          <a:xfrm>
            <a:off x="2103120" y="2029968"/>
            <a:ext cx="731520" cy="182880"/>
          </a:xfrm>
          <a:prstGeom prst="rect">
            <a:avLst/>
          </a:prstGeom>
          <a:noFill/>
          <a:ln/>
        </p:spPr>
        <p:txBody>
          <a:bodyPr wrap="square" lIns="0" tIns="0" rIns="0" bIns="0" rtlCol="0" anchor="t"/>
          <a:lstStyle/>
          <a:p>
            <a:pPr marL="0" indent="0" algn="ctr">
              <a:buNone/>
            </a:pPr>
            <a:r>
              <a:rPr lang="en-US" sz="950" dirty="0">
                <a:solidFill>
                  <a:srgbClr val="6B7280"/>
                </a:solidFill>
              </a:rPr>
              <a:t>#BE185D</a:t>
            </a:r>
            <a:endParaRPr lang="en-US" sz="950" dirty="0"/>
          </a:p>
        </p:txBody>
      </p:sp>
      <p:sp>
        <p:nvSpPr>
          <p:cNvPr id="14" name="Shape 11"/>
          <p:cNvSpPr/>
          <p:nvPr/>
        </p:nvSpPr>
        <p:spPr>
          <a:xfrm>
            <a:off x="2926080" y="1143000"/>
            <a:ext cx="731520" cy="640080"/>
          </a:xfrm>
          <a:prstGeom prst="roundRect">
            <a:avLst>
              <a:gd name="adj" fmla="val 8571"/>
            </a:avLst>
          </a:prstGeom>
          <a:solidFill>
            <a:srgbClr val="F4F6FB"/>
          </a:solidFill>
          <a:ln w="9525">
            <a:solidFill>
              <a:srgbClr val="DDE3F0"/>
            </a:solidFill>
            <a:prstDash val="solid"/>
          </a:ln>
          <a:effectLst>
            <a:outerShdw blurRad="101600" dist="25400" dir="5400000" algn="bl" rotWithShape="0">
              <a:srgbClr val="000000">
                <a:alpha val="14000"/>
              </a:srgbClr>
            </a:outerShdw>
          </a:effectLst>
        </p:spPr>
      </p:sp>
      <p:sp>
        <p:nvSpPr>
          <p:cNvPr id="15" name="Text 12"/>
          <p:cNvSpPr txBox="1"/>
          <p:nvPr/>
        </p:nvSpPr>
        <p:spPr>
          <a:xfrm>
            <a:off x="2926080" y="1828800"/>
            <a:ext cx="731520" cy="201168"/>
          </a:xfrm>
          <a:prstGeom prst="rect">
            <a:avLst/>
          </a:prstGeom>
          <a:noFill/>
          <a:ln/>
        </p:spPr>
        <p:txBody>
          <a:bodyPr wrap="square" lIns="0" tIns="0" rIns="0" bIns="0" rtlCol="0" anchor="t"/>
          <a:lstStyle/>
          <a:p>
            <a:pPr marL="0" indent="0" algn="ctr">
              <a:buNone/>
            </a:pPr>
            <a:r>
              <a:rPr lang="en-US" sz="1050" b="1" dirty="0">
                <a:solidFill>
                  <a:srgbClr val="0B1F4B"/>
                </a:solidFill>
              </a:rPr>
              <a:t>Surface</a:t>
            </a:r>
            <a:endParaRPr lang="en-US" sz="1050" dirty="0"/>
          </a:p>
        </p:txBody>
      </p:sp>
      <p:sp>
        <p:nvSpPr>
          <p:cNvPr id="16" name="Text 13"/>
          <p:cNvSpPr txBox="1"/>
          <p:nvPr/>
        </p:nvSpPr>
        <p:spPr>
          <a:xfrm>
            <a:off x="2926080" y="2029968"/>
            <a:ext cx="731520" cy="182880"/>
          </a:xfrm>
          <a:prstGeom prst="rect">
            <a:avLst/>
          </a:prstGeom>
          <a:noFill/>
          <a:ln/>
        </p:spPr>
        <p:txBody>
          <a:bodyPr wrap="square" lIns="0" tIns="0" rIns="0" bIns="0" rtlCol="0" anchor="t"/>
          <a:lstStyle/>
          <a:p>
            <a:pPr marL="0" indent="0" algn="ctr">
              <a:buNone/>
            </a:pPr>
            <a:r>
              <a:rPr lang="en-US" sz="950" dirty="0">
                <a:solidFill>
                  <a:srgbClr val="6B7280"/>
                </a:solidFill>
              </a:rPr>
              <a:t>#F5F7FB</a:t>
            </a:r>
            <a:endParaRPr lang="en-US" sz="950" dirty="0"/>
          </a:p>
        </p:txBody>
      </p:sp>
      <p:sp>
        <p:nvSpPr>
          <p:cNvPr id="17" name="Shape 14"/>
          <p:cNvSpPr/>
          <p:nvPr/>
        </p:nvSpPr>
        <p:spPr>
          <a:xfrm>
            <a:off x="3749040" y="1143000"/>
            <a:ext cx="731520" cy="640080"/>
          </a:xfrm>
          <a:prstGeom prst="roundRect">
            <a:avLst>
              <a:gd name="adj" fmla="val 8571"/>
            </a:avLst>
          </a:prstGeom>
          <a:solidFill>
            <a:srgbClr val="1F2937"/>
          </a:solidFill>
          <a:ln w="9525">
            <a:solidFill>
              <a:srgbClr val="DDE3F0"/>
            </a:solidFill>
            <a:prstDash val="solid"/>
          </a:ln>
          <a:effectLst>
            <a:outerShdw blurRad="101600" dist="25400" dir="5400000" algn="bl" rotWithShape="0">
              <a:srgbClr val="000000">
                <a:alpha val="14000"/>
              </a:srgbClr>
            </a:outerShdw>
          </a:effectLst>
        </p:spPr>
      </p:sp>
      <p:sp>
        <p:nvSpPr>
          <p:cNvPr id="18" name="Text 15"/>
          <p:cNvSpPr txBox="1"/>
          <p:nvPr/>
        </p:nvSpPr>
        <p:spPr>
          <a:xfrm>
            <a:off x="3749040" y="1828800"/>
            <a:ext cx="731520" cy="201168"/>
          </a:xfrm>
          <a:prstGeom prst="rect">
            <a:avLst/>
          </a:prstGeom>
          <a:noFill/>
          <a:ln/>
        </p:spPr>
        <p:txBody>
          <a:bodyPr wrap="square" lIns="0" tIns="0" rIns="0" bIns="0" rtlCol="0" anchor="t"/>
          <a:lstStyle/>
          <a:p>
            <a:pPr marL="0" indent="0" algn="ctr">
              <a:buNone/>
            </a:pPr>
            <a:r>
              <a:rPr lang="en-US" sz="1050" b="1" dirty="0">
                <a:solidFill>
                  <a:srgbClr val="0B1F4B"/>
                </a:solidFill>
              </a:rPr>
              <a:t>Text</a:t>
            </a:r>
            <a:endParaRPr lang="en-US" sz="1050" dirty="0"/>
          </a:p>
        </p:txBody>
      </p:sp>
      <p:sp>
        <p:nvSpPr>
          <p:cNvPr id="19" name="Text 16"/>
          <p:cNvSpPr txBox="1"/>
          <p:nvPr/>
        </p:nvSpPr>
        <p:spPr>
          <a:xfrm>
            <a:off x="3749040" y="2029968"/>
            <a:ext cx="731520" cy="182880"/>
          </a:xfrm>
          <a:prstGeom prst="rect">
            <a:avLst/>
          </a:prstGeom>
          <a:noFill/>
          <a:ln/>
        </p:spPr>
        <p:txBody>
          <a:bodyPr wrap="square" lIns="0" tIns="0" rIns="0" bIns="0" rtlCol="0" anchor="t"/>
          <a:lstStyle/>
          <a:p>
            <a:pPr marL="0" indent="0" algn="ctr">
              <a:buNone/>
            </a:pPr>
            <a:r>
              <a:rPr lang="en-US" sz="950" dirty="0">
                <a:solidFill>
                  <a:srgbClr val="6B7280"/>
                </a:solidFill>
              </a:rPr>
              <a:t>#1F2937</a:t>
            </a:r>
            <a:endParaRPr lang="en-US" sz="950" dirty="0"/>
          </a:p>
        </p:txBody>
      </p:sp>
      <p:sp>
        <p:nvSpPr>
          <p:cNvPr id="20" name="Text 17"/>
          <p:cNvSpPr txBox="1"/>
          <p:nvPr/>
        </p:nvSpPr>
        <p:spPr>
          <a:xfrm>
            <a:off x="457200" y="2377440"/>
            <a:ext cx="3657600" cy="228600"/>
          </a:xfrm>
          <a:prstGeom prst="rect">
            <a:avLst/>
          </a:prstGeom>
          <a:noFill/>
          <a:ln/>
        </p:spPr>
        <p:txBody>
          <a:bodyPr wrap="square" lIns="0" tIns="0" rIns="0" bIns="0" rtlCol="0" anchor="t"/>
          <a:lstStyle/>
          <a:p>
            <a:pPr marL="0" indent="0">
              <a:buNone/>
            </a:pPr>
            <a:r>
              <a:rPr lang="en-US" sz="1200" b="1" dirty="0">
                <a:solidFill>
                  <a:srgbClr val="0B1F4B"/>
                </a:solidFill>
              </a:rPr>
              <a:t>Components (proposed)</a:t>
            </a:r>
            <a:endParaRPr lang="en-US" sz="1200" dirty="0"/>
          </a:p>
        </p:txBody>
      </p:sp>
      <p:sp>
        <p:nvSpPr>
          <p:cNvPr id="21" name="Shape 18"/>
          <p:cNvSpPr/>
          <p:nvPr/>
        </p:nvSpPr>
        <p:spPr>
          <a:xfrm>
            <a:off x="457200" y="2670048"/>
            <a:ext cx="1005840" cy="365760"/>
          </a:xfrm>
          <a:prstGeom prst="roundRect">
            <a:avLst>
              <a:gd name="adj" fmla="val 12500"/>
            </a:avLst>
          </a:prstGeom>
          <a:solidFill>
            <a:srgbClr val="2F5BFF"/>
          </a:solidFill>
          <a:ln w="12700">
            <a:solidFill>
              <a:srgbClr val="2F5BFF"/>
            </a:solidFill>
            <a:prstDash val="solid"/>
          </a:ln>
        </p:spPr>
      </p:sp>
      <p:sp>
        <p:nvSpPr>
          <p:cNvPr id="22" name="Text 19"/>
          <p:cNvSpPr txBox="1"/>
          <p:nvPr/>
        </p:nvSpPr>
        <p:spPr>
          <a:xfrm>
            <a:off x="457200" y="2670048"/>
            <a:ext cx="1005840" cy="365760"/>
          </a:xfrm>
          <a:prstGeom prst="rect">
            <a:avLst/>
          </a:prstGeom>
          <a:noFill/>
          <a:ln/>
        </p:spPr>
        <p:txBody>
          <a:bodyPr wrap="square" lIns="0" tIns="0" rIns="0" bIns="0" rtlCol="0" anchor="ctr"/>
          <a:lstStyle/>
          <a:p>
            <a:pPr marL="0" indent="0" algn="ctr">
              <a:buNone/>
            </a:pPr>
            <a:r>
              <a:rPr lang="en-US" sz="1200" b="1" dirty="0">
                <a:solidFill>
                  <a:srgbClr val="FFFFFF"/>
                </a:solidFill>
              </a:rPr>
              <a:t>Primary</a:t>
            </a:r>
            <a:endParaRPr lang="en-US" sz="1200" dirty="0"/>
          </a:p>
        </p:txBody>
      </p:sp>
      <p:sp>
        <p:nvSpPr>
          <p:cNvPr id="23" name="Shape 20"/>
          <p:cNvSpPr/>
          <p:nvPr/>
        </p:nvSpPr>
        <p:spPr>
          <a:xfrm>
            <a:off x="1554480" y="2670048"/>
            <a:ext cx="1005840" cy="365760"/>
          </a:xfrm>
          <a:prstGeom prst="roundRect">
            <a:avLst>
              <a:gd name="adj" fmla="val 12500"/>
            </a:avLst>
          </a:prstGeom>
          <a:solidFill>
            <a:srgbClr val="FFFFFF"/>
          </a:solidFill>
          <a:ln w="9525">
            <a:solidFill>
              <a:srgbClr val="2F5BFF"/>
            </a:solidFill>
            <a:prstDash val="solid"/>
          </a:ln>
        </p:spPr>
      </p:sp>
      <p:sp>
        <p:nvSpPr>
          <p:cNvPr id="24" name="Text 21"/>
          <p:cNvSpPr txBox="1"/>
          <p:nvPr/>
        </p:nvSpPr>
        <p:spPr>
          <a:xfrm>
            <a:off x="1554480" y="2670048"/>
            <a:ext cx="1005840" cy="365760"/>
          </a:xfrm>
          <a:prstGeom prst="rect">
            <a:avLst/>
          </a:prstGeom>
          <a:noFill/>
          <a:ln/>
        </p:spPr>
        <p:txBody>
          <a:bodyPr wrap="square" lIns="0" tIns="0" rIns="0" bIns="0" rtlCol="0" anchor="ctr"/>
          <a:lstStyle/>
          <a:p>
            <a:pPr marL="0" indent="0" algn="ctr">
              <a:buNone/>
            </a:pPr>
            <a:r>
              <a:rPr lang="en-US" sz="1200" b="1" dirty="0">
                <a:solidFill>
                  <a:srgbClr val="2F5BFF"/>
                </a:solidFill>
              </a:rPr>
              <a:t>Secondary</a:t>
            </a:r>
            <a:endParaRPr lang="en-US" sz="1200" dirty="0"/>
          </a:p>
        </p:txBody>
      </p:sp>
      <p:sp>
        <p:nvSpPr>
          <p:cNvPr id="25" name="Shape 22"/>
          <p:cNvSpPr/>
          <p:nvPr/>
        </p:nvSpPr>
        <p:spPr>
          <a:xfrm>
            <a:off x="2651760" y="2670048"/>
            <a:ext cx="1737360" cy="365760"/>
          </a:xfrm>
          <a:prstGeom prst="roundRect">
            <a:avLst>
              <a:gd name="adj" fmla="val 12500"/>
            </a:avLst>
          </a:prstGeom>
          <a:solidFill>
            <a:srgbClr val="FFFFFF"/>
          </a:solidFill>
          <a:ln w="9525">
            <a:solidFill>
              <a:srgbClr val="DDE3F0"/>
            </a:solidFill>
            <a:prstDash val="solid"/>
          </a:ln>
        </p:spPr>
      </p:sp>
      <p:sp>
        <p:nvSpPr>
          <p:cNvPr id="26" name="Text 23"/>
          <p:cNvSpPr txBox="1"/>
          <p:nvPr/>
        </p:nvSpPr>
        <p:spPr>
          <a:xfrm>
            <a:off x="2743200" y="2670048"/>
            <a:ext cx="1554480" cy="365760"/>
          </a:xfrm>
          <a:prstGeom prst="rect">
            <a:avLst/>
          </a:prstGeom>
          <a:noFill/>
          <a:ln/>
        </p:spPr>
        <p:txBody>
          <a:bodyPr wrap="square" lIns="0" tIns="0" rIns="0" bIns="0" rtlCol="0" anchor="ctr"/>
          <a:lstStyle/>
          <a:p>
            <a:pPr marL="0" indent="0">
              <a:buNone/>
            </a:pPr>
            <a:r>
              <a:rPr lang="en-US" sz="1100" dirty="0">
                <a:solidFill>
                  <a:srgbClr val="6B7280"/>
                </a:solidFill>
              </a:rPr>
              <a:t>Input field</a:t>
            </a:r>
            <a:endParaRPr lang="en-US" sz="1100" dirty="0"/>
          </a:p>
        </p:txBody>
      </p:sp>
      <p:sp>
        <p:nvSpPr>
          <p:cNvPr id="27" name="Shape 24"/>
          <p:cNvSpPr/>
          <p:nvPr/>
        </p:nvSpPr>
        <p:spPr>
          <a:xfrm>
            <a:off x="457200" y="3154680"/>
            <a:ext cx="1188720" cy="347472"/>
          </a:xfrm>
          <a:prstGeom prst="roundRect">
            <a:avLst>
              <a:gd name="adj" fmla="val 13158"/>
            </a:avLst>
          </a:prstGeom>
          <a:solidFill>
            <a:srgbClr val="FFFFFF"/>
          </a:solidFill>
          <a:ln w="9525">
            <a:solidFill>
              <a:srgbClr val="DDE3F0"/>
            </a:solidFill>
            <a:prstDash val="solid"/>
          </a:ln>
        </p:spPr>
      </p:sp>
      <p:sp>
        <p:nvSpPr>
          <p:cNvPr id="28" name="Text 25"/>
          <p:cNvSpPr txBox="1"/>
          <p:nvPr/>
        </p:nvSpPr>
        <p:spPr>
          <a:xfrm>
            <a:off x="457200" y="3154680"/>
            <a:ext cx="1188720" cy="347472"/>
          </a:xfrm>
          <a:prstGeom prst="rect">
            <a:avLst/>
          </a:prstGeom>
          <a:noFill/>
          <a:ln/>
        </p:spPr>
        <p:txBody>
          <a:bodyPr wrap="square" lIns="0" tIns="0" rIns="0" bIns="0" rtlCol="0" anchor="ctr"/>
          <a:lstStyle/>
          <a:p>
            <a:pPr marL="0" indent="0" algn="ctr">
              <a:buNone/>
            </a:pPr>
            <a:r>
              <a:rPr lang="en-US" sz="1200" dirty="0">
                <a:solidFill>
                  <a:srgbClr val="0B1F4B"/>
                </a:solidFill>
              </a:rPr>
              <a:t>–     1     +</a:t>
            </a:r>
            <a:endParaRPr lang="en-US" sz="1200" dirty="0"/>
          </a:p>
        </p:txBody>
      </p:sp>
      <p:sp>
        <p:nvSpPr>
          <p:cNvPr id="29" name="Shape 26"/>
          <p:cNvSpPr/>
          <p:nvPr/>
        </p:nvSpPr>
        <p:spPr>
          <a:xfrm>
            <a:off x="1783080" y="3172968"/>
            <a:ext cx="310896" cy="310896"/>
          </a:xfrm>
          <a:prstGeom prst="ellipse">
            <a:avLst/>
          </a:prstGeom>
          <a:solidFill>
            <a:srgbClr val="BE185D"/>
          </a:solidFill>
          <a:ln w="12700">
            <a:solidFill>
              <a:srgbClr val="BE185D"/>
            </a:solidFill>
            <a:prstDash val="solid"/>
          </a:ln>
        </p:spPr>
      </p:sp>
      <p:sp>
        <p:nvSpPr>
          <p:cNvPr id="30" name="Text 27"/>
          <p:cNvSpPr txBox="1"/>
          <p:nvPr/>
        </p:nvSpPr>
        <p:spPr>
          <a:xfrm>
            <a:off x="1783080" y="317296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31" name="Shape 28"/>
          <p:cNvSpPr/>
          <p:nvPr/>
        </p:nvSpPr>
        <p:spPr>
          <a:xfrm>
            <a:off x="2240280" y="3154680"/>
            <a:ext cx="2148840" cy="347472"/>
          </a:xfrm>
          <a:prstGeom prst="roundRect">
            <a:avLst>
              <a:gd name="adj" fmla="val 50000"/>
            </a:avLst>
          </a:prstGeom>
          <a:solidFill>
            <a:srgbClr val="0B1F4B"/>
          </a:solidFill>
          <a:ln w="12700">
            <a:solidFill>
              <a:srgbClr val="0B1F4B"/>
            </a:solidFill>
            <a:prstDash val="solid"/>
          </a:ln>
        </p:spPr>
      </p:sp>
      <p:sp>
        <p:nvSpPr>
          <p:cNvPr id="32" name="Text 29"/>
          <p:cNvSpPr txBox="1"/>
          <p:nvPr/>
        </p:nvSpPr>
        <p:spPr>
          <a:xfrm>
            <a:off x="2240280" y="3154680"/>
            <a:ext cx="2148840" cy="347472"/>
          </a:xfrm>
          <a:prstGeom prst="rect">
            <a:avLst/>
          </a:prstGeom>
          <a:noFill/>
          <a:ln/>
        </p:spPr>
        <p:txBody>
          <a:bodyPr wrap="square" lIns="0" tIns="0" rIns="0" bIns="0" rtlCol="0" anchor="ctr"/>
          <a:lstStyle/>
          <a:p>
            <a:pPr marL="0" indent="0" algn="ctr">
              <a:buNone/>
            </a:pPr>
            <a:r>
              <a:rPr lang="en-US" sz="1100" b="1" dirty="0">
                <a:solidFill>
                  <a:srgbClr val="FFFFFF"/>
                </a:solidFill>
              </a:rPr>
              <a:t>✓ Added to cart</a:t>
            </a:r>
            <a:endParaRPr lang="en-US" sz="1100" dirty="0"/>
          </a:p>
        </p:txBody>
      </p:sp>
      <p:sp>
        <p:nvSpPr>
          <p:cNvPr id="33" name="Shape 30"/>
          <p:cNvSpPr/>
          <p:nvPr/>
        </p:nvSpPr>
        <p:spPr>
          <a:xfrm>
            <a:off x="457200" y="3703320"/>
            <a:ext cx="3931920" cy="822960"/>
          </a:xfrm>
          <a:prstGeom prst="roundRect">
            <a:avLst>
              <a:gd name="adj" fmla="val 7778"/>
            </a:avLst>
          </a:prstGeom>
          <a:solidFill>
            <a:srgbClr val="E6ECFF"/>
          </a:solidFill>
          <a:ln w="12700">
            <a:solidFill>
              <a:srgbClr val="E6ECFF"/>
            </a:solidFill>
            <a:prstDash val="solid"/>
          </a:ln>
        </p:spPr>
      </p:sp>
      <p:sp>
        <p:nvSpPr>
          <p:cNvPr id="34" name="Text 31"/>
          <p:cNvSpPr txBox="1"/>
          <p:nvPr/>
        </p:nvSpPr>
        <p:spPr>
          <a:xfrm>
            <a:off x="594360" y="3703320"/>
            <a:ext cx="3657600" cy="822960"/>
          </a:xfrm>
          <a:prstGeom prst="rect">
            <a:avLst/>
          </a:prstGeom>
          <a:noFill/>
          <a:ln/>
        </p:spPr>
        <p:txBody>
          <a:bodyPr wrap="square" lIns="0" tIns="0" rIns="0" bIns="0" rtlCol="0" anchor="ctr"/>
          <a:lstStyle/>
          <a:p>
            <a:pPr marL="0" indent="0">
              <a:buNone/>
            </a:pPr>
            <a:r>
              <a:rPr lang="en-US" sz="1150" b="1" dirty="0">
                <a:solidFill>
                  <a:srgbClr val="0B1F4B"/>
                </a:solidFill>
              </a:rPr>
              <a:t>Contrast check (WCAG AA): </a:t>
            </a:r>
            <a:r>
              <a:rPr lang="en-US" sz="1150" dirty="0">
                <a:solidFill>
                  <a:srgbClr val="1F2937"/>
                </a:solidFill>
              </a:rPr>
              <a:t>bright pink #E91E63 = 4.35:1, below the 4.5:1 text guideline. Deeper #BE185D ≈ 6.0:1 is used for button text.</a:t>
            </a:r>
            <a:endParaRPr lang="en-US" sz="1150" dirty="0"/>
          </a:p>
        </p:txBody>
      </p:sp>
      <p:sp>
        <p:nvSpPr>
          <p:cNvPr id="35" name="Shape 32"/>
          <p:cNvSpPr/>
          <p:nvPr/>
        </p:nvSpPr>
        <p:spPr>
          <a:xfrm>
            <a:off x="4754880" y="1143000"/>
            <a:ext cx="3931920" cy="3383280"/>
          </a:xfrm>
          <a:prstGeom prst="roundRect">
            <a:avLst>
              <a:gd name="adj" fmla="val 1892"/>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6" name="Text 33"/>
          <p:cNvSpPr txBox="1"/>
          <p:nvPr/>
        </p:nvSpPr>
        <p:spPr>
          <a:xfrm>
            <a:off x="4983480" y="1280160"/>
            <a:ext cx="3474720" cy="256032"/>
          </a:xfrm>
          <a:prstGeom prst="rect">
            <a:avLst/>
          </a:prstGeom>
          <a:noFill/>
          <a:ln/>
        </p:spPr>
        <p:txBody>
          <a:bodyPr wrap="square" lIns="0" tIns="0" rIns="0" bIns="0" rtlCol="0" anchor="t"/>
          <a:lstStyle/>
          <a:p>
            <a:pPr marL="0" indent="0">
              <a:buNone/>
            </a:pPr>
            <a:r>
              <a:rPr lang="en-US" sz="1300" b="1" dirty="0">
                <a:solidFill>
                  <a:srgbClr val="0B1F4B"/>
                </a:solidFill>
              </a:rPr>
              <a:t>Type scale and spacing</a:t>
            </a:r>
            <a:endParaRPr lang="en-US" sz="1300" dirty="0"/>
          </a:p>
        </p:txBody>
      </p:sp>
      <p:sp>
        <p:nvSpPr>
          <p:cNvPr id="37" name="Text 34"/>
          <p:cNvSpPr txBox="1"/>
          <p:nvPr/>
        </p:nvSpPr>
        <p:spPr>
          <a:xfrm>
            <a:off x="4983480" y="1691640"/>
            <a:ext cx="2286000" cy="411480"/>
          </a:xfrm>
          <a:prstGeom prst="rect">
            <a:avLst/>
          </a:prstGeom>
          <a:noFill/>
          <a:ln/>
        </p:spPr>
        <p:txBody>
          <a:bodyPr wrap="square" lIns="0" tIns="0" rIns="0" bIns="0" rtlCol="0" anchor="ctr"/>
          <a:lstStyle/>
          <a:p>
            <a:pPr marL="0" indent="0">
              <a:buNone/>
            </a:pPr>
            <a:r>
              <a:rPr lang="en-US" sz="2000" b="1" dirty="0">
                <a:solidFill>
                  <a:srgbClr val="1F2937"/>
                </a:solidFill>
                <a:latin typeface="Georgia" pitchFamily="34" charset="0"/>
                <a:ea typeface="Georgia" pitchFamily="34" charset="-122"/>
                <a:cs typeface="Georgia" pitchFamily="34" charset="-120"/>
              </a:rPr>
              <a:t>Page title</a:t>
            </a:r>
            <a:endParaRPr lang="en-US" sz="2000" dirty="0"/>
          </a:p>
        </p:txBody>
      </p:sp>
      <p:sp>
        <p:nvSpPr>
          <p:cNvPr id="38" name="Text 35"/>
          <p:cNvSpPr txBox="1"/>
          <p:nvPr/>
        </p:nvSpPr>
        <p:spPr>
          <a:xfrm>
            <a:off x="7589520" y="1691640"/>
            <a:ext cx="914400" cy="411480"/>
          </a:xfrm>
          <a:prstGeom prst="rect">
            <a:avLst/>
          </a:prstGeom>
          <a:noFill/>
          <a:ln/>
        </p:spPr>
        <p:txBody>
          <a:bodyPr wrap="square" lIns="0" tIns="0" rIns="0" bIns="0" rtlCol="0" anchor="ctr"/>
          <a:lstStyle/>
          <a:p>
            <a:pPr marL="0" indent="0" algn="r">
              <a:buNone/>
            </a:pPr>
            <a:r>
              <a:rPr lang="en-US" sz="1100" dirty="0">
                <a:solidFill>
                  <a:srgbClr val="6B7280"/>
                </a:solidFill>
              </a:rPr>
              <a:t>20 px</a:t>
            </a:r>
            <a:endParaRPr lang="en-US" sz="1100" dirty="0"/>
          </a:p>
        </p:txBody>
      </p:sp>
      <p:sp>
        <p:nvSpPr>
          <p:cNvPr id="39" name="Text 36"/>
          <p:cNvSpPr txBox="1"/>
          <p:nvPr/>
        </p:nvSpPr>
        <p:spPr>
          <a:xfrm>
            <a:off x="4983480" y="2148840"/>
            <a:ext cx="2286000" cy="41148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Section heading</a:t>
            </a:r>
            <a:endParaRPr lang="en-US" sz="1600" dirty="0"/>
          </a:p>
        </p:txBody>
      </p:sp>
      <p:sp>
        <p:nvSpPr>
          <p:cNvPr id="40" name="Text 37"/>
          <p:cNvSpPr txBox="1"/>
          <p:nvPr/>
        </p:nvSpPr>
        <p:spPr>
          <a:xfrm>
            <a:off x="7589520" y="2148840"/>
            <a:ext cx="914400" cy="411480"/>
          </a:xfrm>
          <a:prstGeom prst="rect">
            <a:avLst/>
          </a:prstGeom>
          <a:noFill/>
          <a:ln/>
        </p:spPr>
        <p:txBody>
          <a:bodyPr wrap="square" lIns="0" tIns="0" rIns="0" bIns="0" rtlCol="0" anchor="ctr"/>
          <a:lstStyle/>
          <a:p>
            <a:pPr marL="0" indent="0" algn="r">
              <a:buNone/>
            </a:pPr>
            <a:r>
              <a:rPr lang="en-US" sz="1100" dirty="0">
                <a:solidFill>
                  <a:srgbClr val="6B7280"/>
                </a:solidFill>
              </a:rPr>
              <a:t>16 px</a:t>
            </a:r>
            <a:endParaRPr lang="en-US" sz="1100" dirty="0"/>
          </a:p>
        </p:txBody>
      </p:sp>
      <p:sp>
        <p:nvSpPr>
          <p:cNvPr id="41" name="Text 38"/>
          <p:cNvSpPr txBox="1"/>
          <p:nvPr/>
        </p:nvSpPr>
        <p:spPr>
          <a:xfrm>
            <a:off x="4983480" y="2606040"/>
            <a:ext cx="2286000" cy="41148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Product name</a:t>
            </a:r>
            <a:endParaRPr lang="en-US" sz="1300" dirty="0"/>
          </a:p>
        </p:txBody>
      </p:sp>
      <p:sp>
        <p:nvSpPr>
          <p:cNvPr id="42" name="Text 39"/>
          <p:cNvSpPr txBox="1"/>
          <p:nvPr/>
        </p:nvSpPr>
        <p:spPr>
          <a:xfrm>
            <a:off x="7589520" y="2606040"/>
            <a:ext cx="914400" cy="411480"/>
          </a:xfrm>
          <a:prstGeom prst="rect">
            <a:avLst/>
          </a:prstGeom>
          <a:noFill/>
          <a:ln/>
        </p:spPr>
        <p:txBody>
          <a:bodyPr wrap="square" lIns="0" tIns="0" rIns="0" bIns="0" rtlCol="0" anchor="ctr"/>
          <a:lstStyle/>
          <a:p>
            <a:pPr marL="0" indent="0" algn="r">
              <a:buNone/>
            </a:pPr>
            <a:r>
              <a:rPr lang="en-US" sz="1100" dirty="0">
                <a:solidFill>
                  <a:srgbClr val="6B7280"/>
                </a:solidFill>
              </a:rPr>
              <a:t>13 px</a:t>
            </a:r>
            <a:endParaRPr lang="en-US" sz="1100" dirty="0"/>
          </a:p>
        </p:txBody>
      </p:sp>
      <p:sp>
        <p:nvSpPr>
          <p:cNvPr id="43" name="Text 40"/>
          <p:cNvSpPr txBox="1"/>
          <p:nvPr/>
        </p:nvSpPr>
        <p:spPr>
          <a:xfrm>
            <a:off x="4983480" y="3063240"/>
            <a:ext cx="2286000" cy="41148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Body text</a:t>
            </a:r>
            <a:endParaRPr lang="en-US" sz="1100" dirty="0"/>
          </a:p>
        </p:txBody>
      </p:sp>
      <p:sp>
        <p:nvSpPr>
          <p:cNvPr id="44" name="Text 41"/>
          <p:cNvSpPr txBox="1"/>
          <p:nvPr/>
        </p:nvSpPr>
        <p:spPr>
          <a:xfrm>
            <a:off x="7589520" y="3063240"/>
            <a:ext cx="914400" cy="411480"/>
          </a:xfrm>
          <a:prstGeom prst="rect">
            <a:avLst/>
          </a:prstGeom>
          <a:noFill/>
          <a:ln/>
        </p:spPr>
        <p:txBody>
          <a:bodyPr wrap="square" lIns="0" tIns="0" rIns="0" bIns="0" rtlCol="0" anchor="ctr"/>
          <a:lstStyle/>
          <a:p>
            <a:pPr marL="0" indent="0" algn="r">
              <a:buNone/>
            </a:pPr>
            <a:r>
              <a:rPr lang="en-US" sz="1100" dirty="0">
                <a:solidFill>
                  <a:srgbClr val="6B7280"/>
                </a:solidFill>
              </a:rPr>
              <a:t>11 px</a:t>
            </a:r>
            <a:endParaRPr lang="en-US" sz="1100" dirty="0"/>
          </a:p>
        </p:txBody>
      </p:sp>
      <p:sp>
        <p:nvSpPr>
          <p:cNvPr id="45" name="Text 42"/>
          <p:cNvSpPr txBox="1"/>
          <p:nvPr/>
        </p:nvSpPr>
        <p:spPr>
          <a:xfrm>
            <a:off x="4983480" y="3611880"/>
            <a:ext cx="3474720" cy="201168"/>
          </a:xfrm>
          <a:prstGeom prst="rect">
            <a:avLst/>
          </a:prstGeom>
          <a:noFill/>
          <a:ln/>
        </p:spPr>
        <p:txBody>
          <a:bodyPr wrap="square" lIns="0" tIns="0" rIns="0" bIns="0" rtlCol="0" anchor="t"/>
          <a:lstStyle/>
          <a:p>
            <a:pPr marL="0" indent="0">
              <a:buNone/>
            </a:pPr>
            <a:r>
              <a:rPr lang="en-US" sz="1100" dirty="0">
                <a:solidFill>
                  <a:srgbClr val="6B7280"/>
                </a:solidFill>
              </a:rPr>
              <a:t>Spacing steps (px)</a:t>
            </a:r>
            <a:endParaRPr lang="en-US" sz="1100" dirty="0"/>
          </a:p>
        </p:txBody>
      </p:sp>
      <p:sp>
        <p:nvSpPr>
          <p:cNvPr id="46" name="Shape 43"/>
          <p:cNvSpPr/>
          <p:nvPr/>
        </p:nvSpPr>
        <p:spPr>
          <a:xfrm>
            <a:off x="4983480" y="3840480"/>
            <a:ext cx="502920" cy="274320"/>
          </a:xfrm>
          <a:prstGeom prst="roundRect">
            <a:avLst>
              <a:gd name="adj" fmla="val 13333"/>
            </a:avLst>
          </a:prstGeom>
          <a:solidFill>
            <a:srgbClr val="E6ECFF"/>
          </a:solidFill>
          <a:ln w="12700">
            <a:solidFill>
              <a:srgbClr val="E6ECFF"/>
            </a:solidFill>
            <a:prstDash val="solid"/>
          </a:ln>
        </p:spPr>
      </p:sp>
      <p:sp>
        <p:nvSpPr>
          <p:cNvPr id="47" name="Text 44"/>
          <p:cNvSpPr txBox="1"/>
          <p:nvPr/>
        </p:nvSpPr>
        <p:spPr>
          <a:xfrm>
            <a:off x="4983480" y="3840480"/>
            <a:ext cx="502920" cy="274320"/>
          </a:xfrm>
          <a:prstGeom prst="rect">
            <a:avLst/>
          </a:prstGeom>
          <a:noFill/>
          <a:ln/>
        </p:spPr>
        <p:txBody>
          <a:bodyPr wrap="square" lIns="0" tIns="0" rIns="0" bIns="0" rtlCol="0" anchor="ctr"/>
          <a:lstStyle/>
          <a:p>
            <a:pPr marL="0" indent="0" algn="ctr">
              <a:buNone/>
            </a:pPr>
            <a:r>
              <a:rPr lang="en-US" sz="1100" b="1" dirty="0">
                <a:solidFill>
                  <a:srgbClr val="2F5BFF"/>
                </a:solidFill>
              </a:rPr>
              <a:t>4</a:t>
            </a:r>
            <a:endParaRPr lang="en-US" sz="1100" dirty="0"/>
          </a:p>
        </p:txBody>
      </p:sp>
      <p:sp>
        <p:nvSpPr>
          <p:cNvPr id="48" name="Shape 45"/>
          <p:cNvSpPr/>
          <p:nvPr/>
        </p:nvSpPr>
        <p:spPr>
          <a:xfrm>
            <a:off x="5550408" y="3840480"/>
            <a:ext cx="502920" cy="274320"/>
          </a:xfrm>
          <a:prstGeom prst="roundRect">
            <a:avLst>
              <a:gd name="adj" fmla="val 13333"/>
            </a:avLst>
          </a:prstGeom>
          <a:solidFill>
            <a:srgbClr val="E6ECFF"/>
          </a:solidFill>
          <a:ln w="12700">
            <a:solidFill>
              <a:srgbClr val="E6ECFF"/>
            </a:solidFill>
            <a:prstDash val="solid"/>
          </a:ln>
        </p:spPr>
      </p:sp>
      <p:sp>
        <p:nvSpPr>
          <p:cNvPr id="49" name="Text 46"/>
          <p:cNvSpPr txBox="1"/>
          <p:nvPr/>
        </p:nvSpPr>
        <p:spPr>
          <a:xfrm>
            <a:off x="5550408" y="3840480"/>
            <a:ext cx="502920" cy="274320"/>
          </a:xfrm>
          <a:prstGeom prst="rect">
            <a:avLst/>
          </a:prstGeom>
          <a:noFill/>
          <a:ln/>
        </p:spPr>
        <p:txBody>
          <a:bodyPr wrap="square" lIns="0" tIns="0" rIns="0" bIns="0" rtlCol="0" anchor="ctr"/>
          <a:lstStyle/>
          <a:p>
            <a:pPr marL="0" indent="0" algn="ctr">
              <a:buNone/>
            </a:pPr>
            <a:r>
              <a:rPr lang="en-US" sz="1100" b="1" dirty="0">
                <a:solidFill>
                  <a:srgbClr val="2F5BFF"/>
                </a:solidFill>
              </a:rPr>
              <a:t>8</a:t>
            </a:r>
            <a:endParaRPr lang="en-US" sz="1100" dirty="0"/>
          </a:p>
        </p:txBody>
      </p:sp>
      <p:sp>
        <p:nvSpPr>
          <p:cNvPr id="50" name="Shape 47"/>
          <p:cNvSpPr/>
          <p:nvPr/>
        </p:nvSpPr>
        <p:spPr>
          <a:xfrm>
            <a:off x="6117336" y="3840480"/>
            <a:ext cx="502920" cy="274320"/>
          </a:xfrm>
          <a:prstGeom prst="roundRect">
            <a:avLst>
              <a:gd name="adj" fmla="val 13333"/>
            </a:avLst>
          </a:prstGeom>
          <a:solidFill>
            <a:srgbClr val="E6ECFF"/>
          </a:solidFill>
          <a:ln w="12700">
            <a:solidFill>
              <a:srgbClr val="E6ECFF"/>
            </a:solidFill>
            <a:prstDash val="solid"/>
          </a:ln>
        </p:spPr>
      </p:sp>
      <p:sp>
        <p:nvSpPr>
          <p:cNvPr id="51" name="Text 48"/>
          <p:cNvSpPr txBox="1"/>
          <p:nvPr/>
        </p:nvSpPr>
        <p:spPr>
          <a:xfrm>
            <a:off x="6117336" y="3840480"/>
            <a:ext cx="502920" cy="274320"/>
          </a:xfrm>
          <a:prstGeom prst="rect">
            <a:avLst/>
          </a:prstGeom>
          <a:noFill/>
          <a:ln/>
        </p:spPr>
        <p:txBody>
          <a:bodyPr wrap="square" lIns="0" tIns="0" rIns="0" bIns="0" rtlCol="0" anchor="ctr"/>
          <a:lstStyle/>
          <a:p>
            <a:pPr marL="0" indent="0" algn="ctr">
              <a:buNone/>
            </a:pPr>
            <a:r>
              <a:rPr lang="en-US" sz="1100" b="1" dirty="0">
                <a:solidFill>
                  <a:srgbClr val="2F5BFF"/>
                </a:solidFill>
              </a:rPr>
              <a:t>16</a:t>
            </a:r>
            <a:endParaRPr lang="en-US" sz="1100" dirty="0"/>
          </a:p>
        </p:txBody>
      </p:sp>
      <p:sp>
        <p:nvSpPr>
          <p:cNvPr id="52" name="Shape 49"/>
          <p:cNvSpPr/>
          <p:nvPr/>
        </p:nvSpPr>
        <p:spPr>
          <a:xfrm>
            <a:off x="6684264" y="3840480"/>
            <a:ext cx="502920" cy="274320"/>
          </a:xfrm>
          <a:prstGeom prst="roundRect">
            <a:avLst>
              <a:gd name="adj" fmla="val 13333"/>
            </a:avLst>
          </a:prstGeom>
          <a:solidFill>
            <a:srgbClr val="E6ECFF"/>
          </a:solidFill>
          <a:ln w="12700">
            <a:solidFill>
              <a:srgbClr val="E6ECFF"/>
            </a:solidFill>
            <a:prstDash val="solid"/>
          </a:ln>
        </p:spPr>
      </p:sp>
      <p:sp>
        <p:nvSpPr>
          <p:cNvPr id="53" name="Text 50"/>
          <p:cNvSpPr txBox="1"/>
          <p:nvPr/>
        </p:nvSpPr>
        <p:spPr>
          <a:xfrm>
            <a:off x="6684264" y="3840480"/>
            <a:ext cx="502920" cy="274320"/>
          </a:xfrm>
          <a:prstGeom prst="rect">
            <a:avLst/>
          </a:prstGeom>
          <a:noFill/>
          <a:ln/>
        </p:spPr>
        <p:txBody>
          <a:bodyPr wrap="square" lIns="0" tIns="0" rIns="0" bIns="0" rtlCol="0" anchor="ctr"/>
          <a:lstStyle/>
          <a:p>
            <a:pPr marL="0" indent="0" algn="ctr">
              <a:buNone/>
            </a:pPr>
            <a:r>
              <a:rPr lang="en-US" sz="1100" b="1" dirty="0">
                <a:solidFill>
                  <a:srgbClr val="2F5BFF"/>
                </a:solidFill>
              </a:rPr>
              <a:t>24</a:t>
            </a:r>
            <a:endParaRPr lang="en-US" sz="1100" dirty="0"/>
          </a:p>
        </p:txBody>
      </p:sp>
      <p:sp>
        <p:nvSpPr>
          <p:cNvPr id="54" name="Shape 51"/>
          <p:cNvSpPr/>
          <p:nvPr/>
        </p:nvSpPr>
        <p:spPr>
          <a:xfrm>
            <a:off x="7251192" y="3840480"/>
            <a:ext cx="502920" cy="274320"/>
          </a:xfrm>
          <a:prstGeom prst="roundRect">
            <a:avLst>
              <a:gd name="adj" fmla="val 13333"/>
            </a:avLst>
          </a:prstGeom>
          <a:solidFill>
            <a:srgbClr val="E6ECFF"/>
          </a:solidFill>
          <a:ln w="12700">
            <a:solidFill>
              <a:srgbClr val="E6ECFF"/>
            </a:solidFill>
            <a:prstDash val="solid"/>
          </a:ln>
        </p:spPr>
      </p:sp>
      <p:sp>
        <p:nvSpPr>
          <p:cNvPr id="55" name="Text 52"/>
          <p:cNvSpPr txBox="1"/>
          <p:nvPr/>
        </p:nvSpPr>
        <p:spPr>
          <a:xfrm>
            <a:off x="7251192" y="3840480"/>
            <a:ext cx="502920" cy="274320"/>
          </a:xfrm>
          <a:prstGeom prst="rect">
            <a:avLst/>
          </a:prstGeom>
          <a:noFill/>
          <a:ln/>
        </p:spPr>
        <p:txBody>
          <a:bodyPr wrap="square" lIns="0" tIns="0" rIns="0" bIns="0" rtlCol="0" anchor="ctr"/>
          <a:lstStyle/>
          <a:p>
            <a:pPr marL="0" indent="0" algn="ctr">
              <a:buNone/>
            </a:pPr>
            <a:r>
              <a:rPr lang="en-US" sz="1100" b="1" dirty="0">
                <a:solidFill>
                  <a:srgbClr val="2F5BFF"/>
                </a:solidFill>
              </a:rPr>
              <a:t>32</a:t>
            </a:r>
            <a:endParaRPr lang="en-US" sz="1100" dirty="0"/>
          </a:p>
        </p:txBody>
      </p:sp>
      <p:sp>
        <p:nvSpPr>
          <p:cNvPr id="56" name="Shape 53"/>
          <p:cNvSpPr/>
          <p:nvPr/>
        </p:nvSpPr>
        <p:spPr>
          <a:xfrm>
            <a:off x="7818120" y="3840480"/>
            <a:ext cx="502920" cy="274320"/>
          </a:xfrm>
          <a:prstGeom prst="roundRect">
            <a:avLst>
              <a:gd name="adj" fmla="val 13333"/>
            </a:avLst>
          </a:prstGeom>
          <a:solidFill>
            <a:srgbClr val="E6ECFF"/>
          </a:solidFill>
          <a:ln w="12700">
            <a:solidFill>
              <a:srgbClr val="E6ECFF"/>
            </a:solidFill>
            <a:prstDash val="solid"/>
          </a:ln>
        </p:spPr>
      </p:sp>
      <p:sp>
        <p:nvSpPr>
          <p:cNvPr id="57" name="Text 54"/>
          <p:cNvSpPr txBox="1"/>
          <p:nvPr/>
        </p:nvSpPr>
        <p:spPr>
          <a:xfrm>
            <a:off x="7818120" y="3840480"/>
            <a:ext cx="502920" cy="274320"/>
          </a:xfrm>
          <a:prstGeom prst="rect">
            <a:avLst/>
          </a:prstGeom>
          <a:noFill/>
          <a:ln/>
        </p:spPr>
        <p:txBody>
          <a:bodyPr wrap="square" lIns="0" tIns="0" rIns="0" bIns="0" rtlCol="0" anchor="ctr"/>
          <a:lstStyle/>
          <a:p>
            <a:pPr marL="0" indent="0" algn="ctr">
              <a:buNone/>
            </a:pPr>
            <a:r>
              <a:rPr lang="en-US" sz="1100" b="1" dirty="0">
                <a:solidFill>
                  <a:srgbClr val="2F5BFF"/>
                </a:solidFill>
              </a:rPr>
              <a:t>48</a:t>
            </a:r>
            <a:endParaRPr lang="en-US" sz="1100" dirty="0"/>
          </a:p>
        </p:txBody>
      </p:sp>
      <p:sp>
        <p:nvSpPr>
          <p:cNvPr id="58" name="Shape 55"/>
          <p:cNvSpPr/>
          <p:nvPr/>
        </p:nvSpPr>
        <p:spPr>
          <a:xfrm>
            <a:off x="4983480" y="4206240"/>
            <a:ext cx="3200400" cy="256032"/>
          </a:xfrm>
          <a:prstGeom prst="roundRect">
            <a:avLst>
              <a:gd name="adj" fmla="val 50000"/>
            </a:avLst>
          </a:prstGeom>
          <a:solidFill>
            <a:srgbClr val="E6ECFF"/>
          </a:solidFill>
          <a:ln w="12700">
            <a:solidFill>
              <a:srgbClr val="E6ECFF"/>
            </a:solidFill>
            <a:prstDash val="solid"/>
          </a:ln>
        </p:spPr>
      </p:sp>
      <p:sp>
        <p:nvSpPr>
          <p:cNvPr id="59" name="Text 56"/>
          <p:cNvSpPr txBox="1"/>
          <p:nvPr/>
        </p:nvSpPr>
        <p:spPr>
          <a:xfrm>
            <a:off x="4983480" y="4206240"/>
            <a:ext cx="3200400" cy="256032"/>
          </a:xfrm>
          <a:prstGeom prst="rect">
            <a:avLst/>
          </a:prstGeom>
          <a:noFill/>
          <a:ln/>
        </p:spPr>
        <p:txBody>
          <a:bodyPr wrap="square" lIns="0" tIns="0" rIns="0" bIns="0" rtlCol="0" anchor="ctr"/>
          <a:lstStyle/>
          <a:p>
            <a:pPr marL="0" indent="0" algn="ctr">
              <a:buNone/>
            </a:pPr>
            <a:r>
              <a:rPr lang="en-US" sz="1050" b="1" dirty="0">
                <a:solidFill>
                  <a:srgbClr val="2F5BFF"/>
                </a:solidFill>
              </a:rPr>
              <a:t>Presentation concept, not verified project data</a:t>
            </a:r>
            <a:endParaRPr lang="en-US" sz="105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457200" y="228600"/>
            <a:ext cx="3657600" cy="201168"/>
          </a:xfrm>
          <a:prstGeom prst="rect">
            <a:avLst/>
          </a:prstGeom>
          <a:noFill/>
          <a:ln/>
        </p:spPr>
        <p:txBody>
          <a:bodyPr wrap="square" lIns="0" tIns="0" rIns="0" bIns="0" rtlCol="0" anchor="t"/>
          <a:lstStyle/>
          <a:p>
            <a:pPr marL="0" indent="0">
              <a:buNone/>
            </a:pPr>
            <a:r>
              <a:rPr lang="en-US" sz="1050" b="1" kern="0" spc="200" dirty="0">
                <a:solidFill>
                  <a:srgbClr val="9DB4F5"/>
                </a:solidFill>
              </a:rPr>
              <a:t>08 · SCREENS</a:t>
            </a:r>
            <a:endParaRPr lang="en-US" sz="1050" dirty="0"/>
          </a:p>
        </p:txBody>
      </p:sp>
      <p:sp>
        <p:nvSpPr>
          <p:cNvPr id="4" name="Text 1"/>
          <p:cNvSpPr txBox="1"/>
          <p:nvPr/>
        </p:nvSpPr>
        <p:spPr>
          <a:xfrm>
            <a:off x="457200" y="438912"/>
            <a:ext cx="5486400" cy="45720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High-Fidelity UI Screens</a:t>
            </a:r>
            <a:endParaRPr lang="en-US" sz="2500" dirty="0"/>
          </a:p>
        </p:txBody>
      </p:sp>
      <p:sp>
        <p:nvSpPr>
          <p:cNvPr id="5" name="Shape 2"/>
          <p:cNvSpPr/>
          <p:nvPr/>
        </p:nvSpPr>
        <p:spPr>
          <a:xfrm>
            <a:off x="5760720" y="548640"/>
            <a:ext cx="2926080" cy="256032"/>
          </a:xfrm>
          <a:prstGeom prst="roundRect">
            <a:avLst>
              <a:gd name="adj" fmla="val 50000"/>
            </a:avLst>
          </a:prstGeom>
          <a:solidFill>
            <a:srgbClr val="1B2C66"/>
          </a:solidFill>
          <a:ln w="12700">
            <a:solidFill>
              <a:srgbClr val="1B2C66"/>
            </a:solidFill>
            <a:prstDash val="solid"/>
          </a:ln>
        </p:spPr>
      </p:sp>
      <p:sp>
        <p:nvSpPr>
          <p:cNvPr id="6" name="Text 3"/>
          <p:cNvSpPr txBox="1"/>
          <p:nvPr/>
        </p:nvSpPr>
        <p:spPr>
          <a:xfrm>
            <a:off x="5760720" y="548640"/>
            <a:ext cx="2926080" cy="256032"/>
          </a:xfrm>
          <a:prstGeom prst="rect">
            <a:avLst/>
          </a:prstGeom>
          <a:noFill/>
          <a:ln/>
        </p:spPr>
        <p:txBody>
          <a:bodyPr wrap="square" lIns="0" tIns="0" rIns="0" bIns="0" rtlCol="0" anchor="ctr"/>
          <a:lstStyle/>
          <a:p>
            <a:pPr marL="0" indent="0" algn="ctr">
              <a:buNone/>
            </a:pPr>
            <a:r>
              <a:rPr lang="en-US" sz="1050" b="1" dirty="0">
                <a:solidFill>
                  <a:srgbClr val="BFD0FF"/>
                </a:solidFill>
              </a:rPr>
              <a:t>Illustrative mockups, not Figma exports</a:t>
            </a:r>
            <a:endParaRPr lang="en-US" sz="1050" dirty="0"/>
          </a:p>
        </p:txBody>
      </p:sp>
      <p:sp>
        <p:nvSpPr>
          <p:cNvPr id="7" name="Shape 4"/>
          <p:cNvSpPr/>
          <p:nvPr/>
        </p:nvSpPr>
        <p:spPr>
          <a:xfrm>
            <a:off x="411480" y="1051560"/>
            <a:ext cx="3749040" cy="2834640"/>
          </a:xfrm>
          <a:prstGeom prst="roundRect">
            <a:avLst>
              <a:gd name="adj" fmla="val 968"/>
            </a:avLst>
          </a:prstGeom>
          <a:solidFill>
            <a:srgbClr val="FFFFFF"/>
          </a:solidFill>
          <a:ln w="9525">
            <a:solidFill>
              <a:srgbClr val="CBD5E1"/>
            </a:solidFill>
            <a:prstDash val="solid"/>
          </a:ln>
          <a:effectLst>
            <a:outerShdw blurRad="101600" dist="25400" dir="5400000" algn="bl" rotWithShape="0">
              <a:srgbClr val="000000">
                <a:alpha val="14000"/>
              </a:srgbClr>
            </a:outerShdw>
          </a:effectLst>
        </p:spPr>
      </p:sp>
      <p:sp>
        <p:nvSpPr>
          <p:cNvPr id="8" name="Shape 5"/>
          <p:cNvSpPr/>
          <p:nvPr/>
        </p:nvSpPr>
        <p:spPr>
          <a:xfrm>
            <a:off x="411480" y="1051560"/>
            <a:ext cx="3749040" cy="283464"/>
          </a:xfrm>
          <a:prstGeom prst="rect">
            <a:avLst/>
          </a:prstGeom>
          <a:solidFill>
            <a:srgbClr val="0B1F4B"/>
          </a:solidFill>
          <a:ln w="12700">
            <a:solidFill>
              <a:srgbClr val="0B1F4B"/>
            </a:solidFill>
            <a:prstDash val="solid"/>
          </a:ln>
        </p:spPr>
      </p:sp>
      <p:sp>
        <p:nvSpPr>
          <p:cNvPr id="9" name="Text 6"/>
          <p:cNvSpPr txBox="1"/>
          <p:nvPr/>
        </p:nvSpPr>
        <p:spPr>
          <a:xfrm>
            <a:off x="561442" y="1051560"/>
            <a:ext cx="749808" cy="283464"/>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ShopEase</a:t>
            </a:r>
            <a:endParaRPr lang="en-US" sz="1000" dirty="0"/>
          </a:p>
        </p:txBody>
      </p:sp>
      <p:sp>
        <p:nvSpPr>
          <p:cNvPr id="10" name="Text 7"/>
          <p:cNvSpPr txBox="1"/>
          <p:nvPr/>
        </p:nvSpPr>
        <p:spPr>
          <a:xfrm>
            <a:off x="1348740" y="1051560"/>
            <a:ext cx="487375" cy="283464"/>
          </a:xfrm>
          <a:prstGeom prst="rect">
            <a:avLst/>
          </a:prstGeom>
          <a:noFill/>
          <a:ln/>
        </p:spPr>
        <p:txBody>
          <a:bodyPr wrap="square" lIns="0" tIns="0" rIns="0" bIns="0" rtlCol="0" anchor="ctr"/>
          <a:lstStyle/>
          <a:p>
            <a:pPr marL="0" indent="0">
              <a:buNone/>
            </a:pPr>
            <a:r>
              <a:rPr lang="en-US" sz="600" dirty="0">
                <a:solidFill>
                  <a:srgbClr val="C7D2FE"/>
                </a:solidFill>
              </a:rPr>
              <a:t>Home</a:t>
            </a:r>
            <a:endParaRPr lang="en-US" sz="600" dirty="0"/>
          </a:p>
        </p:txBody>
      </p:sp>
      <p:sp>
        <p:nvSpPr>
          <p:cNvPr id="11" name="Text 8"/>
          <p:cNvSpPr txBox="1"/>
          <p:nvPr/>
        </p:nvSpPr>
        <p:spPr>
          <a:xfrm>
            <a:off x="1742389" y="1051560"/>
            <a:ext cx="487375" cy="283464"/>
          </a:xfrm>
          <a:prstGeom prst="rect">
            <a:avLst/>
          </a:prstGeom>
          <a:noFill/>
          <a:ln/>
        </p:spPr>
        <p:txBody>
          <a:bodyPr wrap="square" lIns="0" tIns="0" rIns="0" bIns="0" rtlCol="0" anchor="ctr"/>
          <a:lstStyle/>
          <a:p>
            <a:pPr marL="0" indent="0">
              <a:buNone/>
            </a:pPr>
            <a:r>
              <a:rPr lang="en-US" sz="600" dirty="0">
                <a:solidFill>
                  <a:srgbClr val="C7D2FE"/>
                </a:solidFill>
              </a:rPr>
              <a:t>Categories</a:t>
            </a:r>
            <a:endParaRPr lang="en-US" sz="600" dirty="0"/>
          </a:p>
        </p:txBody>
      </p:sp>
      <p:sp>
        <p:nvSpPr>
          <p:cNvPr id="12" name="Text 9"/>
          <p:cNvSpPr txBox="1"/>
          <p:nvPr/>
        </p:nvSpPr>
        <p:spPr>
          <a:xfrm>
            <a:off x="2136038" y="1051560"/>
            <a:ext cx="487375" cy="283464"/>
          </a:xfrm>
          <a:prstGeom prst="rect">
            <a:avLst/>
          </a:prstGeom>
          <a:noFill/>
          <a:ln/>
        </p:spPr>
        <p:txBody>
          <a:bodyPr wrap="square" lIns="0" tIns="0" rIns="0" bIns="0" rtlCol="0" anchor="ctr"/>
          <a:lstStyle/>
          <a:p>
            <a:pPr marL="0" indent="0">
              <a:buNone/>
            </a:pPr>
            <a:r>
              <a:rPr lang="en-US" sz="600" dirty="0">
                <a:solidFill>
                  <a:srgbClr val="C7D2FE"/>
                </a:solidFill>
              </a:rPr>
              <a:t>Deals</a:t>
            </a:r>
            <a:endParaRPr lang="en-US" sz="600" dirty="0"/>
          </a:p>
        </p:txBody>
      </p:sp>
      <p:sp>
        <p:nvSpPr>
          <p:cNvPr id="13" name="Text 10"/>
          <p:cNvSpPr txBox="1"/>
          <p:nvPr/>
        </p:nvSpPr>
        <p:spPr>
          <a:xfrm>
            <a:off x="2529688" y="1051560"/>
            <a:ext cx="487375" cy="283464"/>
          </a:xfrm>
          <a:prstGeom prst="rect">
            <a:avLst/>
          </a:prstGeom>
          <a:noFill/>
          <a:ln/>
        </p:spPr>
        <p:txBody>
          <a:bodyPr wrap="square" lIns="0" tIns="0" rIns="0" bIns="0" rtlCol="0" anchor="ctr"/>
          <a:lstStyle/>
          <a:p>
            <a:pPr marL="0" indent="0">
              <a:buNone/>
            </a:pPr>
            <a:r>
              <a:rPr lang="en-US" sz="600" dirty="0">
                <a:solidFill>
                  <a:srgbClr val="C7D2FE"/>
                </a:solidFill>
              </a:rPr>
              <a:t>New</a:t>
            </a:r>
            <a:endParaRPr lang="en-US" sz="600" dirty="0"/>
          </a:p>
        </p:txBody>
      </p:sp>
      <p:sp>
        <p:nvSpPr>
          <p:cNvPr id="14" name="Shape 11"/>
          <p:cNvSpPr/>
          <p:nvPr/>
        </p:nvSpPr>
        <p:spPr>
          <a:xfrm>
            <a:off x="2885846" y="1128095"/>
            <a:ext cx="862279" cy="130393"/>
          </a:xfrm>
          <a:prstGeom prst="roundRect">
            <a:avLst>
              <a:gd name="adj" fmla="val 21038"/>
            </a:avLst>
          </a:prstGeom>
          <a:solidFill>
            <a:srgbClr val="FFFFFF"/>
          </a:solidFill>
          <a:ln w="12700">
            <a:solidFill>
              <a:srgbClr val="FFFFFF"/>
            </a:solidFill>
            <a:prstDash val="solid"/>
          </a:ln>
        </p:spPr>
      </p:sp>
      <p:sp>
        <p:nvSpPr>
          <p:cNvPr id="15" name="Text 12"/>
          <p:cNvSpPr txBox="1"/>
          <p:nvPr/>
        </p:nvSpPr>
        <p:spPr>
          <a:xfrm>
            <a:off x="2942082" y="1128095"/>
            <a:ext cx="749808" cy="130393"/>
          </a:xfrm>
          <a:prstGeom prst="rect">
            <a:avLst/>
          </a:prstGeom>
          <a:noFill/>
          <a:ln/>
        </p:spPr>
        <p:txBody>
          <a:bodyPr wrap="square" lIns="0" tIns="0" rIns="0" bIns="0" rtlCol="0" anchor="ctr"/>
          <a:lstStyle/>
          <a:p>
            <a:pPr marL="0" indent="0">
              <a:buNone/>
            </a:pPr>
            <a:r>
              <a:rPr lang="en-US" sz="650" dirty="0">
                <a:solidFill>
                  <a:srgbClr val="6B7280"/>
                </a:solidFill>
              </a:rPr>
              <a:t>Search products</a:t>
            </a:r>
            <a:endParaRPr lang="en-US" sz="650" dirty="0"/>
          </a:p>
        </p:txBody>
      </p:sp>
      <p:sp>
        <p:nvSpPr>
          <p:cNvPr id="16" name="Shape 13"/>
          <p:cNvSpPr/>
          <p:nvPr/>
        </p:nvSpPr>
        <p:spPr>
          <a:xfrm>
            <a:off x="3860597" y="1136599"/>
            <a:ext cx="113386" cy="113386"/>
          </a:xfrm>
          <a:prstGeom prst="ellipse">
            <a:avLst/>
          </a:prstGeom>
          <a:solidFill>
            <a:srgbClr val="FFFFFF"/>
          </a:solidFill>
          <a:ln w="12700">
            <a:solidFill>
              <a:srgbClr val="FFFFFF"/>
            </a:solidFill>
            <a:prstDash val="solid"/>
          </a:ln>
        </p:spPr>
      </p:sp>
      <p:sp>
        <p:nvSpPr>
          <p:cNvPr id="17" name="Shape 14"/>
          <p:cNvSpPr/>
          <p:nvPr/>
        </p:nvSpPr>
        <p:spPr>
          <a:xfrm>
            <a:off x="523951" y="1420063"/>
            <a:ext cx="3524098" cy="850392"/>
          </a:xfrm>
          <a:prstGeom prst="roundRect">
            <a:avLst>
              <a:gd name="adj" fmla="val 4301"/>
            </a:avLst>
          </a:prstGeom>
          <a:solidFill>
            <a:srgbClr val="E6ECFF"/>
          </a:solidFill>
          <a:ln w="12700">
            <a:solidFill>
              <a:srgbClr val="E6ECFF"/>
            </a:solidFill>
            <a:prstDash val="solid"/>
          </a:ln>
        </p:spPr>
      </p:sp>
      <p:sp>
        <p:nvSpPr>
          <p:cNvPr id="18" name="Shape 15"/>
          <p:cNvSpPr/>
          <p:nvPr/>
        </p:nvSpPr>
        <p:spPr>
          <a:xfrm>
            <a:off x="2960827" y="1476756"/>
            <a:ext cx="737006" cy="737006"/>
          </a:xfrm>
          <a:prstGeom prst="ellipse">
            <a:avLst/>
          </a:prstGeom>
          <a:solidFill>
            <a:srgbClr val="2F5BFF">
              <a:alpha val="30000"/>
            </a:srgbClr>
          </a:solidFill>
          <a:ln w="12700">
            <a:solidFill>
              <a:srgbClr val="2F5BFF"/>
            </a:solidFill>
            <a:prstDash val="solid"/>
          </a:ln>
        </p:spPr>
      </p:sp>
      <p:sp>
        <p:nvSpPr>
          <p:cNvPr id="19" name="Shape 16"/>
          <p:cNvSpPr/>
          <p:nvPr/>
        </p:nvSpPr>
        <p:spPr>
          <a:xfrm>
            <a:off x="3335731" y="1618488"/>
            <a:ext cx="566928" cy="566928"/>
          </a:xfrm>
          <a:prstGeom prst="ellipse">
            <a:avLst/>
          </a:prstGeom>
          <a:solidFill>
            <a:srgbClr val="F472B6">
              <a:alpha val="40000"/>
            </a:srgbClr>
          </a:solidFill>
          <a:ln w="12700">
            <a:solidFill>
              <a:srgbClr val="F472B6"/>
            </a:solidFill>
            <a:prstDash val="solid"/>
          </a:ln>
        </p:spPr>
      </p:sp>
      <p:sp>
        <p:nvSpPr>
          <p:cNvPr id="20" name="Text 17"/>
          <p:cNvSpPr txBox="1"/>
          <p:nvPr/>
        </p:nvSpPr>
        <p:spPr>
          <a:xfrm>
            <a:off x="673913" y="1533449"/>
            <a:ext cx="1874520" cy="340157"/>
          </a:xfrm>
          <a:prstGeom prst="rect">
            <a:avLst/>
          </a:prstGeom>
          <a:noFill/>
          <a:ln/>
        </p:spPr>
        <p:txBody>
          <a:bodyPr wrap="square" lIns="0" tIns="0" rIns="0" bIns="0" rtlCol="0" anchor="t"/>
          <a:lstStyle/>
          <a:p>
            <a:pPr marL="0" indent="0">
              <a:buNone/>
            </a:pPr>
            <a:r>
              <a:rPr lang="en-US" sz="1300" b="1" dirty="0">
                <a:solidFill>
                  <a:srgbClr val="0B1F4B"/>
                </a:solidFill>
                <a:latin typeface="Georgia" pitchFamily="34" charset="0"/>
                <a:ea typeface="Georgia" pitchFamily="34" charset="-122"/>
                <a:cs typeface="Georgia" pitchFamily="34" charset="-120"/>
              </a:rPr>
              <a:t>Find what you need, faster</a:t>
            </a:r>
            <a:endParaRPr lang="en-US" sz="1300" dirty="0"/>
          </a:p>
        </p:txBody>
      </p:sp>
      <p:sp>
        <p:nvSpPr>
          <p:cNvPr id="21" name="Text 18"/>
          <p:cNvSpPr txBox="1"/>
          <p:nvPr/>
        </p:nvSpPr>
        <p:spPr>
          <a:xfrm>
            <a:off x="673913" y="1901952"/>
            <a:ext cx="1687068" cy="141732"/>
          </a:xfrm>
          <a:prstGeom prst="rect">
            <a:avLst/>
          </a:prstGeom>
          <a:noFill/>
          <a:ln/>
        </p:spPr>
        <p:txBody>
          <a:bodyPr wrap="square" lIns="0" tIns="0" rIns="0" bIns="0" rtlCol="0" anchor="t"/>
          <a:lstStyle/>
          <a:p>
            <a:pPr marL="0" indent="0">
              <a:buNone/>
            </a:pPr>
            <a:r>
              <a:rPr lang="en-US" sz="650" dirty="0">
                <a:solidFill>
                  <a:srgbClr val="6B7280"/>
                </a:solidFill>
              </a:rPr>
              <a:t>Browse categories and compare products with ease.</a:t>
            </a:r>
            <a:endParaRPr lang="en-US" sz="650" dirty="0"/>
          </a:p>
        </p:txBody>
      </p:sp>
      <p:sp>
        <p:nvSpPr>
          <p:cNvPr id="22" name="Shape 19"/>
          <p:cNvSpPr/>
          <p:nvPr/>
        </p:nvSpPr>
        <p:spPr>
          <a:xfrm>
            <a:off x="673913" y="2057857"/>
            <a:ext cx="637337" cy="155905"/>
          </a:xfrm>
          <a:prstGeom prst="roundRect">
            <a:avLst>
              <a:gd name="adj" fmla="val 17595"/>
            </a:avLst>
          </a:prstGeom>
          <a:solidFill>
            <a:srgbClr val="2F5BFF"/>
          </a:solidFill>
          <a:ln w="12700">
            <a:solidFill>
              <a:srgbClr val="2F5BFF"/>
            </a:solidFill>
            <a:prstDash val="solid"/>
          </a:ln>
        </p:spPr>
      </p:sp>
      <p:sp>
        <p:nvSpPr>
          <p:cNvPr id="23" name="Text 20"/>
          <p:cNvSpPr txBox="1"/>
          <p:nvPr/>
        </p:nvSpPr>
        <p:spPr>
          <a:xfrm>
            <a:off x="673913" y="2057857"/>
            <a:ext cx="637337" cy="155905"/>
          </a:xfrm>
          <a:prstGeom prst="rect">
            <a:avLst/>
          </a:prstGeom>
          <a:noFill/>
          <a:ln/>
        </p:spPr>
        <p:txBody>
          <a:bodyPr wrap="square" lIns="0" tIns="0" rIns="0" bIns="0" rtlCol="0" anchor="ctr"/>
          <a:lstStyle/>
          <a:p>
            <a:pPr marL="0" indent="0" algn="ctr">
              <a:buNone/>
            </a:pPr>
            <a:r>
              <a:rPr lang="en-US" sz="700" b="1" dirty="0">
                <a:solidFill>
                  <a:srgbClr val="FFFFFF"/>
                </a:solidFill>
              </a:rPr>
              <a:t>Shop now</a:t>
            </a:r>
            <a:endParaRPr lang="en-US" sz="700" dirty="0"/>
          </a:p>
        </p:txBody>
      </p:sp>
      <p:sp>
        <p:nvSpPr>
          <p:cNvPr id="24" name="Text 21"/>
          <p:cNvSpPr txBox="1"/>
          <p:nvPr/>
        </p:nvSpPr>
        <p:spPr>
          <a:xfrm>
            <a:off x="523951" y="2341321"/>
            <a:ext cx="824789" cy="141732"/>
          </a:xfrm>
          <a:prstGeom prst="rect">
            <a:avLst/>
          </a:prstGeom>
          <a:noFill/>
          <a:ln/>
        </p:spPr>
        <p:txBody>
          <a:bodyPr wrap="square" lIns="0" tIns="0" rIns="0" bIns="0" rtlCol="0" anchor="t"/>
          <a:lstStyle/>
          <a:p>
            <a:pPr marL="0" indent="0" algn="ctr">
              <a:buNone/>
            </a:pPr>
            <a:r>
              <a:rPr lang="en-US" sz="650" dirty="0">
                <a:solidFill>
                  <a:srgbClr val="6B7280"/>
                </a:solidFill>
              </a:rPr>
              <a:t>Free delivery</a:t>
            </a:r>
            <a:endParaRPr lang="en-US" sz="650" dirty="0"/>
          </a:p>
        </p:txBody>
      </p:sp>
      <p:sp>
        <p:nvSpPr>
          <p:cNvPr id="25" name="Text 22"/>
          <p:cNvSpPr txBox="1"/>
          <p:nvPr/>
        </p:nvSpPr>
        <p:spPr>
          <a:xfrm>
            <a:off x="1404976" y="2341321"/>
            <a:ext cx="824789" cy="141732"/>
          </a:xfrm>
          <a:prstGeom prst="rect">
            <a:avLst/>
          </a:prstGeom>
          <a:noFill/>
          <a:ln/>
        </p:spPr>
        <p:txBody>
          <a:bodyPr wrap="square" lIns="0" tIns="0" rIns="0" bIns="0" rtlCol="0" anchor="t"/>
          <a:lstStyle/>
          <a:p>
            <a:pPr marL="0" indent="0" algn="ctr">
              <a:buNone/>
            </a:pPr>
            <a:r>
              <a:rPr lang="en-US" sz="650" dirty="0">
                <a:solidFill>
                  <a:srgbClr val="6B7280"/>
                </a:solidFill>
              </a:rPr>
              <a:t>Easy returns</a:t>
            </a:r>
            <a:endParaRPr lang="en-US" sz="650" dirty="0"/>
          </a:p>
        </p:txBody>
      </p:sp>
      <p:sp>
        <p:nvSpPr>
          <p:cNvPr id="26" name="Text 23"/>
          <p:cNvSpPr txBox="1"/>
          <p:nvPr/>
        </p:nvSpPr>
        <p:spPr>
          <a:xfrm>
            <a:off x="2286000" y="2341321"/>
            <a:ext cx="824789" cy="141732"/>
          </a:xfrm>
          <a:prstGeom prst="rect">
            <a:avLst/>
          </a:prstGeom>
          <a:noFill/>
          <a:ln/>
        </p:spPr>
        <p:txBody>
          <a:bodyPr wrap="square" lIns="0" tIns="0" rIns="0" bIns="0" rtlCol="0" anchor="t"/>
          <a:lstStyle/>
          <a:p>
            <a:pPr marL="0" indent="0" algn="ctr">
              <a:buNone/>
            </a:pPr>
            <a:r>
              <a:rPr lang="en-US" sz="650" dirty="0">
                <a:solidFill>
                  <a:srgbClr val="6B7280"/>
                </a:solidFill>
              </a:rPr>
              <a:t>Secure payment</a:t>
            </a:r>
            <a:endParaRPr lang="en-US" sz="650" dirty="0"/>
          </a:p>
        </p:txBody>
      </p:sp>
      <p:sp>
        <p:nvSpPr>
          <p:cNvPr id="27" name="Text 24"/>
          <p:cNvSpPr txBox="1"/>
          <p:nvPr/>
        </p:nvSpPr>
        <p:spPr>
          <a:xfrm>
            <a:off x="3167024" y="2341321"/>
            <a:ext cx="824789" cy="141732"/>
          </a:xfrm>
          <a:prstGeom prst="rect">
            <a:avLst/>
          </a:prstGeom>
          <a:noFill/>
          <a:ln/>
        </p:spPr>
        <p:txBody>
          <a:bodyPr wrap="square" lIns="0" tIns="0" rIns="0" bIns="0" rtlCol="0" anchor="t"/>
          <a:lstStyle/>
          <a:p>
            <a:pPr marL="0" indent="0" algn="ctr">
              <a:buNone/>
            </a:pPr>
            <a:r>
              <a:rPr lang="en-US" sz="650" dirty="0">
                <a:solidFill>
                  <a:srgbClr val="6B7280"/>
                </a:solidFill>
              </a:rPr>
              <a:t>Support</a:t>
            </a:r>
            <a:endParaRPr lang="en-US" sz="650" dirty="0"/>
          </a:p>
        </p:txBody>
      </p:sp>
      <p:sp>
        <p:nvSpPr>
          <p:cNvPr id="28" name="Text 25"/>
          <p:cNvSpPr txBox="1"/>
          <p:nvPr/>
        </p:nvSpPr>
        <p:spPr>
          <a:xfrm>
            <a:off x="523951" y="2553919"/>
            <a:ext cx="1874520" cy="141732"/>
          </a:xfrm>
          <a:prstGeom prst="rect">
            <a:avLst/>
          </a:prstGeom>
          <a:noFill/>
          <a:ln/>
        </p:spPr>
        <p:txBody>
          <a:bodyPr wrap="square" lIns="0" tIns="0" rIns="0" bIns="0" rtlCol="0" anchor="t"/>
          <a:lstStyle/>
          <a:p>
            <a:pPr marL="0" indent="0">
              <a:buNone/>
            </a:pPr>
            <a:r>
              <a:rPr lang="en-US" sz="800" b="1" dirty="0">
                <a:solidFill>
                  <a:srgbClr val="0B1F4B"/>
                </a:solidFill>
              </a:rPr>
              <a:t>Shop by category</a:t>
            </a:r>
            <a:endParaRPr lang="en-US" sz="800" dirty="0"/>
          </a:p>
        </p:txBody>
      </p:sp>
      <p:sp>
        <p:nvSpPr>
          <p:cNvPr id="29" name="Shape 26"/>
          <p:cNvSpPr/>
          <p:nvPr/>
        </p:nvSpPr>
        <p:spPr>
          <a:xfrm>
            <a:off x="523951" y="2738171"/>
            <a:ext cx="843534" cy="283464"/>
          </a:xfrm>
          <a:prstGeom prst="roundRect">
            <a:avLst>
              <a:gd name="adj" fmla="val 9677"/>
            </a:avLst>
          </a:prstGeom>
          <a:solidFill>
            <a:srgbClr val="F4F6FB"/>
          </a:solidFill>
          <a:ln w="9525">
            <a:solidFill>
              <a:srgbClr val="DDE3F0"/>
            </a:solidFill>
            <a:prstDash val="solid"/>
          </a:ln>
        </p:spPr>
      </p:sp>
      <p:sp>
        <p:nvSpPr>
          <p:cNvPr id="30" name="Shape 27"/>
          <p:cNvSpPr/>
          <p:nvPr/>
        </p:nvSpPr>
        <p:spPr>
          <a:xfrm>
            <a:off x="598932" y="2794864"/>
            <a:ext cx="170078" cy="170078"/>
          </a:xfrm>
          <a:prstGeom prst="ellipse">
            <a:avLst/>
          </a:prstGeom>
          <a:solidFill>
            <a:srgbClr val="C7D2FE"/>
          </a:solidFill>
          <a:ln w="12700">
            <a:solidFill>
              <a:srgbClr val="C7D2FE"/>
            </a:solidFill>
            <a:prstDash val="solid"/>
          </a:ln>
        </p:spPr>
      </p:sp>
      <p:sp>
        <p:nvSpPr>
          <p:cNvPr id="31" name="Text 28"/>
          <p:cNvSpPr txBox="1"/>
          <p:nvPr/>
        </p:nvSpPr>
        <p:spPr>
          <a:xfrm>
            <a:off x="786384" y="2738171"/>
            <a:ext cx="562356" cy="283464"/>
          </a:xfrm>
          <a:prstGeom prst="rect">
            <a:avLst/>
          </a:prstGeom>
          <a:noFill/>
          <a:ln/>
        </p:spPr>
        <p:txBody>
          <a:bodyPr wrap="square" lIns="0" tIns="0" rIns="0" bIns="0" rtlCol="0" anchor="ctr"/>
          <a:lstStyle/>
          <a:p>
            <a:pPr marL="0" indent="0">
              <a:buNone/>
            </a:pPr>
            <a:r>
              <a:rPr lang="en-US" sz="700" dirty="0">
                <a:solidFill>
                  <a:srgbClr val="1F2937"/>
                </a:solidFill>
              </a:rPr>
              <a:t>Fashion</a:t>
            </a:r>
            <a:endParaRPr lang="en-US" sz="700" dirty="0"/>
          </a:p>
        </p:txBody>
      </p:sp>
      <p:sp>
        <p:nvSpPr>
          <p:cNvPr id="32" name="Shape 29"/>
          <p:cNvSpPr/>
          <p:nvPr/>
        </p:nvSpPr>
        <p:spPr>
          <a:xfrm>
            <a:off x="1433093" y="2738171"/>
            <a:ext cx="843534" cy="283464"/>
          </a:xfrm>
          <a:prstGeom prst="roundRect">
            <a:avLst>
              <a:gd name="adj" fmla="val 9677"/>
            </a:avLst>
          </a:prstGeom>
          <a:solidFill>
            <a:srgbClr val="F4F6FB"/>
          </a:solidFill>
          <a:ln w="9525">
            <a:solidFill>
              <a:srgbClr val="DDE3F0"/>
            </a:solidFill>
            <a:prstDash val="solid"/>
          </a:ln>
        </p:spPr>
      </p:sp>
      <p:sp>
        <p:nvSpPr>
          <p:cNvPr id="33" name="Shape 30"/>
          <p:cNvSpPr/>
          <p:nvPr/>
        </p:nvSpPr>
        <p:spPr>
          <a:xfrm>
            <a:off x="1508074" y="2794864"/>
            <a:ext cx="170078" cy="170078"/>
          </a:xfrm>
          <a:prstGeom prst="ellipse">
            <a:avLst/>
          </a:prstGeom>
          <a:solidFill>
            <a:srgbClr val="FBCFE8"/>
          </a:solidFill>
          <a:ln w="12700">
            <a:solidFill>
              <a:srgbClr val="FBCFE8"/>
            </a:solidFill>
            <a:prstDash val="solid"/>
          </a:ln>
        </p:spPr>
      </p:sp>
      <p:sp>
        <p:nvSpPr>
          <p:cNvPr id="34" name="Text 31"/>
          <p:cNvSpPr txBox="1"/>
          <p:nvPr/>
        </p:nvSpPr>
        <p:spPr>
          <a:xfrm>
            <a:off x="1695526" y="2738171"/>
            <a:ext cx="562356" cy="283464"/>
          </a:xfrm>
          <a:prstGeom prst="rect">
            <a:avLst/>
          </a:prstGeom>
          <a:noFill/>
          <a:ln/>
        </p:spPr>
        <p:txBody>
          <a:bodyPr wrap="square" lIns="0" tIns="0" rIns="0" bIns="0" rtlCol="0" anchor="ctr"/>
          <a:lstStyle/>
          <a:p>
            <a:pPr marL="0" indent="0">
              <a:buNone/>
            </a:pPr>
            <a:r>
              <a:rPr lang="en-US" sz="700" dirty="0">
                <a:solidFill>
                  <a:srgbClr val="1F2937"/>
                </a:solidFill>
              </a:rPr>
              <a:t>Electronics</a:t>
            </a:r>
            <a:endParaRPr lang="en-US" sz="700" dirty="0"/>
          </a:p>
        </p:txBody>
      </p:sp>
      <p:sp>
        <p:nvSpPr>
          <p:cNvPr id="35" name="Shape 32"/>
          <p:cNvSpPr/>
          <p:nvPr/>
        </p:nvSpPr>
        <p:spPr>
          <a:xfrm>
            <a:off x="2342236" y="2738171"/>
            <a:ext cx="843534" cy="283464"/>
          </a:xfrm>
          <a:prstGeom prst="roundRect">
            <a:avLst>
              <a:gd name="adj" fmla="val 9677"/>
            </a:avLst>
          </a:prstGeom>
          <a:solidFill>
            <a:srgbClr val="F4F6FB"/>
          </a:solidFill>
          <a:ln w="9525">
            <a:solidFill>
              <a:srgbClr val="DDE3F0"/>
            </a:solidFill>
            <a:prstDash val="solid"/>
          </a:ln>
        </p:spPr>
      </p:sp>
      <p:sp>
        <p:nvSpPr>
          <p:cNvPr id="36" name="Shape 33"/>
          <p:cNvSpPr/>
          <p:nvPr/>
        </p:nvSpPr>
        <p:spPr>
          <a:xfrm>
            <a:off x="2417216" y="2794864"/>
            <a:ext cx="170078" cy="170078"/>
          </a:xfrm>
          <a:prstGeom prst="ellipse">
            <a:avLst/>
          </a:prstGeom>
          <a:solidFill>
            <a:srgbClr val="BFDBFE"/>
          </a:solidFill>
          <a:ln w="12700">
            <a:solidFill>
              <a:srgbClr val="BFDBFE"/>
            </a:solidFill>
            <a:prstDash val="solid"/>
          </a:ln>
        </p:spPr>
      </p:sp>
      <p:sp>
        <p:nvSpPr>
          <p:cNvPr id="37" name="Text 34"/>
          <p:cNvSpPr txBox="1"/>
          <p:nvPr/>
        </p:nvSpPr>
        <p:spPr>
          <a:xfrm>
            <a:off x="2604668" y="2738171"/>
            <a:ext cx="562356" cy="283464"/>
          </a:xfrm>
          <a:prstGeom prst="rect">
            <a:avLst/>
          </a:prstGeom>
          <a:noFill/>
          <a:ln/>
        </p:spPr>
        <p:txBody>
          <a:bodyPr wrap="square" lIns="0" tIns="0" rIns="0" bIns="0" rtlCol="0" anchor="ctr"/>
          <a:lstStyle/>
          <a:p>
            <a:pPr marL="0" indent="0">
              <a:buNone/>
            </a:pPr>
            <a:r>
              <a:rPr lang="en-US" sz="700" dirty="0">
                <a:solidFill>
                  <a:srgbClr val="1F2937"/>
                </a:solidFill>
              </a:rPr>
              <a:t>Home</a:t>
            </a:r>
            <a:endParaRPr lang="en-US" sz="700" dirty="0"/>
          </a:p>
        </p:txBody>
      </p:sp>
      <p:sp>
        <p:nvSpPr>
          <p:cNvPr id="38" name="Shape 35"/>
          <p:cNvSpPr/>
          <p:nvPr/>
        </p:nvSpPr>
        <p:spPr>
          <a:xfrm>
            <a:off x="3251378" y="2738171"/>
            <a:ext cx="843534" cy="283464"/>
          </a:xfrm>
          <a:prstGeom prst="roundRect">
            <a:avLst>
              <a:gd name="adj" fmla="val 9677"/>
            </a:avLst>
          </a:prstGeom>
          <a:solidFill>
            <a:srgbClr val="F4F6FB"/>
          </a:solidFill>
          <a:ln w="9525">
            <a:solidFill>
              <a:srgbClr val="DDE3F0"/>
            </a:solidFill>
            <a:prstDash val="solid"/>
          </a:ln>
        </p:spPr>
      </p:sp>
      <p:sp>
        <p:nvSpPr>
          <p:cNvPr id="39" name="Shape 36"/>
          <p:cNvSpPr/>
          <p:nvPr/>
        </p:nvSpPr>
        <p:spPr>
          <a:xfrm>
            <a:off x="3326359" y="2794864"/>
            <a:ext cx="170078" cy="170078"/>
          </a:xfrm>
          <a:prstGeom prst="ellipse">
            <a:avLst/>
          </a:prstGeom>
          <a:solidFill>
            <a:srgbClr val="DDD6FE"/>
          </a:solidFill>
          <a:ln w="12700">
            <a:solidFill>
              <a:srgbClr val="DDD6FE"/>
            </a:solidFill>
            <a:prstDash val="solid"/>
          </a:ln>
        </p:spPr>
      </p:sp>
      <p:sp>
        <p:nvSpPr>
          <p:cNvPr id="40" name="Text 37"/>
          <p:cNvSpPr txBox="1"/>
          <p:nvPr/>
        </p:nvSpPr>
        <p:spPr>
          <a:xfrm>
            <a:off x="3513811" y="2738171"/>
            <a:ext cx="562356" cy="283464"/>
          </a:xfrm>
          <a:prstGeom prst="rect">
            <a:avLst/>
          </a:prstGeom>
          <a:noFill/>
          <a:ln/>
        </p:spPr>
        <p:txBody>
          <a:bodyPr wrap="square" lIns="0" tIns="0" rIns="0" bIns="0" rtlCol="0" anchor="ctr"/>
          <a:lstStyle/>
          <a:p>
            <a:pPr marL="0" indent="0">
              <a:buNone/>
            </a:pPr>
            <a:r>
              <a:rPr lang="en-US" sz="700" dirty="0">
                <a:solidFill>
                  <a:srgbClr val="1F2937"/>
                </a:solidFill>
              </a:rPr>
              <a:t>Beauty</a:t>
            </a:r>
            <a:endParaRPr lang="en-US" sz="700" dirty="0"/>
          </a:p>
        </p:txBody>
      </p:sp>
      <p:sp>
        <p:nvSpPr>
          <p:cNvPr id="41" name="Text 38"/>
          <p:cNvSpPr txBox="1"/>
          <p:nvPr/>
        </p:nvSpPr>
        <p:spPr>
          <a:xfrm>
            <a:off x="523951" y="3106674"/>
            <a:ext cx="1874520" cy="141732"/>
          </a:xfrm>
          <a:prstGeom prst="rect">
            <a:avLst/>
          </a:prstGeom>
          <a:noFill/>
          <a:ln/>
        </p:spPr>
        <p:txBody>
          <a:bodyPr wrap="square" lIns="0" tIns="0" rIns="0" bIns="0" rtlCol="0" anchor="t"/>
          <a:lstStyle/>
          <a:p>
            <a:pPr marL="0" indent="0">
              <a:buNone/>
            </a:pPr>
            <a:r>
              <a:rPr lang="en-US" sz="800" b="1" dirty="0">
                <a:solidFill>
                  <a:srgbClr val="0B1F4B"/>
                </a:solidFill>
              </a:rPr>
              <a:t>Featured products</a:t>
            </a:r>
            <a:endParaRPr lang="en-US" sz="800" dirty="0"/>
          </a:p>
        </p:txBody>
      </p:sp>
      <p:sp>
        <p:nvSpPr>
          <p:cNvPr id="42" name="Shape 39"/>
          <p:cNvSpPr/>
          <p:nvPr/>
        </p:nvSpPr>
        <p:spPr>
          <a:xfrm>
            <a:off x="523951" y="3276752"/>
            <a:ext cx="843534" cy="283464"/>
          </a:xfrm>
          <a:prstGeom prst="roundRect">
            <a:avLst>
              <a:gd name="adj" fmla="val 9677"/>
            </a:avLst>
          </a:prstGeom>
          <a:solidFill>
            <a:srgbClr val="C7D2FE"/>
          </a:solidFill>
          <a:ln w="12700">
            <a:solidFill>
              <a:srgbClr val="C7D2FE"/>
            </a:solidFill>
            <a:prstDash val="solid"/>
          </a:ln>
        </p:spPr>
      </p:sp>
      <p:sp>
        <p:nvSpPr>
          <p:cNvPr id="43" name="Text 40"/>
          <p:cNvSpPr txBox="1"/>
          <p:nvPr/>
        </p:nvSpPr>
        <p:spPr>
          <a:xfrm>
            <a:off x="523951" y="3602736"/>
            <a:ext cx="843534" cy="113386"/>
          </a:xfrm>
          <a:prstGeom prst="rect">
            <a:avLst/>
          </a:prstGeom>
          <a:noFill/>
          <a:ln/>
        </p:spPr>
        <p:txBody>
          <a:bodyPr wrap="square" lIns="0" tIns="0" rIns="0" bIns="0" rtlCol="0" anchor="t"/>
          <a:lstStyle/>
          <a:p>
            <a:pPr marL="0" indent="0">
              <a:buNone/>
            </a:pPr>
            <a:r>
              <a:rPr lang="en-US" sz="650" dirty="0">
                <a:solidFill>
                  <a:srgbClr val="1F2937"/>
                </a:solidFill>
              </a:rPr>
              <a:t>Product name</a:t>
            </a:r>
            <a:endParaRPr lang="en-US" sz="650" dirty="0"/>
          </a:p>
        </p:txBody>
      </p:sp>
      <p:sp>
        <p:nvSpPr>
          <p:cNvPr id="44" name="Text 41"/>
          <p:cNvSpPr txBox="1"/>
          <p:nvPr/>
        </p:nvSpPr>
        <p:spPr>
          <a:xfrm>
            <a:off x="523951" y="3730295"/>
            <a:ext cx="449885" cy="113386"/>
          </a:xfrm>
          <a:prstGeom prst="rect">
            <a:avLst/>
          </a:prstGeom>
          <a:noFill/>
          <a:ln/>
        </p:spPr>
        <p:txBody>
          <a:bodyPr wrap="square" lIns="0" tIns="0" rIns="0" bIns="0" rtlCol="0" anchor="t"/>
          <a:lstStyle/>
          <a:p>
            <a:pPr marL="0" indent="0">
              <a:buNone/>
            </a:pPr>
            <a:r>
              <a:rPr lang="en-US" sz="650" b="1" dirty="0">
                <a:solidFill>
                  <a:srgbClr val="0B1F4B"/>
                </a:solidFill>
              </a:rPr>
              <a:t>₹ Price</a:t>
            </a:r>
            <a:endParaRPr lang="en-US" sz="650" dirty="0"/>
          </a:p>
        </p:txBody>
      </p:sp>
      <p:sp>
        <p:nvSpPr>
          <p:cNvPr id="45" name="Shape 42"/>
          <p:cNvSpPr/>
          <p:nvPr/>
        </p:nvSpPr>
        <p:spPr>
          <a:xfrm>
            <a:off x="1086307" y="3730295"/>
            <a:ext cx="281178" cy="113386"/>
          </a:xfrm>
          <a:prstGeom prst="roundRect">
            <a:avLst>
              <a:gd name="adj" fmla="val 16129"/>
            </a:avLst>
          </a:prstGeom>
          <a:solidFill>
            <a:srgbClr val="2F5BFF"/>
          </a:solidFill>
          <a:ln w="12700">
            <a:solidFill>
              <a:srgbClr val="2F5BFF"/>
            </a:solidFill>
            <a:prstDash val="solid"/>
          </a:ln>
        </p:spPr>
      </p:sp>
      <p:sp>
        <p:nvSpPr>
          <p:cNvPr id="46" name="Shape 43"/>
          <p:cNvSpPr/>
          <p:nvPr/>
        </p:nvSpPr>
        <p:spPr>
          <a:xfrm>
            <a:off x="1433093" y="3276752"/>
            <a:ext cx="843534" cy="283464"/>
          </a:xfrm>
          <a:prstGeom prst="roundRect">
            <a:avLst>
              <a:gd name="adj" fmla="val 9677"/>
            </a:avLst>
          </a:prstGeom>
          <a:solidFill>
            <a:srgbClr val="FBCFE8"/>
          </a:solidFill>
          <a:ln w="12700">
            <a:solidFill>
              <a:srgbClr val="FBCFE8"/>
            </a:solidFill>
            <a:prstDash val="solid"/>
          </a:ln>
        </p:spPr>
      </p:sp>
      <p:sp>
        <p:nvSpPr>
          <p:cNvPr id="47" name="Text 44"/>
          <p:cNvSpPr txBox="1"/>
          <p:nvPr/>
        </p:nvSpPr>
        <p:spPr>
          <a:xfrm>
            <a:off x="1433093" y="3602736"/>
            <a:ext cx="843534" cy="113386"/>
          </a:xfrm>
          <a:prstGeom prst="rect">
            <a:avLst/>
          </a:prstGeom>
          <a:noFill/>
          <a:ln/>
        </p:spPr>
        <p:txBody>
          <a:bodyPr wrap="square" lIns="0" tIns="0" rIns="0" bIns="0" rtlCol="0" anchor="t"/>
          <a:lstStyle/>
          <a:p>
            <a:pPr marL="0" indent="0">
              <a:buNone/>
            </a:pPr>
            <a:r>
              <a:rPr lang="en-US" sz="650" dirty="0">
                <a:solidFill>
                  <a:srgbClr val="1F2937"/>
                </a:solidFill>
              </a:rPr>
              <a:t>Product name</a:t>
            </a:r>
            <a:endParaRPr lang="en-US" sz="650" dirty="0"/>
          </a:p>
        </p:txBody>
      </p:sp>
      <p:sp>
        <p:nvSpPr>
          <p:cNvPr id="48" name="Text 45"/>
          <p:cNvSpPr txBox="1"/>
          <p:nvPr/>
        </p:nvSpPr>
        <p:spPr>
          <a:xfrm>
            <a:off x="1433093" y="3730295"/>
            <a:ext cx="449885" cy="113386"/>
          </a:xfrm>
          <a:prstGeom prst="rect">
            <a:avLst/>
          </a:prstGeom>
          <a:noFill/>
          <a:ln/>
        </p:spPr>
        <p:txBody>
          <a:bodyPr wrap="square" lIns="0" tIns="0" rIns="0" bIns="0" rtlCol="0" anchor="t"/>
          <a:lstStyle/>
          <a:p>
            <a:pPr marL="0" indent="0">
              <a:buNone/>
            </a:pPr>
            <a:r>
              <a:rPr lang="en-US" sz="650" b="1" dirty="0">
                <a:solidFill>
                  <a:srgbClr val="0B1F4B"/>
                </a:solidFill>
              </a:rPr>
              <a:t>₹ Price</a:t>
            </a:r>
            <a:endParaRPr lang="en-US" sz="650" dirty="0"/>
          </a:p>
        </p:txBody>
      </p:sp>
      <p:sp>
        <p:nvSpPr>
          <p:cNvPr id="49" name="Shape 46"/>
          <p:cNvSpPr/>
          <p:nvPr/>
        </p:nvSpPr>
        <p:spPr>
          <a:xfrm>
            <a:off x="1995449" y="3730295"/>
            <a:ext cx="281178" cy="113386"/>
          </a:xfrm>
          <a:prstGeom prst="roundRect">
            <a:avLst>
              <a:gd name="adj" fmla="val 16129"/>
            </a:avLst>
          </a:prstGeom>
          <a:solidFill>
            <a:srgbClr val="2F5BFF"/>
          </a:solidFill>
          <a:ln w="12700">
            <a:solidFill>
              <a:srgbClr val="2F5BFF"/>
            </a:solidFill>
            <a:prstDash val="solid"/>
          </a:ln>
        </p:spPr>
      </p:sp>
      <p:sp>
        <p:nvSpPr>
          <p:cNvPr id="50" name="Shape 47"/>
          <p:cNvSpPr/>
          <p:nvPr/>
        </p:nvSpPr>
        <p:spPr>
          <a:xfrm>
            <a:off x="2342236" y="3276752"/>
            <a:ext cx="843534" cy="283464"/>
          </a:xfrm>
          <a:prstGeom prst="roundRect">
            <a:avLst>
              <a:gd name="adj" fmla="val 9677"/>
            </a:avLst>
          </a:prstGeom>
          <a:solidFill>
            <a:srgbClr val="BFDBFE"/>
          </a:solidFill>
          <a:ln w="12700">
            <a:solidFill>
              <a:srgbClr val="BFDBFE"/>
            </a:solidFill>
            <a:prstDash val="solid"/>
          </a:ln>
        </p:spPr>
      </p:sp>
      <p:sp>
        <p:nvSpPr>
          <p:cNvPr id="51" name="Text 48"/>
          <p:cNvSpPr txBox="1"/>
          <p:nvPr/>
        </p:nvSpPr>
        <p:spPr>
          <a:xfrm>
            <a:off x="2342236" y="3602736"/>
            <a:ext cx="843534" cy="113386"/>
          </a:xfrm>
          <a:prstGeom prst="rect">
            <a:avLst/>
          </a:prstGeom>
          <a:noFill/>
          <a:ln/>
        </p:spPr>
        <p:txBody>
          <a:bodyPr wrap="square" lIns="0" tIns="0" rIns="0" bIns="0" rtlCol="0" anchor="t"/>
          <a:lstStyle/>
          <a:p>
            <a:pPr marL="0" indent="0">
              <a:buNone/>
            </a:pPr>
            <a:r>
              <a:rPr lang="en-US" sz="650" dirty="0">
                <a:solidFill>
                  <a:srgbClr val="1F2937"/>
                </a:solidFill>
              </a:rPr>
              <a:t>Product name</a:t>
            </a:r>
            <a:endParaRPr lang="en-US" sz="650" dirty="0"/>
          </a:p>
        </p:txBody>
      </p:sp>
      <p:sp>
        <p:nvSpPr>
          <p:cNvPr id="52" name="Text 49"/>
          <p:cNvSpPr txBox="1"/>
          <p:nvPr/>
        </p:nvSpPr>
        <p:spPr>
          <a:xfrm>
            <a:off x="2342236" y="3730295"/>
            <a:ext cx="449885" cy="113386"/>
          </a:xfrm>
          <a:prstGeom prst="rect">
            <a:avLst/>
          </a:prstGeom>
          <a:noFill/>
          <a:ln/>
        </p:spPr>
        <p:txBody>
          <a:bodyPr wrap="square" lIns="0" tIns="0" rIns="0" bIns="0" rtlCol="0" anchor="t"/>
          <a:lstStyle/>
          <a:p>
            <a:pPr marL="0" indent="0">
              <a:buNone/>
            </a:pPr>
            <a:r>
              <a:rPr lang="en-US" sz="650" b="1" dirty="0">
                <a:solidFill>
                  <a:srgbClr val="0B1F4B"/>
                </a:solidFill>
              </a:rPr>
              <a:t>₹ Price</a:t>
            </a:r>
            <a:endParaRPr lang="en-US" sz="650" dirty="0"/>
          </a:p>
        </p:txBody>
      </p:sp>
      <p:sp>
        <p:nvSpPr>
          <p:cNvPr id="53" name="Shape 50"/>
          <p:cNvSpPr/>
          <p:nvPr/>
        </p:nvSpPr>
        <p:spPr>
          <a:xfrm>
            <a:off x="2904592" y="3730295"/>
            <a:ext cx="281178" cy="113386"/>
          </a:xfrm>
          <a:prstGeom prst="roundRect">
            <a:avLst>
              <a:gd name="adj" fmla="val 16129"/>
            </a:avLst>
          </a:prstGeom>
          <a:solidFill>
            <a:srgbClr val="2F5BFF"/>
          </a:solidFill>
          <a:ln w="12700">
            <a:solidFill>
              <a:srgbClr val="2F5BFF"/>
            </a:solidFill>
            <a:prstDash val="solid"/>
          </a:ln>
        </p:spPr>
      </p:sp>
      <p:sp>
        <p:nvSpPr>
          <p:cNvPr id="54" name="Shape 51"/>
          <p:cNvSpPr/>
          <p:nvPr/>
        </p:nvSpPr>
        <p:spPr>
          <a:xfrm>
            <a:off x="3251378" y="3276752"/>
            <a:ext cx="843534" cy="283464"/>
          </a:xfrm>
          <a:prstGeom prst="roundRect">
            <a:avLst>
              <a:gd name="adj" fmla="val 9677"/>
            </a:avLst>
          </a:prstGeom>
          <a:solidFill>
            <a:srgbClr val="DDD6FE"/>
          </a:solidFill>
          <a:ln w="12700">
            <a:solidFill>
              <a:srgbClr val="DDD6FE"/>
            </a:solidFill>
            <a:prstDash val="solid"/>
          </a:ln>
        </p:spPr>
      </p:sp>
      <p:sp>
        <p:nvSpPr>
          <p:cNvPr id="55" name="Text 52"/>
          <p:cNvSpPr txBox="1"/>
          <p:nvPr/>
        </p:nvSpPr>
        <p:spPr>
          <a:xfrm>
            <a:off x="3251378" y="3602736"/>
            <a:ext cx="843534" cy="113386"/>
          </a:xfrm>
          <a:prstGeom prst="rect">
            <a:avLst/>
          </a:prstGeom>
          <a:noFill/>
          <a:ln/>
        </p:spPr>
        <p:txBody>
          <a:bodyPr wrap="square" lIns="0" tIns="0" rIns="0" bIns="0" rtlCol="0" anchor="t"/>
          <a:lstStyle/>
          <a:p>
            <a:pPr marL="0" indent="0">
              <a:buNone/>
            </a:pPr>
            <a:r>
              <a:rPr lang="en-US" sz="650" dirty="0">
                <a:solidFill>
                  <a:srgbClr val="1F2937"/>
                </a:solidFill>
              </a:rPr>
              <a:t>Product name</a:t>
            </a:r>
            <a:endParaRPr lang="en-US" sz="650" dirty="0"/>
          </a:p>
        </p:txBody>
      </p:sp>
      <p:sp>
        <p:nvSpPr>
          <p:cNvPr id="56" name="Text 53"/>
          <p:cNvSpPr txBox="1"/>
          <p:nvPr/>
        </p:nvSpPr>
        <p:spPr>
          <a:xfrm>
            <a:off x="3251378" y="3730295"/>
            <a:ext cx="449885" cy="113386"/>
          </a:xfrm>
          <a:prstGeom prst="rect">
            <a:avLst/>
          </a:prstGeom>
          <a:noFill/>
          <a:ln/>
        </p:spPr>
        <p:txBody>
          <a:bodyPr wrap="square" lIns="0" tIns="0" rIns="0" bIns="0" rtlCol="0" anchor="t"/>
          <a:lstStyle/>
          <a:p>
            <a:pPr marL="0" indent="0">
              <a:buNone/>
            </a:pPr>
            <a:r>
              <a:rPr lang="en-US" sz="650" b="1" dirty="0">
                <a:solidFill>
                  <a:srgbClr val="0B1F4B"/>
                </a:solidFill>
              </a:rPr>
              <a:t>₹ Price</a:t>
            </a:r>
            <a:endParaRPr lang="en-US" sz="650" dirty="0"/>
          </a:p>
        </p:txBody>
      </p:sp>
      <p:sp>
        <p:nvSpPr>
          <p:cNvPr id="57" name="Shape 54"/>
          <p:cNvSpPr/>
          <p:nvPr/>
        </p:nvSpPr>
        <p:spPr>
          <a:xfrm>
            <a:off x="3813734" y="3730295"/>
            <a:ext cx="281178" cy="113386"/>
          </a:xfrm>
          <a:prstGeom prst="roundRect">
            <a:avLst>
              <a:gd name="adj" fmla="val 16129"/>
            </a:avLst>
          </a:prstGeom>
          <a:solidFill>
            <a:srgbClr val="2F5BFF"/>
          </a:solidFill>
          <a:ln w="12700">
            <a:solidFill>
              <a:srgbClr val="2F5BFF"/>
            </a:solidFill>
            <a:prstDash val="solid"/>
          </a:ln>
        </p:spPr>
      </p:sp>
      <p:sp>
        <p:nvSpPr>
          <p:cNvPr id="58" name="Shape 55"/>
          <p:cNvSpPr/>
          <p:nvPr/>
        </p:nvSpPr>
        <p:spPr>
          <a:xfrm>
            <a:off x="4297680" y="1051560"/>
            <a:ext cx="3017520" cy="2834640"/>
          </a:xfrm>
          <a:prstGeom prst="roundRect">
            <a:avLst>
              <a:gd name="adj" fmla="val 968"/>
            </a:avLst>
          </a:prstGeom>
          <a:solidFill>
            <a:srgbClr val="FFFFFF"/>
          </a:solidFill>
          <a:ln w="9525">
            <a:solidFill>
              <a:srgbClr val="CBD5E1"/>
            </a:solidFill>
            <a:prstDash val="solid"/>
          </a:ln>
          <a:effectLst>
            <a:outerShdw blurRad="101600" dist="25400" dir="5400000" algn="bl" rotWithShape="0">
              <a:srgbClr val="000000">
                <a:alpha val="14000"/>
              </a:srgbClr>
            </a:outerShdw>
          </a:effectLst>
        </p:spPr>
      </p:sp>
      <p:sp>
        <p:nvSpPr>
          <p:cNvPr id="59" name="Shape 56"/>
          <p:cNvSpPr/>
          <p:nvPr/>
        </p:nvSpPr>
        <p:spPr>
          <a:xfrm>
            <a:off x="4297680" y="1051560"/>
            <a:ext cx="3017520" cy="283464"/>
          </a:xfrm>
          <a:prstGeom prst="rect">
            <a:avLst/>
          </a:prstGeom>
          <a:solidFill>
            <a:srgbClr val="0B1F4B"/>
          </a:solidFill>
          <a:ln w="12700">
            <a:solidFill>
              <a:srgbClr val="0B1F4B"/>
            </a:solidFill>
            <a:prstDash val="solid"/>
          </a:ln>
        </p:spPr>
      </p:sp>
      <p:sp>
        <p:nvSpPr>
          <p:cNvPr id="60" name="Text 57"/>
          <p:cNvSpPr txBox="1"/>
          <p:nvPr/>
        </p:nvSpPr>
        <p:spPr>
          <a:xfrm>
            <a:off x="4418381" y="1051560"/>
            <a:ext cx="905256" cy="283464"/>
          </a:xfrm>
          <a:prstGeom prst="rect">
            <a:avLst/>
          </a:prstGeom>
          <a:noFill/>
          <a:ln/>
        </p:spPr>
        <p:txBody>
          <a:bodyPr wrap="square" lIns="0" tIns="0" rIns="0" bIns="0" rtlCol="0" anchor="ctr"/>
          <a:lstStyle/>
          <a:p>
            <a:pPr marL="0" indent="0">
              <a:buNone/>
            </a:pPr>
            <a:r>
              <a:rPr lang="en-US" sz="950" b="1" dirty="0">
                <a:solidFill>
                  <a:srgbClr val="FFFFFF"/>
                </a:solidFill>
                <a:latin typeface="Georgia" pitchFamily="34" charset="0"/>
                <a:ea typeface="Georgia" pitchFamily="34" charset="-122"/>
                <a:cs typeface="Georgia" pitchFamily="34" charset="-120"/>
              </a:rPr>
              <a:t>ShopEase</a:t>
            </a:r>
            <a:endParaRPr lang="en-US" sz="950" dirty="0"/>
          </a:p>
        </p:txBody>
      </p:sp>
      <p:sp>
        <p:nvSpPr>
          <p:cNvPr id="61" name="Text 58"/>
          <p:cNvSpPr txBox="1"/>
          <p:nvPr/>
        </p:nvSpPr>
        <p:spPr>
          <a:xfrm>
            <a:off x="4418381" y="1391717"/>
            <a:ext cx="1810512" cy="141732"/>
          </a:xfrm>
          <a:prstGeom prst="rect">
            <a:avLst/>
          </a:prstGeom>
          <a:noFill/>
          <a:ln/>
        </p:spPr>
        <p:txBody>
          <a:bodyPr wrap="square" lIns="0" tIns="0" rIns="0" bIns="0" rtlCol="0" anchor="t"/>
          <a:lstStyle/>
          <a:p>
            <a:pPr marL="0" indent="0">
              <a:buNone/>
            </a:pPr>
            <a:r>
              <a:rPr lang="en-US" sz="600" dirty="0">
                <a:solidFill>
                  <a:srgbClr val="6B7280"/>
                </a:solidFill>
              </a:rPr>
              <a:t>Home  &gt;  Fashion  &gt;  Product</a:t>
            </a:r>
            <a:endParaRPr lang="en-US" sz="600" dirty="0"/>
          </a:p>
        </p:txBody>
      </p:sp>
      <p:sp>
        <p:nvSpPr>
          <p:cNvPr id="62" name="Shape 59"/>
          <p:cNvSpPr/>
          <p:nvPr/>
        </p:nvSpPr>
        <p:spPr>
          <a:xfrm>
            <a:off x="4418381" y="1590142"/>
            <a:ext cx="1267358" cy="1559052"/>
          </a:xfrm>
          <a:prstGeom prst="roundRect">
            <a:avLst>
              <a:gd name="adj" fmla="val 2165"/>
            </a:avLst>
          </a:prstGeom>
          <a:solidFill>
            <a:srgbClr val="C7D2FE"/>
          </a:solidFill>
          <a:ln w="12700">
            <a:solidFill>
              <a:srgbClr val="C7D2FE"/>
            </a:solidFill>
            <a:prstDash val="solid"/>
          </a:ln>
        </p:spPr>
      </p:sp>
      <p:sp>
        <p:nvSpPr>
          <p:cNvPr id="63" name="Shape 60"/>
          <p:cNvSpPr/>
          <p:nvPr/>
        </p:nvSpPr>
        <p:spPr>
          <a:xfrm>
            <a:off x="4750308" y="1901952"/>
            <a:ext cx="850392" cy="850392"/>
          </a:xfrm>
          <a:prstGeom prst="ellipse">
            <a:avLst/>
          </a:prstGeom>
          <a:solidFill>
            <a:srgbClr val="BFDBFE"/>
          </a:solidFill>
          <a:ln w="12700">
            <a:solidFill>
              <a:srgbClr val="BFDBFE"/>
            </a:solidFill>
            <a:prstDash val="solid"/>
          </a:ln>
        </p:spPr>
      </p:sp>
      <p:sp>
        <p:nvSpPr>
          <p:cNvPr id="64" name="Shape 61"/>
          <p:cNvSpPr/>
          <p:nvPr/>
        </p:nvSpPr>
        <p:spPr>
          <a:xfrm>
            <a:off x="4418381" y="3234233"/>
            <a:ext cx="362102" cy="283464"/>
          </a:xfrm>
          <a:prstGeom prst="roundRect">
            <a:avLst>
              <a:gd name="adj" fmla="val 6452"/>
            </a:avLst>
          </a:prstGeom>
          <a:solidFill>
            <a:srgbClr val="FBCFE8"/>
          </a:solidFill>
          <a:ln w="12700">
            <a:solidFill>
              <a:srgbClr val="FBCFE8"/>
            </a:solidFill>
            <a:prstDash val="solid"/>
          </a:ln>
        </p:spPr>
      </p:sp>
      <p:sp>
        <p:nvSpPr>
          <p:cNvPr id="65" name="Shape 62"/>
          <p:cNvSpPr/>
          <p:nvPr/>
        </p:nvSpPr>
        <p:spPr>
          <a:xfrm>
            <a:off x="4855921" y="3234233"/>
            <a:ext cx="362102" cy="283464"/>
          </a:xfrm>
          <a:prstGeom prst="roundRect">
            <a:avLst>
              <a:gd name="adj" fmla="val 6452"/>
            </a:avLst>
          </a:prstGeom>
          <a:solidFill>
            <a:srgbClr val="BFDBFE"/>
          </a:solidFill>
          <a:ln w="12700">
            <a:solidFill>
              <a:srgbClr val="BFDBFE"/>
            </a:solidFill>
            <a:prstDash val="solid"/>
          </a:ln>
        </p:spPr>
      </p:sp>
      <p:sp>
        <p:nvSpPr>
          <p:cNvPr id="66" name="Shape 63"/>
          <p:cNvSpPr/>
          <p:nvPr/>
        </p:nvSpPr>
        <p:spPr>
          <a:xfrm>
            <a:off x="5293462" y="3234233"/>
            <a:ext cx="362102" cy="283464"/>
          </a:xfrm>
          <a:prstGeom prst="roundRect">
            <a:avLst>
              <a:gd name="adj" fmla="val 6452"/>
            </a:avLst>
          </a:prstGeom>
          <a:solidFill>
            <a:srgbClr val="DDD6FE"/>
          </a:solidFill>
          <a:ln w="12700">
            <a:solidFill>
              <a:srgbClr val="DDD6FE"/>
            </a:solidFill>
            <a:prstDash val="solid"/>
          </a:ln>
        </p:spPr>
      </p:sp>
      <p:sp>
        <p:nvSpPr>
          <p:cNvPr id="67" name="Text 64"/>
          <p:cNvSpPr txBox="1"/>
          <p:nvPr/>
        </p:nvSpPr>
        <p:spPr>
          <a:xfrm>
            <a:off x="5866790" y="1590142"/>
            <a:ext cx="1327709" cy="198425"/>
          </a:xfrm>
          <a:prstGeom prst="rect">
            <a:avLst/>
          </a:prstGeom>
          <a:noFill/>
          <a:ln/>
        </p:spPr>
        <p:txBody>
          <a:bodyPr wrap="square" lIns="0" tIns="0" rIns="0" bIns="0" rtlCol="0" anchor="t"/>
          <a:lstStyle/>
          <a:p>
            <a:pPr marL="0" indent="0">
              <a:buNone/>
            </a:pPr>
            <a:r>
              <a:rPr lang="en-US" sz="1050" b="1" dirty="0">
                <a:solidFill>
                  <a:srgbClr val="0B1F4B"/>
                </a:solidFill>
                <a:latin typeface="Georgia" pitchFamily="34" charset="0"/>
                <a:ea typeface="Georgia" pitchFamily="34" charset="-122"/>
                <a:cs typeface="Georgia" pitchFamily="34" charset="-120"/>
              </a:rPr>
              <a:t>Product name</a:t>
            </a:r>
            <a:endParaRPr lang="en-US" sz="1050" dirty="0"/>
          </a:p>
        </p:txBody>
      </p:sp>
      <p:sp>
        <p:nvSpPr>
          <p:cNvPr id="68" name="Text 65"/>
          <p:cNvSpPr txBox="1"/>
          <p:nvPr/>
        </p:nvSpPr>
        <p:spPr>
          <a:xfrm>
            <a:off x="5866790" y="1816913"/>
            <a:ext cx="1327709" cy="141732"/>
          </a:xfrm>
          <a:prstGeom prst="rect">
            <a:avLst/>
          </a:prstGeom>
          <a:noFill/>
          <a:ln/>
        </p:spPr>
        <p:txBody>
          <a:bodyPr wrap="square" lIns="0" tIns="0" rIns="0" bIns="0" rtlCol="0" anchor="t"/>
          <a:lstStyle/>
          <a:p>
            <a:pPr marL="0" indent="0">
              <a:buNone/>
            </a:pPr>
            <a:r>
              <a:rPr lang="en-US" sz="650" dirty="0">
                <a:solidFill>
                  <a:srgbClr val="6B7280"/>
                </a:solidFill>
              </a:rPr>
              <a:t>★★★★☆  Rating</a:t>
            </a:r>
            <a:endParaRPr lang="en-US" sz="650" dirty="0"/>
          </a:p>
        </p:txBody>
      </p:sp>
      <p:sp>
        <p:nvSpPr>
          <p:cNvPr id="69" name="Text 66"/>
          <p:cNvSpPr txBox="1"/>
          <p:nvPr/>
        </p:nvSpPr>
        <p:spPr>
          <a:xfrm>
            <a:off x="5866790" y="2015338"/>
            <a:ext cx="603504" cy="170078"/>
          </a:xfrm>
          <a:prstGeom prst="rect">
            <a:avLst/>
          </a:prstGeom>
          <a:noFill/>
          <a:ln/>
        </p:spPr>
        <p:txBody>
          <a:bodyPr wrap="square" lIns="0" tIns="0" rIns="0" bIns="0" rtlCol="0" anchor="t"/>
          <a:lstStyle/>
          <a:p>
            <a:pPr marL="0" indent="0">
              <a:buNone/>
            </a:pPr>
            <a:r>
              <a:rPr lang="en-US" sz="1050" b="1" dirty="0">
                <a:solidFill>
                  <a:srgbClr val="1F2937"/>
                </a:solidFill>
              </a:rPr>
              <a:t>₹ Price</a:t>
            </a:r>
            <a:endParaRPr lang="en-US" sz="1050" dirty="0"/>
          </a:p>
        </p:txBody>
      </p:sp>
      <p:sp>
        <p:nvSpPr>
          <p:cNvPr id="70" name="Text 67"/>
          <p:cNvSpPr txBox="1"/>
          <p:nvPr/>
        </p:nvSpPr>
        <p:spPr>
          <a:xfrm>
            <a:off x="5866790" y="2270455"/>
            <a:ext cx="603504" cy="113386"/>
          </a:xfrm>
          <a:prstGeom prst="rect">
            <a:avLst/>
          </a:prstGeom>
          <a:noFill/>
          <a:ln/>
        </p:spPr>
        <p:txBody>
          <a:bodyPr wrap="square" lIns="0" tIns="0" rIns="0" bIns="0" rtlCol="0" anchor="t"/>
          <a:lstStyle/>
          <a:p>
            <a:pPr marL="0" indent="0">
              <a:buNone/>
            </a:pPr>
            <a:r>
              <a:rPr lang="en-US" sz="650" dirty="0">
                <a:solidFill>
                  <a:srgbClr val="6B7280"/>
                </a:solidFill>
              </a:rPr>
              <a:t>Size</a:t>
            </a:r>
            <a:endParaRPr lang="en-US" sz="650" dirty="0"/>
          </a:p>
        </p:txBody>
      </p:sp>
      <p:sp>
        <p:nvSpPr>
          <p:cNvPr id="71" name="Shape 68"/>
          <p:cNvSpPr/>
          <p:nvPr/>
        </p:nvSpPr>
        <p:spPr>
          <a:xfrm>
            <a:off x="5866790" y="2412187"/>
            <a:ext cx="271577" cy="198425"/>
          </a:xfrm>
          <a:prstGeom prst="roundRect">
            <a:avLst>
              <a:gd name="adj" fmla="val 9217"/>
            </a:avLst>
          </a:prstGeom>
          <a:solidFill>
            <a:srgbClr val="FFFFFF"/>
          </a:solidFill>
          <a:ln w="9525">
            <a:solidFill>
              <a:srgbClr val="DDE3F0"/>
            </a:solidFill>
            <a:prstDash val="solid"/>
          </a:ln>
        </p:spPr>
      </p:sp>
      <p:sp>
        <p:nvSpPr>
          <p:cNvPr id="72" name="Text 69"/>
          <p:cNvSpPr txBox="1"/>
          <p:nvPr/>
        </p:nvSpPr>
        <p:spPr>
          <a:xfrm>
            <a:off x="5866790" y="2412187"/>
            <a:ext cx="271577" cy="198425"/>
          </a:xfrm>
          <a:prstGeom prst="rect">
            <a:avLst/>
          </a:prstGeom>
          <a:noFill/>
          <a:ln/>
        </p:spPr>
        <p:txBody>
          <a:bodyPr wrap="square" lIns="0" tIns="0" rIns="0" bIns="0" rtlCol="0" anchor="ctr"/>
          <a:lstStyle/>
          <a:p>
            <a:pPr marL="0" indent="0" algn="ctr">
              <a:buNone/>
            </a:pPr>
            <a:r>
              <a:rPr lang="en-US" sz="650" dirty="0">
                <a:solidFill>
                  <a:srgbClr val="1F2937"/>
                </a:solidFill>
              </a:rPr>
              <a:t>S</a:t>
            </a:r>
            <a:endParaRPr lang="en-US" sz="650" dirty="0"/>
          </a:p>
        </p:txBody>
      </p:sp>
      <p:sp>
        <p:nvSpPr>
          <p:cNvPr id="73" name="Shape 70"/>
          <p:cNvSpPr/>
          <p:nvPr/>
        </p:nvSpPr>
        <p:spPr>
          <a:xfrm>
            <a:off x="6198718" y="2412187"/>
            <a:ext cx="271577" cy="198425"/>
          </a:xfrm>
          <a:prstGeom prst="roundRect">
            <a:avLst>
              <a:gd name="adj" fmla="val 9217"/>
            </a:avLst>
          </a:prstGeom>
          <a:solidFill>
            <a:srgbClr val="E6ECFF"/>
          </a:solidFill>
          <a:ln w="9525">
            <a:solidFill>
              <a:srgbClr val="2F5BFF"/>
            </a:solidFill>
            <a:prstDash val="solid"/>
          </a:ln>
        </p:spPr>
      </p:sp>
      <p:sp>
        <p:nvSpPr>
          <p:cNvPr id="74" name="Text 71"/>
          <p:cNvSpPr txBox="1"/>
          <p:nvPr/>
        </p:nvSpPr>
        <p:spPr>
          <a:xfrm>
            <a:off x="6198718" y="2412187"/>
            <a:ext cx="271577" cy="198425"/>
          </a:xfrm>
          <a:prstGeom prst="rect">
            <a:avLst/>
          </a:prstGeom>
          <a:noFill/>
          <a:ln/>
        </p:spPr>
        <p:txBody>
          <a:bodyPr wrap="square" lIns="0" tIns="0" rIns="0" bIns="0" rtlCol="0" anchor="ctr"/>
          <a:lstStyle/>
          <a:p>
            <a:pPr marL="0" indent="0" algn="ctr">
              <a:buNone/>
            </a:pPr>
            <a:r>
              <a:rPr lang="en-US" sz="650" dirty="0">
                <a:solidFill>
                  <a:srgbClr val="2F5BFF"/>
                </a:solidFill>
              </a:rPr>
              <a:t>M</a:t>
            </a:r>
            <a:endParaRPr lang="en-US" sz="650" dirty="0"/>
          </a:p>
        </p:txBody>
      </p:sp>
      <p:sp>
        <p:nvSpPr>
          <p:cNvPr id="75" name="Shape 72"/>
          <p:cNvSpPr/>
          <p:nvPr/>
        </p:nvSpPr>
        <p:spPr>
          <a:xfrm>
            <a:off x="6530645" y="2412187"/>
            <a:ext cx="271577" cy="198425"/>
          </a:xfrm>
          <a:prstGeom prst="roundRect">
            <a:avLst>
              <a:gd name="adj" fmla="val 9217"/>
            </a:avLst>
          </a:prstGeom>
          <a:solidFill>
            <a:srgbClr val="FFFFFF"/>
          </a:solidFill>
          <a:ln w="9525">
            <a:solidFill>
              <a:srgbClr val="DDE3F0"/>
            </a:solidFill>
            <a:prstDash val="solid"/>
          </a:ln>
        </p:spPr>
      </p:sp>
      <p:sp>
        <p:nvSpPr>
          <p:cNvPr id="76" name="Text 73"/>
          <p:cNvSpPr txBox="1"/>
          <p:nvPr/>
        </p:nvSpPr>
        <p:spPr>
          <a:xfrm>
            <a:off x="6530645" y="2412187"/>
            <a:ext cx="271577" cy="198425"/>
          </a:xfrm>
          <a:prstGeom prst="rect">
            <a:avLst/>
          </a:prstGeom>
          <a:noFill/>
          <a:ln/>
        </p:spPr>
        <p:txBody>
          <a:bodyPr wrap="square" lIns="0" tIns="0" rIns="0" bIns="0" rtlCol="0" anchor="ctr"/>
          <a:lstStyle/>
          <a:p>
            <a:pPr marL="0" indent="0" algn="ctr">
              <a:buNone/>
            </a:pPr>
            <a:r>
              <a:rPr lang="en-US" sz="650" dirty="0">
                <a:solidFill>
                  <a:srgbClr val="1F2937"/>
                </a:solidFill>
              </a:rPr>
              <a:t>L</a:t>
            </a:r>
            <a:endParaRPr lang="en-US" sz="650" dirty="0"/>
          </a:p>
        </p:txBody>
      </p:sp>
      <p:sp>
        <p:nvSpPr>
          <p:cNvPr id="77" name="Shape 74"/>
          <p:cNvSpPr/>
          <p:nvPr/>
        </p:nvSpPr>
        <p:spPr>
          <a:xfrm>
            <a:off x="6862572" y="2412187"/>
            <a:ext cx="271577" cy="198425"/>
          </a:xfrm>
          <a:prstGeom prst="roundRect">
            <a:avLst>
              <a:gd name="adj" fmla="val 9217"/>
            </a:avLst>
          </a:prstGeom>
          <a:solidFill>
            <a:srgbClr val="FFFFFF"/>
          </a:solidFill>
          <a:ln w="9525">
            <a:solidFill>
              <a:srgbClr val="DDE3F0"/>
            </a:solidFill>
            <a:prstDash val="solid"/>
          </a:ln>
        </p:spPr>
      </p:sp>
      <p:sp>
        <p:nvSpPr>
          <p:cNvPr id="78" name="Text 75"/>
          <p:cNvSpPr txBox="1"/>
          <p:nvPr/>
        </p:nvSpPr>
        <p:spPr>
          <a:xfrm>
            <a:off x="6862572" y="2412187"/>
            <a:ext cx="271577" cy="198425"/>
          </a:xfrm>
          <a:prstGeom prst="rect">
            <a:avLst/>
          </a:prstGeom>
          <a:noFill/>
          <a:ln/>
        </p:spPr>
        <p:txBody>
          <a:bodyPr wrap="square" lIns="0" tIns="0" rIns="0" bIns="0" rtlCol="0" anchor="ctr"/>
          <a:lstStyle/>
          <a:p>
            <a:pPr marL="0" indent="0" algn="ctr">
              <a:buNone/>
            </a:pPr>
            <a:r>
              <a:rPr lang="en-US" sz="650" dirty="0">
                <a:solidFill>
                  <a:srgbClr val="1F2937"/>
                </a:solidFill>
              </a:rPr>
              <a:t>XL</a:t>
            </a:r>
            <a:endParaRPr lang="en-US" sz="650" dirty="0"/>
          </a:p>
        </p:txBody>
      </p:sp>
      <p:sp>
        <p:nvSpPr>
          <p:cNvPr id="79" name="Shape 76"/>
          <p:cNvSpPr/>
          <p:nvPr/>
        </p:nvSpPr>
        <p:spPr>
          <a:xfrm>
            <a:off x="5866790" y="2752344"/>
            <a:ext cx="1327709" cy="255118"/>
          </a:xfrm>
          <a:prstGeom prst="roundRect">
            <a:avLst>
              <a:gd name="adj" fmla="val 10753"/>
            </a:avLst>
          </a:prstGeom>
          <a:solidFill>
            <a:srgbClr val="2F5BFF"/>
          </a:solidFill>
          <a:ln w="12700">
            <a:solidFill>
              <a:srgbClr val="2F5BFF"/>
            </a:solidFill>
            <a:prstDash val="solid"/>
          </a:ln>
        </p:spPr>
      </p:sp>
      <p:sp>
        <p:nvSpPr>
          <p:cNvPr id="80" name="Text 77"/>
          <p:cNvSpPr txBox="1"/>
          <p:nvPr/>
        </p:nvSpPr>
        <p:spPr>
          <a:xfrm>
            <a:off x="5866790" y="2752344"/>
            <a:ext cx="1327709" cy="255118"/>
          </a:xfrm>
          <a:prstGeom prst="rect">
            <a:avLst/>
          </a:prstGeom>
          <a:noFill/>
          <a:ln/>
        </p:spPr>
        <p:txBody>
          <a:bodyPr wrap="square" lIns="0" tIns="0" rIns="0" bIns="0" rtlCol="0" anchor="ctr"/>
          <a:lstStyle/>
          <a:p>
            <a:pPr marL="0" indent="0" algn="ctr">
              <a:buNone/>
            </a:pPr>
            <a:r>
              <a:rPr lang="en-US" sz="750" b="1" dirty="0">
                <a:solidFill>
                  <a:srgbClr val="FFFFFF"/>
                </a:solidFill>
              </a:rPr>
              <a:t>Add to cart</a:t>
            </a:r>
            <a:endParaRPr lang="en-US" sz="750" dirty="0"/>
          </a:p>
        </p:txBody>
      </p:sp>
      <p:sp>
        <p:nvSpPr>
          <p:cNvPr id="81" name="Shape 78"/>
          <p:cNvSpPr/>
          <p:nvPr/>
        </p:nvSpPr>
        <p:spPr>
          <a:xfrm>
            <a:off x="5866790" y="3092501"/>
            <a:ext cx="1327709" cy="255118"/>
          </a:xfrm>
          <a:prstGeom prst="roundRect">
            <a:avLst>
              <a:gd name="adj" fmla="val 10753"/>
            </a:avLst>
          </a:prstGeom>
          <a:solidFill>
            <a:srgbClr val="FFFFFF"/>
          </a:solidFill>
          <a:ln w="9525">
            <a:solidFill>
              <a:srgbClr val="2F5BFF"/>
            </a:solidFill>
            <a:prstDash val="solid"/>
          </a:ln>
        </p:spPr>
      </p:sp>
      <p:sp>
        <p:nvSpPr>
          <p:cNvPr id="82" name="Text 79"/>
          <p:cNvSpPr txBox="1"/>
          <p:nvPr/>
        </p:nvSpPr>
        <p:spPr>
          <a:xfrm>
            <a:off x="5866790" y="3092501"/>
            <a:ext cx="1327709" cy="255118"/>
          </a:xfrm>
          <a:prstGeom prst="rect">
            <a:avLst/>
          </a:prstGeom>
          <a:noFill/>
          <a:ln/>
        </p:spPr>
        <p:txBody>
          <a:bodyPr wrap="square" lIns="0" tIns="0" rIns="0" bIns="0" rtlCol="0" anchor="ctr"/>
          <a:lstStyle/>
          <a:p>
            <a:pPr marL="0" indent="0" algn="ctr">
              <a:buNone/>
            </a:pPr>
            <a:r>
              <a:rPr lang="en-US" sz="750" b="1" dirty="0">
                <a:solidFill>
                  <a:srgbClr val="2F5BFF"/>
                </a:solidFill>
              </a:rPr>
              <a:t>Buy now</a:t>
            </a:r>
            <a:endParaRPr lang="en-US" sz="750" dirty="0"/>
          </a:p>
        </p:txBody>
      </p:sp>
      <p:sp>
        <p:nvSpPr>
          <p:cNvPr id="83" name="Text 80"/>
          <p:cNvSpPr txBox="1"/>
          <p:nvPr/>
        </p:nvSpPr>
        <p:spPr>
          <a:xfrm>
            <a:off x="5866790" y="3489350"/>
            <a:ext cx="482803" cy="141732"/>
          </a:xfrm>
          <a:prstGeom prst="rect">
            <a:avLst/>
          </a:prstGeom>
          <a:noFill/>
          <a:ln/>
        </p:spPr>
        <p:txBody>
          <a:bodyPr wrap="square" lIns="0" tIns="0" rIns="0" bIns="0" rtlCol="0" anchor="t"/>
          <a:lstStyle/>
          <a:p>
            <a:pPr marL="0" indent="0">
              <a:buNone/>
            </a:pPr>
            <a:r>
              <a:rPr lang="en-US" sz="550" b="1" dirty="0">
                <a:solidFill>
                  <a:srgbClr val="0B1F4B"/>
                </a:solidFill>
              </a:rPr>
              <a:t>Description</a:t>
            </a:r>
            <a:endParaRPr lang="en-US" sz="550" dirty="0"/>
          </a:p>
        </p:txBody>
      </p:sp>
      <p:sp>
        <p:nvSpPr>
          <p:cNvPr id="84" name="Text 81"/>
          <p:cNvSpPr txBox="1"/>
          <p:nvPr/>
        </p:nvSpPr>
        <p:spPr>
          <a:xfrm>
            <a:off x="6349594" y="3489350"/>
            <a:ext cx="482803" cy="141732"/>
          </a:xfrm>
          <a:prstGeom prst="rect">
            <a:avLst/>
          </a:prstGeom>
          <a:noFill/>
          <a:ln/>
        </p:spPr>
        <p:txBody>
          <a:bodyPr wrap="square" lIns="0" tIns="0" rIns="0" bIns="0" rtlCol="0" anchor="t"/>
          <a:lstStyle/>
          <a:p>
            <a:pPr marL="0" indent="0">
              <a:buNone/>
            </a:pPr>
            <a:r>
              <a:rPr lang="en-US" sz="550" dirty="0">
                <a:solidFill>
                  <a:srgbClr val="6B7280"/>
                </a:solidFill>
              </a:rPr>
              <a:t>Specifications</a:t>
            </a:r>
            <a:endParaRPr lang="en-US" sz="550" dirty="0"/>
          </a:p>
        </p:txBody>
      </p:sp>
      <p:sp>
        <p:nvSpPr>
          <p:cNvPr id="85" name="Text 82"/>
          <p:cNvSpPr txBox="1"/>
          <p:nvPr/>
        </p:nvSpPr>
        <p:spPr>
          <a:xfrm>
            <a:off x="6832397" y="3489350"/>
            <a:ext cx="482803" cy="141732"/>
          </a:xfrm>
          <a:prstGeom prst="rect">
            <a:avLst/>
          </a:prstGeom>
          <a:noFill/>
          <a:ln/>
        </p:spPr>
        <p:txBody>
          <a:bodyPr wrap="square" lIns="0" tIns="0" rIns="0" bIns="0" rtlCol="0" anchor="t"/>
          <a:lstStyle/>
          <a:p>
            <a:pPr marL="0" indent="0">
              <a:buNone/>
            </a:pPr>
            <a:r>
              <a:rPr lang="en-US" sz="550" dirty="0">
                <a:solidFill>
                  <a:srgbClr val="6B7280"/>
                </a:solidFill>
              </a:rPr>
              <a:t>Reviews</a:t>
            </a:r>
            <a:endParaRPr lang="en-US" sz="550" dirty="0"/>
          </a:p>
        </p:txBody>
      </p:sp>
      <p:sp>
        <p:nvSpPr>
          <p:cNvPr id="86" name="Shape 83"/>
          <p:cNvSpPr/>
          <p:nvPr/>
        </p:nvSpPr>
        <p:spPr>
          <a:xfrm>
            <a:off x="7452360" y="1051560"/>
            <a:ext cx="1280160" cy="2834640"/>
          </a:xfrm>
          <a:prstGeom prst="roundRect">
            <a:avLst>
              <a:gd name="adj" fmla="val 10000"/>
            </a:avLst>
          </a:prstGeom>
          <a:solidFill>
            <a:srgbClr val="FFFFFF"/>
          </a:solidFill>
          <a:ln w="9525">
            <a:solidFill>
              <a:srgbClr val="1E293B"/>
            </a:solidFill>
            <a:prstDash val="solid"/>
          </a:ln>
          <a:effectLst>
            <a:outerShdw blurRad="101600" dist="25400" dir="5400000" algn="bl" rotWithShape="0">
              <a:srgbClr val="000000">
                <a:alpha val="14000"/>
              </a:srgbClr>
            </a:outerShdw>
          </a:effectLst>
        </p:spPr>
      </p:sp>
      <p:sp>
        <p:nvSpPr>
          <p:cNvPr id="87" name="Shape 84"/>
          <p:cNvSpPr/>
          <p:nvPr/>
        </p:nvSpPr>
        <p:spPr>
          <a:xfrm>
            <a:off x="7938821" y="1085576"/>
            <a:ext cx="307238" cy="34016"/>
          </a:xfrm>
          <a:prstGeom prst="roundRect">
            <a:avLst>
              <a:gd name="adj" fmla="val 26881"/>
            </a:avLst>
          </a:prstGeom>
          <a:solidFill>
            <a:srgbClr val="1E293B"/>
          </a:solidFill>
          <a:ln w="12700">
            <a:solidFill>
              <a:srgbClr val="1E293B"/>
            </a:solidFill>
            <a:prstDash val="solid"/>
          </a:ln>
        </p:spPr>
      </p:sp>
      <p:sp>
        <p:nvSpPr>
          <p:cNvPr id="88" name="Shape 85"/>
          <p:cNvSpPr/>
          <p:nvPr/>
        </p:nvSpPr>
        <p:spPr>
          <a:xfrm>
            <a:off x="7529170" y="1193292"/>
            <a:ext cx="1126541" cy="198425"/>
          </a:xfrm>
          <a:prstGeom prst="roundRect">
            <a:avLst>
              <a:gd name="adj" fmla="val 13825"/>
            </a:avLst>
          </a:prstGeom>
          <a:solidFill>
            <a:srgbClr val="0B1F4B"/>
          </a:solidFill>
          <a:ln w="12700">
            <a:solidFill>
              <a:srgbClr val="0B1F4B"/>
            </a:solidFill>
            <a:prstDash val="solid"/>
          </a:ln>
        </p:spPr>
      </p:sp>
      <p:sp>
        <p:nvSpPr>
          <p:cNvPr id="89" name="Text 86"/>
          <p:cNvSpPr txBox="1"/>
          <p:nvPr/>
        </p:nvSpPr>
        <p:spPr>
          <a:xfrm>
            <a:off x="7580376" y="1193292"/>
            <a:ext cx="640080" cy="198425"/>
          </a:xfrm>
          <a:prstGeom prst="rect">
            <a:avLst/>
          </a:prstGeom>
          <a:noFill/>
          <a:ln/>
        </p:spPr>
        <p:txBody>
          <a:bodyPr wrap="square" lIns="0" tIns="0" rIns="0" bIns="0" rtlCol="0" anchor="ctr"/>
          <a:lstStyle/>
          <a:p>
            <a:pPr marL="0" indent="0">
              <a:buNone/>
            </a:pPr>
            <a:r>
              <a:rPr lang="en-US" sz="600" b="1" dirty="0">
                <a:solidFill>
                  <a:srgbClr val="FFFFFF"/>
                </a:solidFill>
              </a:rPr>
              <a:t>ShopEase</a:t>
            </a:r>
            <a:endParaRPr lang="en-US" sz="600" dirty="0"/>
          </a:p>
        </p:txBody>
      </p:sp>
      <p:sp>
        <p:nvSpPr>
          <p:cNvPr id="90" name="Shape 87"/>
          <p:cNvSpPr/>
          <p:nvPr/>
        </p:nvSpPr>
        <p:spPr>
          <a:xfrm>
            <a:off x="7529170" y="1448410"/>
            <a:ext cx="1126541" cy="566928"/>
          </a:xfrm>
          <a:prstGeom prst="roundRect">
            <a:avLst>
              <a:gd name="adj" fmla="val 8065"/>
            </a:avLst>
          </a:prstGeom>
          <a:solidFill>
            <a:srgbClr val="E6ECFF"/>
          </a:solidFill>
          <a:ln w="12700">
            <a:solidFill>
              <a:srgbClr val="E6ECFF"/>
            </a:solidFill>
            <a:prstDash val="solid"/>
          </a:ln>
        </p:spPr>
      </p:sp>
      <p:sp>
        <p:nvSpPr>
          <p:cNvPr id="91" name="Shape 88"/>
          <p:cNvSpPr/>
          <p:nvPr/>
        </p:nvSpPr>
        <p:spPr>
          <a:xfrm>
            <a:off x="8246059" y="1505102"/>
            <a:ext cx="340157" cy="340157"/>
          </a:xfrm>
          <a:prstGeom prst="ellipse">
            <a:avLst/>
          </a:prstGeom>
          <a:solidFill>
            <a:srgbClr val="2F5BFF">
              <a:alpha val="30000"/>
            </a:srgbClr>
          </a:solidFill>
          <a:ln w="12700">
            <a:solidFill>
              <a:srgbClr val="2F5BFF"/>
            </a:solidFill>
            <a:prstDash val="solid"/>
          </a:ln>
        </p:spPr>
      </p:sp>
      <p:sp>
        <p:nvSpPr>
          <p:cNvPr id="92" name="Text 89"/>
          <p:cNvSpPr txBox="1"/>
          <p:nvPr/>
        </p:nvSpPr>
        <p:spPr>
          <a:xfrm>
            <a:off x="7580376" y="1533449"/>
            <a:ext cx="640080" cy="283464"/>
          </a:xfrm>
          <a:prstGeom prst="rect">
            <a:avLst/>
          </a:prstGeom>
          <a:noFill/>
          <a:ln/>
        </p:spPr>
        <p:txBody>
          <a:bodyPr wrap="square" lIns="0" tIns="0" rIns="0" bIns="0" rtlCol="0" anchor="t"/>
          <a:lstStyle/>
          <a:p>
            <a:pPr marL="0" indent="0">
              <a:buNone/>
            </a:pPr>
            <a:r>
              <a:rPr lang="en-US" sz="600" b="1" dirty="0">
                <a:solidFill>
                  <a:srgbClr val="0B1F4B"/>
                </a:solidFill>
              </a:rPr>
              <a:t>Find what you need, faster</a:t>
            </a:r>
            <a:endParaRPr lang="en-US" sz="600" dirty="0"/>
          </a:p>
        </p:txBody>
      </p:sp>
      <p:sp>
        <p:nvSpPr>
          <p:cNvPr id="93" name="Shape 90"/>
          <p:cNvSpPr/>
          <p:nvPr/>
        </p:nvSpPr>
        <p:spPr>
          <a:xfrm>
            <a:off x="7529170" y="2100377"/>
            <a:ext cx="537667" cy="396850"/>
          </a:xfrm>
          <a:prstGeom prst="roundRect">
            <a:avLst>
              <a:gd name="adj" fmla="val 9217"/>
            </a:avLst>
          </a:prstGeom>
          <a:solidFill>
            <a:srgbClr val="C7D2FE"/>
          </a:solidFill>
          <a:ln w="12700">
            <a:solidFill>
              <a:srgbClr val="C7D2FE"/>
            </a:solidFill>
            <a:prstDash val="solid"/>
          </a:ln>
        </p:spPr>
      </p:sp>
      <p:sp>
        <p:nvSpPr>
          <p:cNvPr id="94" name="Text 91"/>
          <p:cNvSpPr txBox="1"/>
          <p:nvPr/>
        </p:nvSpPr>
        <p:spPr>
          <a:xfrm>
            <a:off x="7529170" y="2525573"/>
            <a:ext cx="537667" cy="113386"/>
          </a:xfrm>
          <a:prstGeom prst="rect">
            <a:avLst/>
          </a:prstGeom>
          <a:noFill/>
          <a:ln/>
        </p:spPr>
        <p:txBody>
          <a:bodyPr wrap="square" lIns="0" tIns="0" rIns="0" bIns="0" rtlCol="0" anchor="t"/>
          <a:lstStyle/>
          <a:p>
            <a:pPr marL="0" indent="0">
              <a:buNone/>
            </a:pPr>
            <a:r>
              <a:rPr lang="en-US" sz="450" dirty="0">
                <a:solidFill>
                  <a:srgbClr val="1F2937"/>
                </a:solidFill>
              </a:rPr>
              <a:t>Product · ₹ Price</a:t>
            </a:r>
            <a:endParaRPr lang="en-US" sz="450" dirty="0"/>
          </a:p>
        </p:txBody>
      </p:sp>
      <p:sp>
        <p:nvSpPr>
          <p:cNvPr id="95" name="Shape 92"/>
          <p:cNvSpPr/>
          <p:nvPr/>
        </p:nvSpPr>
        <p:spPr>
          <a:xfrm>
            <a:off x="8118043" y="2100377"/>
            <a:ext cx="537667" cy="396850"/>
          </a:xfrm>
          <a:prstGeom prst="roundRect">
            <a:avLst>
              <a:gd name="adj" fmla="val 9217"/>
            </a:avLst>
          </a:prstGeom>
          <a:solidFill>
            <a:srgbClr val="FBCFE8"/>
          </a:solidFill>
          <a:ln w="12700">
            <a:solidFill>
              <a:srgbClr val="FBCFE8"/>
            </a:solidFill>
            <a:prstDash val="solid"/>
          </a:ln>
        </p:spPr>
      </p:sp>
      <p:sp>
        <p:nvSpPr>
          <p:cNvPr id="96" name="Text 93"/>
          <p:cNvSpPr txBox="1"/>
          <p:nvPr/>
        </p:nvSpPr>
        <p:spPr>
          <a:xfrm>
            <a:off x="8118043" y="2525573"/>
            <a:ext cx="537667" cy="113386"/>
          </a:xfrm>
          <a:prstGeom prst="rect">
            <a:avLst/>
          </a:prstGeom>
          <a:noFill/>
          <a:ln/>
        </p:spPr>
        <p:txBody>
          <a:bodyPr wrap="square" lIns="0" tIns="0" rIns="0" bIns="0" rtlCol="0" anchor="t"/>
          <a:lstStyle/>
          <a:p>
            <a:pPr marL="0" indent="0">
              <a:buNone/>
            </a:pPr>
            <a:r>
              <a:rPr lang="en-US" sz="450" dirty="0">
                <a:solidFill>
                  <a:srgbClr val="1F2937"/>
                </a:solidFill>
              </a:rPr>
              <a:t>Product · ₹ Price</a:t>
            </a:r>
            <a:endParaRPr lang="en-US" sz="450" dirty="0"/>
          </a:p>
        </p:txBody>
      </p:sp>
      <p:sp>
        <p:nvSpPr>
          <p:cNvPr id="97" name="Shape 94"/>
          <p:cNvSpPr/>
          <p:nvPr/>
        </p:nvSpPr>
        <p:spPr>
          <a:xfrm>
            <a:off x="7529170" y="2752344"/>
            <a:ext cx="537667" cy="396850"/>
          </a:xfrm>
          <a:prstGeom prst="roundRect">
            <a:avLst>
              <a:gd name="adj" fmla="val 9217"/>
            </a:avLst>
          </a:prstGeom>
          <a:solidFill>
            <a:srgbClr val="BFDBFE"/>
          </a:solidFill>
          <a:ln w="12700">
            <a:solidFill>
              <a:srgbClr val="BFDBFE"/>
            </a:solidFill>
            <a:prstDash val="solid"/>
          </a:ln>
        </p:spPr>
      </p:sp>
      <p:sp>
        <p:nvSpPr>
          <p:cNvPr id="98" name="Text 95"/>
          <p:cNvSpPr txBox="1"/>
          <p:nvPr/>
        </p:nvSpPr>
        <p:spPr>
          <a:xfrm>
            <a:off x="7529170" y="3177540"/>
            <a:ext cx="537667" cy="113386"/>
          </a:xfrm>
          <a:prstGeom prst="rect">
            <a:avLst/>
          </a:prstGeom>
          <a:noFill/>
          <a:ln/>
        </p:spPr>
        <p:txBody>
          <a:bodyPr wrap="square" lIns="0" tIns="0" rIns="0" bIns="0" rtlCol="0" anchor="t"/>
          <a:lstStyle/>
          <a:p>
            <a:pPr marL="0" indent="0">
              <a:buNone/>
            </a:pPr>
            <a:r>
              <a:rPr lang="en-US" sz="450" dirty="0">
                <a:solidFill>
                  <a:srgbClr val="1F2937"/>
                </a:solidFill>
              </a:rPr>
              <a:t>Product · ₹ Price</a:t>
            </a:r>
            <a:endParaRPr lang="en-US" sz="450" dirty="0"/>
          </a:p>
        </p:txBody>
      </p:sp>
      <p:sp>
        <p:nvSpPr>
          <p:cNvPr id="99" name="Shape 96"/>
          <p:cNvSpPr/>
          <p:nvPr/>
        </p:nvSpPr>
        <p:spPr>
          <a:xfrm>
            <a:off x="8118043" y="2752344"/>
            <a:ext cx="537667" cy="396850"/>
          </a:xfrm>
          <a:prstGeom prst="roundRect">
            <a:avLst>
              <a:gd name="adj" fmla="val 9217"/>
            </a:avLst>
          </a:prstGeom>
          <a:solidFill>
            <a:srgbClr val="DDD6FE"/>
          </a:solidFill>
          <a:ln w="12700">
            <a:solidFill>
              <a:srgbClr val="DDD6FE"/>
            </a:solidFill>
            <a:prstDash val="solid"/>
          </a:ln>
        </p:spPr>
      </p:sp>
      <p:sp>
        <p:nvSpPr>
          <p:cNvPr id="100" name="Text 97"/>
          <p:cNvSpPr txBox="1"/>
          <p:nvPr/>
        </p:nvSpPr>
        <p:spPr>
          <a:xfrm>
            <a:off x="8118043" y="3177540"/>
            <a:ext cx="537667" cy="113386"/>
          </a:xfrm>
          <a:prstGeom prst="rect">
            <a:avLst/>
          </a:prstGeom>
          <a:noFill/>
          <a:ln/>
        </p:spPr>
        <p:txBody>
          <a:bodyPr wrap="square" lIns="0" tIns="0" rIns="0" bIns="0" rtlCol="0" anchor="t"/>
          <a:lstStyle/>
          <a:p>
            <a:pPr marL="0" indent="0">
              <a:buNone/>
            </a:pPr>
            <a:r>
              <a:rPr lang="en-US" sz="450" dirty="0">
                <a:solidFill>
                  <a:srgbClr val="1F2937"/>
                </a:solidFill>
              </a:rPr>
              <a:t>Product · ₹ Price</a:t>
            </a:r>
            <a:endParaRPr lang="en-US" sz="450" dirty="0"/>
          </a:p>
        </p:txBody>
      </p:sp>
      <p:sp>
        <p:nvSpPr>
          <p:cNvPr id="101" name="Shape 98"/>
          <p:cNvSpPr/>
          <p:nvPr/>
        </p:nvSpPr>
        <p:spPr>
          <a:xfrm>
            <a:off x="7529170" y="3489350"/>
            <a:ext cx="1126541" cy="226771"/>
          </a:xfrm>
          <a:prstGeom prst="roundRect">
            <a:avLst>
              <a:gd name="adj" fmla="val 16129"/>
            </a:avLst>
          </a:prstGeom>
          <a:solidFill>
            <a:srgbClr val="2F5BFF"/>
          </a:solidFill>
          <a:ln w="12700">
            <a:solidFill>
              <a:srgbClr val="2F5BFF"/>
            </a:solidFill>
            <a:prstDash val="solid"/>
          </a:ln>
        </p:spPr>
      </p:sp>
      <p:sp>
        <p:nvSpPr>
          <p:cNvPr id="102" name="Text 99"/>
          <p:cNvSpPr txBox="1"/>
          <p:nvPr/>
        </p:nvSpPr>
        <p:spPr>
          <a:xfrm>
            <a:off x="7529170" y="3489350"/>
            <a:ext cx="1126541" cy="226771"/>
          </a:xfrm>
          <a:prstGeom prst="rect">
            <a:avLst/>
          </a:prstGeom>
          <a:noFill/>
          <a:ln/>
        </p:spPr>
        <p:txBody>
          <a:bodyPr wrap="square" lIns="0" tIns="0" rIns="0" bIns="0" rtlCol="0" anchor="ctr"/>
          <a:lstStyle/>
          <a:p>
            <a:pPr marL="0" indent="0" algn="ctr">
              <a:buNone/>
            </a:pPr>
            <a:r>
              <a:rPr lang="en-US" sz="600" b="1" dirty="0">
                <a:solidFill>
                  <a:srgbClr val="FFFFFF"/>
                </a:solidFill>
              </a:rPr>
              <a:t>Add to cart</a:t>
            </a:r>
            <a:endParaRPr lang="en-US" sz="600" dirty="0"/>
          </a:p>
        </p:txBody>
      </p:sp>
      <p:sp>
        <p:nvSpPr>
          <p:cNvPr id="103" name="Shape 100"/>
          <p:cNvSpPr/>
          <p:nvPr/>
        </p:nvSpPr>
        <p:spPr>
          <a:xfrm>
            <a:off x="2743200" y="1097280"/>
            <a:ext cx="237744" cy="237744"/>
          </a:xfrm>
          <a:prstGeom prst="ellipse">
            <a:avLst/>
          </a:prstGeom>
          <a:solidFill>
            <a:srgbClr val="FFFFFF"/>
          </a:solidFill>
          <a:ln w="12700">
            <a:solidFill>
              <a:srgbClr val="FFFFFF"/>
            </a:solidFill>
            <a:prstDash val="solid"/>
          </a:ln>
        </p:spPr>
      </p:sp>
      <p:sp>
        <p:nvSpPr>
          <p:cNvPr id="104" name="Text 101"/>
          <p:cNvSpPr txBox="1"/>
          <p:nvPr/>
        </p:nvSpPr>
        <p:spPr>
          <a:xfrm>
            <a:off x="2743200" y="1097280"/>
            <a:ext cx="237744" cy="237744"/>
          </a:xfrm>
          <a:prstGeom prst="rect">
            <a:avLst/>
          </a:prstGeom>
          <a:noFill/>
          <a:ln/>
        </p:spPr>
        <p:txBody>
          <a:bodyPr wrap="square" lIns="0" tIns="0" rIns="0" bIns="0" rtlCol="0" anchor="ctr"/>
          <a:lstStyle/>
          <a:p>
            <a:pPr marL="0" indent="0" algn="ctr">
              <a:buNone/>
            </a:pPr>
            <a:r>
              <a:rPr lang="en-US" sz="1100" b="1" dirty="0">
                <a:solidFill>
                  <a:srgbClr val="0B1F4B"/>
                </a:solidFill>
              </a:rPr>
              <a:t>1</a:t>
            </a:r>
            <a:endParaRPr lang="en-US" sz="1100" dirty="0"/>
          </a:p>
        </p:txBody>
      </p:sp>
      <p:sp>
        <p:nvSpPr>
          <p:cNvPr id="105" name="Shape 102"/>
          <p:cNvSpPr/>
          <p:nvPr/>
        </p:nvSpPr>
        <p:spPr>
          <a:xfrm>
            <a:off x="411480" y="1737360"/>
            <a:ext cx="237744" cy="237744"/>
          </a:xfrm>
          <a:prstGeom prst="ellipse">
            <a:avLst/>
          </a:prstGeom>
          <a:solidFill>
            <a:srgbClr val="FFFFFF"/>
          </a:solidFill>
          <a:ln w="12700">
            <a:solidFill>
              <a:srgbClr val="FFFFFF"/>
            </a:solidFill>
            <a:prstDash val="solid"/>
          </a:ln>
        </p:spPr>
      </p:sp>
      <p:sp>
        <p:nvSpPr>
          <p:cNvPr id="106" name="Text 103"/>
          <p:cNvSpPr txBox="1"/>
          <p:nvPr/>
        </p:nvSpPr>
        <p:spPr>
          <a:xfrm>
            <a:off x="411480" y="1737360"/>
            <a:ext cx="237744" cy="237744"/>
          </a:xfrm>
          <a:prstGeom prst="rect">
            <a:avLst/>
          </a:prstGeom>
          <a:noFill/>
          <a:ln/>
        </p:spPr>
        <p:txBody>
          <a:bodyPr wrap="square" lIns="0" tIns="0" rIns="0" bIns="0" rtlCol="0" anchor="ctr"/>
          <a:lstStyle/>
          <a:p>
            <a:pPr marL="0" indent="0" algn="ctr">
              <a:buNone/>
            </a:pPr>
            <a:r>
              <a:rPr lang="en-US" sz="1100" b="1" dirty="0">
                <a:solidFill>
                  <a:srgbClr val="0B1F4B"/>
                </a:solidFill>
              </a:rPr>
              <a:t>2</a:t>
            </a:r>
            <a:endParaRPr lang="en-US" sz="1100" dirty="0"/>
          </a:p>
        </p:txBody>
      </p:sp>
      <p:sp>
        <p:nvSpPr>
          <p:cNvPr id="107" name="Shape 104"/>
          <p:cNvSpPr/>
          <p:nvPr/>
        </p:nvSpPr>
        <p:spPr>
          <a:xfrm>
            <a:off x="5989320" y="2743200"/>
            <a:ext cx="237744" cy="237744"/>
          </a:xfrm>
          <a:prstGeom prst="ellipse">
            <a:avLst/>
          </a:prstGeom>
          <a:solidFill>
            <a:srgbClr val="FFFFFF"/>
          </a:solidFill>
          <a:ln w="12700">
            <a:solidFill>
              <a:srgbClr val="FFFFFF"/>
            </a:solidFill>
            <a:prstDash val="solid"/>
          </a:ln>
        </p:spPr>
      </p:sp>
      <p:sp>
        <p:nvSpPr>
          <p:cNvPr id="108" name="Text 105"/>
          <p:cNvSpPr txBox="1"/>
          <p:nvPr/>
        </p:nvSpPr>
        <p:spPr>
          <a:xfrm>
            <a:off x="5989320" y="2743200"/>
            <a:ext cx="237744" cy="237744"/>
          </a:xfrm>
          <a:prstGeom prst="rect">
            <a:avLst/>
          </a:prstGeom>
          <a:noFill/>
          <a:ln/>
        </p:spPr>
        <p:txBody>
          <a:bodyPr wrap="square" lIns="0" tIns="0" rIns="0" bIns="0" rtlCol="0" anchor="ctr"/>
          <a:lstStyle/>
          <a:p>
            <a:pPr marL="0" indent="0" algn="ctr">
              <a:buNone/>
            </a:pPr>
            <a:r>
              <a:rPr lang="en-US" sz="1100" b="1" dirty="0">
                <a:solidFill>
                  <a:srgbClr val="0B1F4B"/>
                </a:solidFill>
              </a:rPr>
              <a:t>3</a:t>
            </a:r>
            <a:endParaRPr lang="en-US" sz="1100" dirty="0"/>
          </a:p>
        </p:txBody>
      </p:sp>
      <p:sp>
        <p:nvSpPr>
          <p:cNvPr id="109" name="Shape 106"/>
          <p:cNvSpPr/>
          <p:nvPr/>
        </p:nvSpPr>
        <p:spPr>
          <a:xfrm>
            <a:off x="8641080" y="3566160"/>
            <a:ext cx="237744" cy="237744"/>
          </a:xfrm>
          <a:prstGeom prst="ellipse">
            <a:avLst/>
          </a:prstGeom>
          <a:solidFill>
            <a:srgbClr val="FFFFFF"/>
          </a:solidFill>
          <a:ln w="12700">
            <a:solidFill>
              <a:srgbClr val="FFFFFF"/>
            </a:solidFill>
            <a:prstDash val="solid"/>
          </a:ln>
        </p:spPr>
      </p:sp>
      <p:sp>
        <p:nvSpPr>
          <p:cNvPr id="110" name="Text 107"/>
          <p:cNvSpPr txBox="1"/>
          <p:nvPr/>
        </p:nvSpPr>
        <p:spPr>
          <a:xfrm>
            <a:off x="8641080" y="3566160"/>
            <a:ext cx="237744" cy="237744"/>
          </a:xfrm>
          <a:prstGeom prst="rect">
            <a:avLst/>
          </a:prstGeom>
          <a:noFill/>
          <a:ln/>
        </p:spPr>
        <p:txBody>
          <a:bodyPr wrap="square" lIns="0" tIns="0" rIns="0" bIns="0" rtlCol="0" anchor="ctr"/>
          <a:lstStyle/>
          <a:p>
            <a:pPr marL="0" indent="0" algn="ctr">
              <a:buNone/>
            </a:pPr>
            <a:r>
              <a:rPr lang="en-US" sz="1100" b="1" dirty="0">
                <a:solidFill>
                  <a:srgbClr val="0B1F4B"/>
                </a:solidFill>
              </a:rPr>
              <a:t>4</a:t>
            </a:r>
            <a:endParaRPr lang="en-US" sz="1100" dirty="0"/>
          </a:p>
        </p:txBody>
      </p:sp>
      <p:sp>
        <p:nvSpPr>
          <p:cNvPr id="111" name="Shape 108"/>
          <p:cNvSpPr/>
          <p:nvPr/>
        </p:nvSpPr>
        <p:spPr>
          <a:xfrm>
            <a:off x="457200" y="4114800"/>
            <a:ext cx="237744" cy="237744"/>
          </a:xfrm>
          <a:prstGeom prst="ellipse">
            <a:avLst/>
          </a:prstGeom>
          <a:solidFill>
            <a:srgbClr val="FFFFFF"/>
          </a:solidFill>
          <a:ln w="12700">
            <a:solidFill>
              <a:srgbClr val="FFFFFF"/>
            </a:solidFill>
            <a:prstDash val="solid"/>
          </a:ln>
        </p:spPr>
      </p:sp>
      <p:sp>
        <p:nvSpPr>
          <p:cNvPr id="112" name="Text 109"/>
          <p:cNvSpPr txBox="1"/>
          <p:nvPr/>
        </p:nvSpPr>
        <p:spPr>
          <a:xfrm>
            <a:off x="457200" y="4114800"/>
            <a:ext cx="237744" cy="237744"/>
          </a:xfrm>
          <a:prstGeom prst="rect">
            <a:avLst/>
          </a:prstGeom>
          <a:noFill/>
          <a:ln/>
        </p:spPr>
        <p:txBody>
          <a:bodyPr wrap="square" lIns="0" tIns="0" rIns="0" bIns="0" rtlCol="0" anchor="ctr"/>
          <a:lstStyle/>
          <a:p>
            <a:pPr marL="0" indent="0" algn="ctr">
              <a:buNone/>
            </a:pPr>
            <a:r>
              <a:rPr lang="en-US" sz="1100" b="1" dirty="0">
                <a:solidFill>
                  <a:srgbClr val="0B1F4B"/>
                </a:solidFill>
              </a:rPr>
              <a:t>1</a:t>
            </a:r>
            <a:endParaRPr lang="en-US" sz="1100" dirty="0"/>
          </a:p>
        </p:txBody>
      </p:sp>
      <p:sp>
        <p:nvSpPr>
          <p:cNvPr id="113" name="Text 110"/>
          <p:cNvSpPr txBox="1"/>
          <p:nvPr/>
        </p:nvSpPr>
        <p:spPr>
          <a:xfrm>
            <a:off x="777240" y="4114800"/>
            <a:ext cx="1783080" cy="365760"/>
          </a:xfrm>
          <a:prstGeom prst="rect">
            <a:avLst/>
          </a:prstGeom>
          <a:noFill/>
          <a:ln/>
        </p:spPr>
        <p:txBody>
          <a:bodyPr wrap="square" lIns="0" tIns="0" rIns="0" bIns="0" rtlCol="0" anchor="ctr"/>
          <a:lstStyle/>
          <a:p>
            <a:pPr marL="0" indent="0">
              <a:buNone/>
            </a:pPr>
            <a:r>
              <a:rPr lang="en-US" sz="1150" dirty="0">
                <a:solidFill>
                  <a:srgbClr val="DCE4FA"/>
                </a:solidFill>
              </a:rPr>
              <a:t>Search always visible</a:t>
            </a:r>
            <a:endParaRPr lang="en-US" sz="1150" dirty="0"/>
          </a:p>
        </p:txBody>
      </p:sp>
      <p:sp>
        <p:nvSpPr>
          <p:cNvPr id="114" name="Shape 111"/>
          <p:cNvSpPr/>
          <p:nvPr/>
        </p:nvSpPr>
        <p:spPr>
          <a:xfrm>
            <a:off x="2606040" y="4114800"/>
            <a:ext cx="237744" cy="237744"/>
          </a:xfrm>
          <a:prstGeom prst="ellipse">
            <a:avLst/>
          </a:prstGeom>
          <a:solidFill>
            <a:srgbClr val="FFFFFF"/>
          </a:solidFill>
          <a:ln w="12700">
            <a:solidFill>
              <a:srgbClr val="FFFFFF"/>
            </a:solidFill>
            <a:prstDash val="solid"/>
          </a:ln>
        </p:spPr>
      </p:sp>
      <p:sp>
        <p:nvSpPr>
          <p:cNvPr id="115" name="Text 112"/>
          <p:cNvSpPr txBox="1"/>
          <p:nvPr/>
        </p:nvSpPr>
        <p:spPr>
          <a:xfrm>
            <a:off x="2606040" y="4114800"/>
            <a:ext cx="237744" cy="237744"/>
          </a:xfrm>
          <a:prstGeom prst="rect">
            <a:avLst/>
          </a:prstGeom>
          <a:noFill/>
          <a:ln/>
        </p:spPr>
        <p:txBody>
          <a:bodyPr wrap="square" lIns="0" tIns="0" rIns="0" bIns="0" rtlCol="0" anchor="ctr"/>
          <a:lstStyle/>
          <a:p>
            <a:pPr marL="0" indent="0" algn="ctr">
              <a:buNone/>
            </a:pPr>
            <a:r>
              <a:rPr lang="en-US" sz="1100" b="1" dirty="0">
                <a:solidFill>
                  <a:srgbClr val="0B1F4B"/>
                </a:solidFill>
              </a:rPr>
              <a:t>2</a:t>
            </a:r>
            <a:endParaRPr lang="en-US" sz="1100" dirty="0"/>
          </a:p>
        </p:txBody>
      </p:sp>
      <p:sp>
        <p:nvSpPr>
          <p:cNvPr id="116" name="Text 113"/>
          <p:cNvSpPr txBox="1"/>
          <p:nvPr/>
        </p:nvSpPr>
        <p:spPr>
          <a:xfrm>
            <a:off x="2926080" y="4114800"/>
            <a:ext cx="1783080" cy="365760"/>
          </a:xfrm>
          <a:prstGeom prst="rect">
            <a:avLst/>
          </a:prstGeom>
          <a:noFill/>
          <a:ln/>
        </p:spPr>
        <p:txBody>
          <a:bodyPr wrap="square" lIns="0" tIns="0" rIns="0" bIns="0" rtlCol="0" anchor="ctr"/>
          <a:lstStyle/>
          <a:p>
            <a:pPr marL="0" indent="0">
              <a:buNone/>
            </a:pPr>
            <a:r>
              <a:rPr lang="en-US" sz="1150" dirty="0">
                <a:solidFill>
                  <a:srgbClr val="DCE4FA"/>
                </a:solidFill>
              </a:rPr>
              <a:t>One clear primary call to action</a:t>
            </a:r>
            <a:endParaRPr lang="en-US" sz="1150" dirty="0"/>
          </a:p>
        </p:txBody>
      </p:sp>
      <p:sp>
        <p:nvSpPr>
          <p:cNvPr id="117" name="Shape 114"/>
          <p:cNvSpPr/>
          <p:nvPr/>
        </p:nvSpPr>
        <p:spPr>
          <a:xfrm>
            <a:off x="4754880" y="4114800"/>
            <a:ext cx="237744" cy="237744"/>
          </a:xfrm>
          <a:prstGeom prst="ellipse">
            <a:avLst/>
          </a:prstGeom>
          <a:solidFill>
            <a:srgbClr val="FFFFFF"/>
          </a:solidFill>
          <a:ln w="12700">
            <a:solidFill>
              <a:srgbClr val="FFFFFF"/>
            </a:solidFill>
            <a:prstDash val="solid"/>
          </a:ln>
        </p:spPr>
      </p:sp>
      <p:sp>
        <p:nvSpPr>
          <p:cNvPr id="118" name="Text 115"/>
          <p:cNvSpPr txBox="1"/>
          <p:nvPr/>
        </p:nvSpPr>
        <p:spPr>
          <a:xfrm>
            <a:off x="4754880" y="4114800"/>
            <a:ext cx="237744" cy="237744"/>
          </a:xfrm>
          <a:prstGeom prst="rect">
            <a:avLst/>
          </a:prstGeom>
          <a:noFill/>
          <a:ln/>
        </p:spPr>
        <p:txBody>
          <a:bodyPr wrap="square" lIns="0" tIns="0" rIns="0" bIns="0" rtlCol="0" anchor="ctr"/>
          <a:lstStyle/>
          <a:p>
            <a:pPr marL="0" indent="0" algn="ctr">
              <a:buNone/>
            </a:pPr>
            <a:r>
              <a:rPr lang="en-US" sz="1100" b="1" dirty="0">
                <a:solidFill>
                  <a:srgbClr val="0B1F4B"/>
                </a:solidFill>
              </a:rPr>
              <a:t>3</a:t>
            </a:r>
            <a:endParaRPr lang="en-US" sz="1100" dirty="0"/>
          </a:p>
        </p:txBody>
      </p:sp>
      <p:sp>
        <p:nvSpPr>
          <p:cNvPr id="119" name="Text 116"/>
          <p:cNvSpPr txBox="1"/>
          <p:nvPr/>
        </p:nvSpPr>
        <p:spPr>
          <a:xfrm>
            <a:off x="5074920" y="4114800"/>
            <a:ext cx="1783080" cy="365760"/>
          </a:xfrm>
          <a:prstGeom prst="rect">
            <a:avLst/>
          </a:prstGeom>
          <a:noFill/>
          <a:ln/>
        </p:spPr>
        <p:txBody>
          <a:bodyPr wrap="square" lIns="0" tIns="0" rIns="0" bIns="0" rtlCol="0" anchor="ctr"/>
          <a:lstStyle/>
          <a:p>
            <a:pPr marL="0" indent="0">
              <a:buNone/>
            </a:pPr>
            <a:r>
              <a:rPr lang="en-US" sz="1150" dirty="0">
                <a:solidFill>
                  <a:srgbClr val="DCE4FA"/>
                </a:solidFill>
              </a:rPr>
              <a:t>Strongest colour on “Add to cart”</a:t>
            </a:r>
            <a:endParaRPr lang="en-US" sz="1150" dirty="0"/>
          </a:p>
        </p:txBody>
      </p:sp>
      <p:sp>
        <p:nvSpPr>
          <p:cNvPr id="120" name="Shape 117"/>
          <p:cNvSpPr/>
          <p:nvPr/>
        </p:nvSpPr>
        <p:spPr>
          <a:xfrm>
            <a:off x="6903720" y="4114800"/>
            <a:ext cx="237744" cy="237744"/>
          </a:xfrm>
          <a:prstGeom prst="ellipse">
            <a:avLst/>
          </a:prstGeom>
          <a:solidFill>
            <a:srgbClr val="FFFFFF"/>
          </a:solidFill>
          <a:ln w="12700">
            <a:solidFill>
              <a:srgbClr val="FFFFFF"/>
            </a:solidFill>
            <a:prstDash val="solid"/>
          </a:ln>
        </p:spPr>
      </p:sp>
      <p:sp>
        <p:nvSpPr>
          <p:cNvPr id="121" name="Text 118"/>
          <p:cNvSpPr txBox="1"/>
          <p:nvPr/>
        </p:nvSpPr>
        <p:spPr>
          <a:xfrm>
            <a:off x="6903720" y="4114800"/>
            <a:ext cx="237744" cy="237744"/>
          </a:xfrm>
          <a:prstGeom prst="rect">
            <a:avLst/>
          </a:prstGeom>
          <a:noFill/>
          <a:ln/>
        </p:spPr>
        <p:txBody>
          <a:bodyPr wrap="square" lIns="0" tIns="0" rIns="0" bIns="0" rtlCol="0" anchor="ctr"/>
          <a:lstStyle/>
          <a:p>
            <a:pPr marL="0" indent="0" algn="ctr">
              <a:buNone/>
            </a:pPr>
            <a:r>
              <a:rPr lang="en-US" sz="1100" b="1" dirty="0">
                <a:solidFill>
                  <a:srgbClr val="0B1F4B"/>
                </a:solidFill>
              </a:rPr>
              <a:t>4</a:t>
            </a:r>
            <a:endParaRPr lang="en-US" sz="1100" dirty="0"/>
          </a:p>
        </p:txBody>
      </p:sp>
      <p:sp>
        <p:nvSpPr>
          <p:cNvPr id="122" name="Text 119"/>
          <p:cNvSpPr txBox="1"/>
          <p:nvPr/>
        </p:nvSpPr>
        <p:spPr>
          <a:xfrm>
            <a:off x="7223760" y="4114800"/>
            <a:ext cx="1783080" cy="365760"/>
          </a:xfrm>
          <a:prstGeom prst="rect">
            <a:avLst/>
          </a:prstGeom>
          <a:noFill/>
          <a:ln/>
        </p:spPr>
        <p:txBody>
          <a:bodyPr wrap="square" lIns="0" tIns="0" rIns="0" bIns="0" rtlCol="0" anchor="ctr"/>
          <a:lstStyle/>
          <a:p>
            <a:pPr marL="0" indent="0">
              <a:buNone/>
            </a:pPr>
            <a:r>
              <a:rPr lang="en-US" sz="1150" dirty="0">
                <a:solidFill>
                  <a:srgbClr val="DCE4FA"/>
                </a:solidFill>
              </a:rPr>
              <a:t>Fixed action bar on mobile</a:t>
            </a:r>
            <a:endParaRPr lang="en-US" sz="1150" dirty="0"/>
          </a:p>
        </p:txBody>
      </p:sp>
      <p:sp>
        <p:nvSpPr>
          <p:cNvPr id="123" name="Text 120"/>
          <p:cNvSpPr txBox="1"/>
          <p:nvPr/>
        </p:nvSpPr>
        <p:spPr>
          <a:xfrm>
            <a:off x="457200" y="4617720"/>
            <a:ext cx="4572000" cy="274320"/>
          </a:xfrm>
          <a:prstGeom prst="rect">
            <a:avLst/>
          </a:prstGeom>
          <a:noFill/>
          <a:ln/>
        </p:spPr>
        <p:txBody>
          <a:bodyPr wrap="square" lIns="0" tIns="0" rIns="0" bIns="0" rtlCol="0" anchor="t"/>
          <a:lstStyle/>
          <a:p>
            <a:pPr marL="0" indent="0">
              <a:buNone/>
            </a:pPr>
            <a:r>
              <a:rPr lang="en-US" sz="1050" dirty="0">
                <a:solidFill>
                  <a:srgbClr val="8FA3DC"/>
                </a:solidFill>
              </a:rPr>
              <a:t>Home  ·  Product detail  ·  Mobile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08 · PROTOTYPE</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Prototype and Usability Considerations</a:t>
            </a:r>
            <a:endParaRPr lang="en-US" sz="2500" dirty="0"/>
          </a:p>
        </p:txBody>
      </p:sp>
      <p:sp>
        <p:nvSpPr>
          <p:cNvPr id="5" name="Text 2"/>
          <p:cNvSpPr txBox="1"/>
          <p:nvPr/>
        </p:nvSpPr>
        <p:spPr>
          <a:xfrm>
            <a:off x="457200" y="1097280"/>
            <a:ext cx="3657600" cy="256032"/>
          </a:xfrm>
          <a:prstGeom prst="rect">
            <a:avLst/>
          </a:prstGeom>
          <a:noFill/>
          <a:ln/>
        </p:spPr>
        <p:txBody>
          <a:bodyPr wrap="square" lIns="0" tIns="0" rIns="0" bIns="0" rtlCol="0" anchor="t"/>
          <a:lstStyle/>
          <a:p>
            <a:pPr marL="0" indent="0">
              <a:buNone/>
            </a:pPr>
            <a:r>
              <a:rPr lang="en-US" sz="1300" b="1" dirty="0">
                <a:solidFill>
                  <a:srgbClr val="0B1F4B"/>
                </a:solidFill>
              </a:rPr>
              <a:t>Planned interactions</a:t>
            </a:r>
            <a:endParaRPr lang="en-US" sz="1300" dirty="0"/>
          </a:p>
        </p:txBody>
      </p:sp>
      <p:sp>
        <p:nvSpPr>
          <p:cNvPr id="6" name="Shape 3"/>
          <p:cNvSpPr/>
          <p:nvPr/>
        </p:nvSpPr>
        <p:spPr>
          <a:xfrm>
            <a:off x="6309360" y="1069848"/>
            <a:ext cx="2377440" cy="256032"/>
          </a:xfrm>
          <a:prstGeom prst="roundRect">
            <a:avLst>
              <a:gd name="adj" fmla="val 50000"/>
            </a:avLst>
          </a:prstGeom>
          <a:solidFill>
            <a:srgbClr val="E6ECFF"/>
          </a:solidFill>
          <a:ln w="12700">
            <a:solidFill>
              <a:srgbClr val="E6ECFF"/>
            </a:solidFill>
            <a:prstDash val="solid"/>
          </a:ln>
        </p:spPr>
      </p:sp>
      <p:sp>
        <p:nvSpPr>
          <p:cNvPr id="7" name="Text 4"/>
          <p:cNvSpPr txBox="1"/>
          <p:nvPr/>
        </p:nvSpPr>
        <p:spPr>
          <a:xfrm>
            <a:off x="6309360" y="1069848"/>
            <a:ext cx="2377440" cy="256032"/>
          </a:xfrm>
          <a:prstGeom prst="rect">
            <a:avLst/>
          </a:prstGeom>
          <a:noFill/>
          <a:ln/>
        </p:spPr>
        <p:txBody>
          <a:bodyPr wrap="square" lIns="0" tIns="0" rIns="0" bIns="0" rtlCol="0" anchor="ctr"/>
          <a:lstStyle/>
          <a:p>
            <a:pPr marL="0" indent="0" algn="ctr">
              <a:buNone/>
            </a:pPr>
            <a:r>
              <a:rPr lang="en-US" sz="1050" b="1" dirty="0">
                <a:solidFill>
                  <a:srgbClr val="2F5BFF"/>
                </a:solidFill>
              </a:rPr>
              <a:t>Proposed, no working prototype</a:t>
            </a:r>
            <a:endParaRPr lang="en-US" sz="1050" dirty="0"/>
          </a:p>
        </p:txBody>
      </p:sp>
      <p:sp>
        <p:nvSpPr>
          <p:cNvPr id="8" name="Shape 5"/>
          <p:cNvSpPr/>
          <p:nvPr/>
        </p:nvSpPr>
        <p:spPr>
          <a:xfrm>
            <a:off x="457200" y="1417320"/>
            <a:ext cx="1280160" cy="1417320"/>
          </a:xfrm>
          <a:prstGeom prst="roundRect">
            <a:avLst>
              <a:gd name="adj" fmla="val 5000"/>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9" name="Shape 6"/>
          <p:cNvSpPr/>
          <p:nvPr/>
        </p:nvSpPr>
        <p:spPr>
          <a:xfrm>
            <a:off x="868680" y="1508760"/>
            <a:ext cx="457200" cy="457200"/>
          </a:xfrm>
          <a:prstGeom prst="roundRect">
            <a:avLst>
              <a:gd name="adj" fmla="val 22000"/>
            </a:avLst>
          </a:prstGeom>
          <a:solidFill>
            <a:srgbClr val="2F5BFF"/>
          </a:solidFill>
          <a:ln w="12700">
            <a:solidFill>
              <a:srgbClr val="2F5BFF"/>
            </a:solidFill>
            <a:prstDash val="solid"/>
          </a:ln>
        </p:spPr>
      </p:sp>
      <p:pic>
        <p:nvPicPr>
          <p:cNvPr id="10" name="Image 0" descr="preencoded.png"/>
          <p:cNvPicPr>
            <a:picLocks noChangeAspect="1"/>
          </p:cNvPicPr>
          <p:nvPr/>
        </p:nvPicPr>
        <p:blipFill>
          <a:blip r:embed="rId3"/>
          <a:stretch>
            <a:fillRect/>
          </a:stretch>
        </p:blipFill>
        <p:spPr>
          <a:xfrm>
            <a:off x="978408" y="1618488"/>
            <a:ext cx="237744" cy="237744"/>
          </a:xfrm>
          <a:prstGeom prst="rect">
            <a:avLst/>
          </a:prstGeom>
        </p:spPr>
      </p:pic>
      <p:sp>
        <p:nvSpPr>
          <p:cNvPr id="11" name="Text 7"/>
          <p:cNvSpPr txBox="1"/>
          <p:nvPr/>
        </p:nvSpPr>
        <p:spPr>
          <a:xfrm>
            <a:off x="457200" y="2029968"/>
            <a:ext cx="1280160" cy="274320"/>
          </a:xfrm>
          <a:prstGeom prst="rect">
            <a:avLst/>
          </a:prstGeom>
          <a:noFill/>
          <a:ln/>
        </p:spPr>
        <p:txBody>
          <a:bodyPr wrap="square" lIns="0" tIns="0" rIns="0" bIns="0" rtlCol="0" anchor="t"/>
          <a:lstStyle/>
          <a:p>
            <a:pPr marL="0" indent="0" algn="ctr">
              <a:buNone/>
            </a:pPr>
            <a:r>
              <a:rPr lang="en-US" sz="1150" b="1" dirty="0">
                <a:solidFill>
                  <a:srgbClr val="0B1F4B"/>
                </a:solidFill>
              </a:rPr>
              <a:t>Select category</a:t>
            </a:r>
            <a:endParaRPr lang="en-US" sz="1150" dirty="0"/>
          </a:p>
        </p:txBody>
      </p:sp>
      <p:sp>
        <p:nvSpPr>
          <p:cNvPr id="12" name="Text 8"/>
          <p:cNvSpPr txBox="1"/>
          <p:nvPr/>
        </p:nvSpPr>
        <p:spPr>
          <a:xfrm>
            <a:off x="530352" y="2331720"/>
            <a:ext cx="1133856" cy="457200"/>
          </a:xfrm>
          <a:prstGeom prst="rect">
            <a:avLst/>
          </a:prstGeom>
          <a:noFill/>
          <a:ln/>
        </p:spPr>
        <p:txBody>
          <a:bodyPr wrap="square" lIns="0" tIns="0" rIns="0" bIns="0" rtlCol="0" anchor="t"/>
          <a:lstStyle/>
          <a:p>
            <a:pPr marL="0" indent="0" algn="ctr">
              <a:buNone/>
            </a:pPr>
            <a:r>
              <a:rPr lang="en-US" sz="1050" dirty="0">
                <a:solidFill>
                  <a:srgbClr val="6B7280"/>
                </a:solidFill>
              </a:rPr>
              <a:t>Open listing</a:t>
            </a:r>
            <a:endParaRPr lang="en-US" sz="1050" dirty="0"/>
          </a:p>
        </p:txBody>
      </p:sp>
      <p:sp>
        <p:nvSpPr>
          <p:cNvPr id="13" name="Shape 9"/>
          <p:cNvSpPr/>
          <p:nvPr/>
        </p:nvSpPr>
        <p:spPr>
          <a:xfrm>
            <a:off x="1828800" y="1417320"/>
            <a:ext cx="1280160" cy="1417320"/>
          </a:xfrm>
          <a:prstGeom prst="roundRect">
            <a:avLst>
              <a:gd name="adj" fmla="val 5000"/>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4" name="Shape 10"/>
          <p:cNvSpPr/>
          <p:nvPr/>
        </p:nvSpPr>
        <p:spPr>
          <a:xfrm>
            <a:off x="2240280" y="1508760"/>
            <a:ext cx="457200" cy="457200"/>
          </a:xfrm>
          <a:prstGeom prst="roundRect">
            <a:avLst>
              <a:gd name="adj" fmla="val 22000"/>
            </a:avLst>
          </a:prstGeom>
          <a:solidFill>
            <a:srgbClr val="2F5BFF"/>
          </a:solidFill>
          <a:ln w="12700">
            <a:solidFill>
              <a:srgbClr val="2F5BFF"/>
            </a:solidFill>
            <a:prstDash val="solid"/>
          </a:ln>
        </p:spPr>
      </p:sp>
      <p:pic>
        <p:nvPicPr>
          <p:cNvPr id="15" name="Image 1" descr="preencoded.png"/>
          <p:cNvPicPr>
            <a:picLocks noChangeAspect="1"/>
          </p:cNvPicPr>
          <p:nvPr/>
        </p:nvPicPr>
        <p:blipFill>
          <a:blip r:embed="rId4"/>
          <a:stretch>
            <a:fillRect/>
          </a:stretch>
        </p:blipFill>
        <p:spPr>
          <a:xfrm>
            <a:off x="2350008" y="1618488"/>
            <a:ext cx="237744" cy="237744"/>
          </a:xfrm>
          <a:prstGeom prst="rect">
            <a:avLst/>
          </a:prstGeom>
        </p:spPr>
      </p:pic>
      <p:sp>
        <p:nvSpPr>
          <p:cNvPr id="16" name="Text 11"/>
          <p:cNvSpPr txBox="1"/>
          <p:nvPr/>
        </p:nvSpPr>
        <p:spPr>
          <a:xfrm>
            <a:off x="1828800" y="2029968"/>
            <a:ext cx="1280160" cy="274320"/>
          </a:xfrm>
          <a:prstGeom prst="rect">
            <a:avLst/>
          </a:prstGeom>
          <a:noFill/>
          <a:ln/>
        </p:spPr>
        <p:txBody>
          <a:bodyPr wrap="square" lIns="0" tIns="0" rIns="0" bIns="0" rtlCol="0" anchor="t"/>
          <a:lstStyle/>
          <a:p>
            <a:pPr marL="0" indent="0" algn="ctr">
              <a:buNone/>
            </a:pPr>
            <a:r>
              <a:rPr lang="en-US" sz="1150" b="1" dirty="0">
                <a:solidFill>
                  <a:srgbClr val="0B1F4B"/>
                </a:solidFill>
              </a:rPr>
              <a:t>Choose product</a:t>
            </a:r>
            <a:endParaRPr lang="en-US" sz="1150" dirty="0"/>
          </a:p>
        </p:txBody>
      </p:sp>
      <p:sp>
        <p:nvSpPr>
          <p:cNvPr id="17" name="Text 12"/>
          <p:cNvSpPr txBox="1"/>
          <p:nvPr/>
        </p:nvSpPr>
        <p:spPr>
          <a:xfrm>
            <a:off x="1901952" y="2331720"/>
            <a:ext cx="1133856" cy="457200"/>
          </a:xfrm>
          <a:prstGeom prst="rect">
            <a:avLst/>
          </a:prstGeom>
          <a:noFill/>
          <a:ln/>
        </p:spPr>
        <p:txBody>
          <a:bodyPr wrap="square" lIns="0" tIns="0" rIns="0" bIns="0" rtlCol="0" anchor="t"/>
          <a:lstStyle/>
          <a:p>
            <a:pPr marL="0" indent="0" algn="ctr">
              <a:buNone/>
            </a:pPr>
            <a:r>
              <a:rPr lang="en-US" sz="1050" dirty="0">
                <a:solidFill>
                  <a:srgbClr val="6B7280"/>
                </a:solidFill>
              </a:rPr>
              <a:t>Open detail</a:t>
            </a:r>
            <a:endParaRPr lang="en-US" sz="1050" dirty="0"/>
          </a:p>
        </p:txBody>
      </p:sp>
      <p:sp>
        <p:nvSpPr>
          <p:cNvPr id="18" name="Shape 13"/>
          <p:cNvSpPr/>
          <p:nvPr/>
        </p:nvSpPr>
        <p:spPr>
          <a:xfrm>
            <a:off x="3200400" y="1417320"/>
            <a:ext cx="1280160" cy="1417320"/>
          </a:xfrm>
          <a:prstGeom prst="roundRect">
            <a:avLst>
              <a:gd name="adj" fmla="val 5000"/>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9" name="Shape 14"/>
          <p:cNvSpPr/>
          <p:nvPr/>
        </p:nvSpPr>
        <p:spPr>
          <a:xfrm>
            <a:off x="3611880" y="1508760"/>
            <a:ext cx="457200" cy="457200"/>
          </a:xfrm>
          <a:prstGeom prst="roundRect">
            <a:avLst>
              <a:gd name="adj" fmla="val 22000"/>
            </a:avLst>
          </a:prstGeom>
          <a:solidFill>
            <a:srgbClr val="2F5BFF"/>
          </a:solidFill>
          <a:ln w="12700">
            <a:solidFill>
              <a:srgbClr val="2F5BFF"/>
            </a:solidFill>
            <a:prstDash val="solid"/>
          </a:ln>
        </p:spPr>
      </p:sp>
      <p:pic>
        <p:nvPicPr>
          <p:cNvPr id="20" name="Image 2" descr="preencoded.png"/>
          <p:cNvPicPr>
            <a:picLocks noChangeAspect="1"/>
          </p:cNvPicPr>
          <p:nvPr/>
        </p:nvPicPr>
        <p:blipFill>
          <a:blip r:embed="rId5"/>
          <a:stretch>
            <a:fillRect/>
          </a:stretch>
        </p:blipFill>
        <p:spPr>
          <a:xfrm>
            <a:off x="3721608" y="1618488"/>
            <a:ext cx="237744" cy="237744"/>
          </a:xfrm>
          <a:prstGeom prst="rect">
            <a:avLst/>
          </a:prstGeom>
        </p:spPr>
      </p:pic>
      <p:sp>
        <p:nvSpPr>
          <p:cNvPr id="21" name="Text 15"/>
          <p:cNvSpPr txBox="1"/>
          <p:nvPr/>
        </p:nvSpPr>
        <p:spPr>
          <a:xfrm>
            <a:off x="3200400" y="2029968"/>
            <a:ext cx="1280160" cy="274320"/>
          </a:xfrm>
          <a:prstGeom prst="rect">
            <a:avLst/>
          </a:prstGeom>
          <a:noFill/>
          <a:ln/>
        </p:spPr>
        <p:txBody>
          <a:bodyPr wrap="square" lIns="0" tIns="0" rIns="0" bIns="0" rtlCol="0" anchor="t"/>
          <a:lstStyle/>
          <a:p>
            <a:pPr marL="0" indent="0" algn="ctr">
              <a:buNone/>
            </a:pPr>
            <a:r>
              <a:rPr lang="en-US" sz="1150" b="1" dirty="0">
                <a:solidFill>
                  <a:srgbClr val="0B1F4B"/>
                </a:solidFill>
              </a:rPr>
              <a:t>Add to cart</a:t>
            </a:r>
            <a:endParaRPr lang="en-US" sz="1150" dirty="0"/>
          </a:p>
        </p:txBody>
      </p:sp>
      <p:sp>
        <p:nvSpPr>
          <p:cNvPr id="22" name="Text 16"/>
          <p:cNvSpPr txBox="1"/>
          <p:nvPr/>
        </p:nvSpPr>
        <p:spPr>
          <a:xfrm>
            <a:off x="3273552" y="2331720"/>
            <a:ext cx="1133856" cy="457200"/>
          </a:xfrm>
          <a:prstGeom prst="rect">
            <a:avLst/>
          </a:prstGeom>
          <a:noFill/>
          <a:ln/>
        </p:spPr>
        <p:txBody>
          <a:bodyPr wrap="square" lIns="0" tIns="0" rIns="0" bIns="0" rtlCol="0" anchor="t"/>
          <a:lstStyle/>
          <a:p>
            <a:pPr marL="0" indent="0" algn="ctr">
              <a:buNone/>
            </a:pPr>
            <a:r>
              <a:rPr lang="en-US" sz="1050" dirty="0">
                <a:solidFill>
                  <a:srgbClr val="6B7280"/>
                </a:solidFill>
              </a:rPr>
              <a:t>Show count + message</a:t>
            </a:r>
            <a:endParaRPr lang="en-US" sz="1050" dirty="0"/>
          </a:p>
        </p:txBody>
      </p:sp>
      <p:sp>
        <p:nvSpPr>
          <p:cNvPr id="23" name="Shape 17"/>
          <p:cNvSpPr/>
          <p:nvPr/>
        </p:nvSpPr>
        <p:spPr>
          <a:xfrm>
            <a:off x="4572000" y="1417320"/>
            <a:ext cx="1280160" cy="1417320"/>
          </a:xfrm>
          <a:prstGeom prst="roundRect">
            <a:avLst>
              <a:gd name="adj" fmla="val 5000"/>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4" name="Shape 18"/>
          <p:cNvSpPr/>
          <p:nvPr/>
        </p:nvSpPr>
        <p:spPr>
          <a:xfrm>
            <a:off x="4983480" y="1508760"/>
            <a:ext cx="457200" cy="457200"/>
          </a:xfrm>
          <a:prstGeom prst="roundRect">
            <a:avLst>
              <a:gd name="adj" fmla="val 22000"/>
            </a:avLst>
          </a:prstGeom>
          <a:solidFill>
            <a:srgbClr val="2F5BFF"/>
          </a:solidFill>
          <a:ln w="12700">
            <a:solidFill>
              <a:srgbClr val="2F5BFF"/>
            </a:solidFill>
            <a:prstDash val="solid"/>
          </a:ln>
        </p:spPr>
      </p:sp>
      <p:pic>
        <p:nvPicPr>
          <p:cNvPr id="25" name="Image 3" descr="preencoded.png"/>
          <p:cNvPicPr>
            <a:picLocks noChangeAspect="1"/>
          </p:cNvPicPr>
          <p:nvPr/>
        </p:nvPicPr>
        <p:blipFill>
          <a:blip r:embed="rId6"/>
          <a:stretch>
            <a:fillRect/>
          </a:stretch>
        </p:blipFill>
        <p:spPr>
          <a:xfrm>
            <a:off x="5093208" y="1618488"/>
            <a:ext cx="237744" cy="237744"/>
          </a:xfrm>
          <a:prstGeom prst="rect">
            <a:avLst/>
          </a:prstGeom>
        </p:spPr>
      </p:pic>
      <p:sp>
        <p:nvSpPr>
          <p:cNvPr id="26" name="Text 19"/>
          <p:cNvSpPr txBox="1"/>
          <p:nvPr/>
        </p:nvSpPr>
        <p:spPr>
          <a:xfrm>
            <a:off x="4572000" y="2029968"/>
            <a:ext cx="1280160" cy="274320"/>
          </a:xfrm>
          <a:prstGeom prst="rect">
            <a:avLst/>
          </a:prstGeom>
          <a:noFill/>
          <a:ln/>
        </p:spPr>
        <p:txBody>
          <a:bodyPr wrap="square" lIns="0" tIns="0" rIns="0" bIns="0" rtlCol="0" anchor="t"/>
          <a:lstStyle/>
          <a:p>
            <a:pPr marL="0" indent="0" algn="ctr">
              <a:buNone/>
            </a:pPr>
            <a:r>
              <a:rPr lang="en-US" sz="1150" b="1" dirty="0">
                <a:solidFill>
                  <a:srgbClr val="0B1F4B"/>
                </a:solidFill>
              </a:rPr>
              <a:t>Edit quantity</a:t>
            </a:r>
            <a:endParaRPr lang="en-US" sz="1150" dirty="0"/>
          </a:p>
        </p:txBody>
      </p:sp>
      <p:sp>
        <p:nvSpPr>
          <p:cNvPr id="27" name="Text 20"/>
          <p:cNvSpPr txBox="1"/>
          <p:nvPr/>
        </p:nvSpPr>
        <p:spPr>
          <a:xfrm>
            <a:off x="4645152" y="2331720"/>
            <a:ext cx="1133856" cy="457200"/>
          </a:xfrm>
          <a:prstGeom prst="rect">
            <a:avLst/>
          </a:prstGeom>
          <a:noFill/>
          <a:ln/>
        </p:spPr>
        <p:txBody>
          <a:bodyPr wrap="square" lIns="0" tIns="0" rIns="0" bIns="0" rtlCol="0" anchor="t"/>
          <a:lstStyle/>
          <a:p>
            <a:pPr marL="0" indent="0" algn="ctr">
              <a:buNone/>
            </a:pPr>
            <a:r>
              <a:rPr lang="en-US" sz="1050" dirty="0">
                <a:solidFill>
                  <a:srgbClr val="6B7280"/>
                </a:solidFill>
              </a:rPr>
              <a:t>Update totals</a:t>
            </a:r>
            <a:endParaRPr lang="en-US" sz="1050" dirty="0"/>
          </a:p>
        </p:txBody>
      </p:sp>
      <p:sp>
        <p:nvSpPr>
          <p:cNvPr id="28" name="Shape 21"/>
          <p:cNvSpPr/>
          <p:nvPr/>
        </p:nvSpPr>
        <p:spPr>
          <a:xfrm>
            <a:off x="5943600" y="1417320"/>
            <a:ext cx="1280160" cy="1417320"/>
          </a:xfrm>
          <a:prstGeom prst="roundRect">
            <a:avLst>
              <a:gd name="adj" fmla="val 5000"/>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9" name="Shape 22"/>
          <p:cNvSpPr/>
          <p:nvPr/>
        </p:nvSpPr>
        <p:spPr>
          <a:xfrm>
            <a:off x="6355080" y="1508760"/>
            <a:ext cx="457200" cy="457200"/>
          </a:xfrm>
          <a:prstGeom prst="roundRect">
            <a:avLst>
              <a:gd name="adj" fmla="val 22000"/>
            </a:avLst>
          </a:prstGeom>
          <a:solidFill>
            <a:srgbClr val="2F5BFF"/>
          </a:solidFill>
          <a:ln w="12700">
            <a:solidFill>
              <a:srgbClr val="2F5BFF"/>
            </a:solidFill>
            <a:prstDash val="solid"/>
          </a:ln>
        </p:spPr>
      </p:sp>
      <p:pic>
        <p:nvPicPr>
          <p:cNvPr id="30" name="Image 4" descr="preencoded.png"/>
          <p:cNvPicPr>
            <a:picLocks noChangeAspect="1"/>
          </p:cNvPicPr>
          <p:nvPr/>
        </p:nvPicPr>
        <p:blipFill>
          <a:blip r:embed="rId7"/>
          <a:stretch>
            <a:fillRect/>
          </a:stretch>
        </p:blipFill>
        <p:spPr>
          <a:xfrm>
            <a:off x="6464808" y="1618488"/>
            <a:ext cx="237744" cy="237744"/>
          </a:xfrm>
          <a:prstGeom prst="rect">
            <a:avLst/>
          </a:prstGeom>
        </p:spPr>
      </p:pic>
      <p:sp>
        <p:nvSpPr>
          <p:cNvPr id="31" name="Text 23"/>
          <p:cNvSpPr txBox="1"/>
          <p:nvPr/>
        </p:nvSpPr>
        <p:spPr>
          <a:xfrm>
            <a:off x="5943600" y="2029968"/>
            <a:ext cx="1280160" cy="274320"/>
          </a:xfrm>
          <a:prstGeom prst="rect">
            <a:avLst/>
          </a:prstGeom>
          <a:noFill/>
          <a:ln/>
        </p:spPr>
        <p:txBody>
          <a:bodyPr wrap="square" lIns="0" tIns="0" rIns="0" bIns="0" rtlCol="0" anchor="t"/>
          <a:lstStyle/>
          <a:p>
            <a:pPr marL="0" indent="0" algn="ctr">
              <a:buNone/>
            </a:pPr>
            <a:r>
              <a:rPr lang="en-US" sz="1150" b="1" dirty="0">
                <a:solidFill>
                  <a:srgbClr val="0B1F4B"/>
                </a:solidFill>
              </a:rPr>
              <a:t>Checkout</a:t>
            </a:r>
            <a:endParaRPr lang="en-US" sz="1150" dirty="0"/>
          </a:p>
        </p:txBody>
      </p:sp>
      <p:sp>
        <p:nvSpPr>
          <p:cNvPr id="32" name="Text 24"/>
          <p:cNvSpPr txBox="1"/>
          <p:nvPr/>
        </p:nvSpPr>
        <p:spPr>
          <a:xfrm>
            <a:off x="6016752" y="2331720"/>
            <a:ext cx="1133856" cy="457200"/>
          </a:xfrm>
          <a:prstGeom prst="rect">
            <a:avLst/>
          </a:prstGeom>
          <a:noFill/>
          <a:ln/>
        </p:spPr>
        <p:txBody>
          <a:bodyPr wrap="square" lIns="0" tIns="0" rIns="0" bIns="0" rtlCol="0" anchor="t"/>
          <a:lstStyle/>
          <a:p>
            <a:pPr marL="0" indent="0" algn="ctr">
              <a:buNone/>
            </a:pPr>
            <a:r>
              <a:rPr lang="en-US" sz="1050" dirty="0">
                <a:solidFill>
                  <a:srgbClr val="6B7280"/>
                </a:solidFill>
              </a:rPr>
              <a:t>Checkout or sign-in</a:t>
            </a:r>
            <a:endParaRPr lang="en-US" sz="1050" dirty="0"/>
          </a:p>
        </p:txBody>
      </p:sp>
      <p:sp>
        <p:nvSpPr>
          <p:cNvPr id="33" name="Shape 25"/>
          <p:cNvSpPr/>
          <p:nvPr/>
        </p:nvSpPr>
        <p:spPr>
          <a:xfrm>
            <a:off x="7315200" y="1417320"/>
            <a:ext cx="1280160" cy="1417320"/>
          </a:xfrm>
          <a:prstGeom prst="roundRect">
            <a:avLst>
              <a:gd name="adj" fmla="val 5000"/>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4" name="Shape 26"/>
          <p:cNvSpPr/>
          <p:nvPr/>
        </p:nvSpPr>
        <p:spPr>
          <a:xfrm>
            <a:off x="7726680" y="1508760"/>
            <a:ext cx="457200" cy="457200"/>
          </a:xfrm>
          <a:prstGeom prst="roundRect">
            <a:avLst>
              <a:gd name="adj" fmla="val 22000"/>
            </a:avLst>
          </a:prstGeom>
          <a:solidFill>
            <a:srgbClr val="2F5BFF"/>
          </a:solidFill>
          <a:ln w="12700">
            <a:solidFill>
              <a:srgbClr val="2F5BFF"/>
            </a:solidFill>
            <a:prstDash val="solid"/>
          </a:ln>
        </p:spPr>
      </p:sp>
      <p:pic>
        <p:nvPicPr>
          <p:cNvPr id="35" name="Image 5" descr="preencoded.png"/>
          <p:cNvPicPr>
            <a:picLocks noChangeAspect="1"/>
          </p:cNvPicPr>
          <p:nvPr/>
        </p:nvPicPr>
        <p:blipFill>
          <a:blip r:embed="rId8"/>
          <a:stretch>
            <a:fillRect/>
          </a:stretch>
        </p:blipFill>
        <p:spPr>
          <a:xfrm>
            <a:off x="7836408" y="1618488"/>
            <a:ext cx="237744" cy="237744"/>
          </a:xfrm>
          <a:prstGeom prst="rect">
            <a:avLst/>
          </a:prstGeom>
        </p:spPr>
      </p:pic>
      <p:sp>
        <p:nvSpPr>
          <p:cNvPr id="36" name="Text 27"/>
          <p:cNvSpPr txBox="1"/>
          <p:nvPr/>
        </p:nvSpPr>
        <p:spPr>
          <a:xfrm>
            <a:off x="7315200" y="2029968"/>
            <a:ext cx="1280160" cy="274320"/>
          </a:xfrm>
          <a:prstGeom prst="rect">
            <a:avLst/>
          </a:prstGeom>
          <a:noFill/>
          <a:ln/>
        </p:spPr>
        <p:txBody>
          <a:bodyPr wrap="square" lIns="0" tIns="0" rIns="0" bIns="0" rtlCol="0" anchor="t"/>
          <a:lstStyle/>
          <a:p>
            <a:pPr marL="0" indent="0" algn="ctr">
              <a:buNone/>
            </a:pPr>
            <a:r>
              <a:rPr lang="en-US" sz="1150" b="1" dirty="0">
                <a:solidFill>
                  <a:srgbClr val="0B1F4B"/>
                </a:solidFill>
              </a:rPr>
              <a:t>Place order</a:t>
            </a:r>
            <a:endParaRPr lang="en-US" sz="1150" dirty="0"/>
          </a:p>
        </p:txBody>
      </p:sp>
      <p:sp>
        <p:nvSpPr>
          <p:cNvPr id="37" name="Text 28"/>
          <p:cNvSpPr txBox="1"/>
          <p:nvPr/>
        </p:nvSpPr>
        <p:spPr>
          <a:xfrm>
            <a:off x="7388352" y="2331720"/>
            <a:ext cx="1133856" cy="457200"/>
          </a:xfrm>
          <a:prstGeom prst="rect">
            <a:avLst/>
          </a:prstGeom>
          <a:noFill/>
          <a:ln/>
        </p:spPr>
        <p:txBody>
          <a:bodyPr wrap="square" lIns="0" tIns="0" rIns="0" bIns="0" rtlCol="0" anchor="t"/>
          <a:lstStyle/>
          <a:p>
            <a:pPr marL="0" indent="0" algn="ctr">
              <a:buNone/>
            </a:pPr>
            <a:r>
              <a:rPr lang="en-US" sz="1050" dirty="0">
                <a:solidFill>
                  <a:srgbClr val="6B7280"/>
                </a:solidFill>
              </a:rPr>
              <a:t>Confirm after system confirms</a:t>
            </a:r>
            <a:endParaRPr lang="en-US" sz="1050" dirty="0"/>
          </a:p>
        </p:txBody>
      </p:sp>
      <p:sp>
        <p:nvSpPr>
          <p:cNvPr id="38" name="Shape 29"/>
          <p:cNvSpPr/>
          <p:nvPr/>
        </p:nvSpPr>
        <p:spPr>
          <a:xfrm>
            <a:off x="457200" y="3017520"/>
            <a:ext cx="2651760" cy="1508760"/>
          </a:xfrm>
          <a:prstGeom prst="roundRect">
            <a:avLst>
              <a:gd name="adj" fmla="val 4242"/>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9" name="Shape 30"/>
          <p:cNvSpPr/>
          <p:nvPr/>
        </p:nvSpPr>
        <p:spPr>
          <a:xfrm>
            <a:off x="594360" y="3127248"/>
            <a:ext cx="347472" cy="347472"/>
          </a:xfrm>
          <a:prstGeom prst="roundRect">
            <a:avLst>
              <a:gd name="adj" fmla="val 22000"/>
            </a:avLst>
          </a:prstGeom>
          <a:solidFill>
            <a:srgbClr val="2F5BFF"/>
          </a:solidFill>
          <a:ln w="12700">
            <a:solidFill>
              <a:srgbClr val="2F5BFF"/>
            </a:solidFill>
            <a:prstDash val="solid"/>
          </a:ln>
        </p:spPr>
      </p:sp>
      <p:pic>
        <p:nvPicPr>
          <p:cNvPr id="40" name="Image 6" descr="preencoded.png"/>
          <p:cNvPicPr>
            <a:picLocks noChangeAspect="1"/>
          </p:cNvPicPr>
          <p:nvPr/>
        </p:nvPicPr>
        <p:blipFill>
          <a:blip r:embed="rId9"/>
          <a:stretch>
            <a:fillRect/>
          </a:stretch>
        </p:blipFill>
        <p:spPr>
          <a:xfrm>
            <a:off x="677753" y="3210641"/>
            <a:ext cx="180685" cy="180685"/>
          </a:xfrm>
          <a:prstGeom prst="rect">
            <a:avLst/>
          </a:prstGeom>
        </p:spPr>
      </p:pic>
      <p:sp>
        <p:nvSpPr>
          <p:cNvPr id="41" name="Text 31"/>
          <p:cNvSpPr txBox="1"/>
          <p:nvPr/>
        </p:nvSpPr>
        <p:spPr>
          <a:xfrm>
            <a:off x="1051560" y="3127248"/>
            <a:ext cx="1920240" cy="347472"/>
          </a:xfrm>
          <a:prstGeom prst="rect">
            <a:avLst/>
          </a:prstGeom>
          <a:noFill/>
          <a:ln/>
        </p:spPr>
        <p:txBody>
          <a:bodyPr wrap="square" lIns="0" tIns="0" rIns="0" bIns="0" rtlCol="0" anchor="ctr"/>
          <a:lstStyle/>
          <a:p>
            <a:pPr marL="0" indent="0">
              <a:buNone/>
            </a:pPr>
            <a:r>
              <a:rPr lang="en-US" sz="1300" b="1" dirty="0">
                <a:solidFill>
                  <a:srgbClr val="0B1F4B"/>
                </a:solidFill>
              </a:rPr>
              <a:t>Planned states</a:t>
            </a:r>
            <a:endParaRPr lang="en-US" sz="1300" dirty="0"/>
          </a:p>
        </p:txBody>
      </p:sp>
      <p:sp>
        <p:nvSpPr>
          <p:cNvPr id="42" name="Text 32"/>
          <p:cNvSpPr txBox="1"/>
          <p:nvPr/>
        </p:nvSpPr>
        <p:spPr>
          <a:xfrm>
            <a:off x="640080" y="3566160"/>
            <a:ext cx="2377440" cy="9144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rPr>
              <a:t>Empty cart, no search results</a:t>
            </a:r>
            <a:endParaRPr lang="en-US" sz="1150" dirty="0"/>
          </a:p>
          <a:p>
            <a:pPr marL="342900" indent="-342900">
              <a:spcAft>
                <a:spcPts val="600"/>
              </a:spcAft>
              <a:buSzPct val="100000"/>
              <a:buChar char="•"/>
            </a:pPr>
            <a:r>
              <a:rPr lang="en-US" sz="1150" dirty="0">
                <a:solidFill>
                  <a:srgbClr val="1F2937"/>
                </a:solidFill>
              </a:rPr>
              <a:t>Item unavailable, form error</a:t>
            </a:r>
            <a:endParaRPr lang="en-US" sz="1150" dirty="0"/>
          </a:p>
          <a:p>
            <a:pPr marL="342900" indent="-342900">
              <a:spcAft>
                <a:spcPts val="600"/>
              </a:spcAft>
              <a:buSzPct val="100000"/>
              <a:buChar char="•"/>
            </a:pPr>
            <a:r>
              <a:rPr lang="en-US" sz="1150" dirty="0">
                <a:solidFill>
                  <a:srgbClr val="1F2937"/>
                </a:solidFill>
              </a:rPr>
              <a:t>Loading skeleton cards</a:t>
            </a:r>
            <a:endParaRPr lang="en-US" sz="1150" dirty="0"/>
          </a:p>
        </p:txBody>
      </p:sp>
      <p:sp>
        <p:nvSpPr>
          <p:cNvPr id="43" name="Shape 33"/>
          <p:cNvSpPr/>
          <p:nvPr/>
        </p:nvSpPr>
        <p:spPr>
          <a:xfrm>
            <a:off x="3246120" y="3017520"/>
            <a:ext cx="2651760" cy="1508760"/>
          </a:xfrm>
          <a:prstGeom prst="roundRect">
            <a:avLst>
              <a:gd name="adj" fmla="val 4242"/>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44" name="Shape 34"/>
          <p:cNvSpPr/>
          <p:nvPr/>
        </p:nvSpPr>
        <p:spPr>
          <a:xfrm>
            <a:off x="3383280" y="3127248"/>
            <a:ext cx="347472" cy="347472"/>
          </a:xfrm>
          <a:prstGeom prst="roundRect">
            <a:avLst>
              <a:gd name="adj" fmla="val 22000"/>
            </a:avLst>
          </a:prstGeom>
          <a:solidFill>
            <a:srgbClr val="2F5BFF"/>
          </a:solidFill>
          <a:ln w="12700">
            <a:solidFill>
              <a:srgbClr val="2F5BFF"/>
            </a:solidFill>
            <a:prstDash val="solid"/>
          </a:ln>
        </p:spPr>
      </p:sp>
      <p:pic>
        <p:nvPicPr>
          <p:cNvPr id="45" name="Image 7" descr="preencoded.png"/>
          <p:cNvPicPr>
            <a:picLocks noChangeAspect="1"/>
          </p:cNvPicPr>
          <p:nvPr/>
        </p:nvPicPr>
        <p:blipFill>
          <a:blip r:embed="rId10"/>
          <a:stretch>
            <a:fillRect/>
          </a:stretch>
        </p:blipFill>
        <p:spPr>
          <a:xfrm>
            <a:off x="3466673" y="3210641"/>
            <a:ext cx="180685" cy="180685"/>
          </a:xfrm>
          <a:prstGeom prst="rect">
            <a:avLst/>
          </a:prstGeom>
        </p:spPr>
      </p:pic>
      <p:sp>
        <p:nvSpPr>
          <p:cNvPr id="46" name="Text 35"/>
          <p:cNvSpPr txBox="1"/>
          <p:nvPr/>
        </p:nvSpPr>
        <p:spPr>
          <a:xfrm>
            <a:off x="3840480" y="3127248"/>
            <a:ext cx="1920240" cy="347472"/>
          </a:xfrm>
          <a:prstGeom prst="rect">
            <a:avLst/>
          </a:prstGeom>
          <a:noFill/>
          <a:ln/>
        </p:spPr>
        <p:txBody>
          <a:bodyPr wrap="square" lIns="0" tIns="0" rIns="0" bIns="0" rtlCol="0" anchor="ctr"/>
          <a:lstStyle/>
          <a:p>
            <a:pPr marL="0" indent="0">
              <a:buNone/>
            </a:pPr>
            <a:r>
              <a:rPr lang="en-US" sz="1300" b="1" dirty="0">
                <a:solidFill>
                  <a:srgbClr val="0B1F4B"/>
                </a:solidFill>
              </a:rPr>
              <a:t>Readability</a:t>
            </a:r>
            <a:endParaRPr lang="en-US" sz="1300" dirty="0"/>
          </a:p>
        </p:txBody>
      </p:sp>
      <p:sp>
        <p:nvSpPr>
          <p:cNvPr id="47" name="Text 36"/>
          <p:cNvSpPr txBox="1"/>
          <p:nvPr/>
        </p:nvSpPr>
        <p:spPr>
          <a:xfrm>
            <a:off x="3429000" y="3566160"/>
            <a:ext cx="2377440" cy="9144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rPr>
              <a:t>Clear, legible text</a:t>
            </a:r>
            <a:endParaRPr lang="en-US" sz="1150" dirty="0"/>
          </a:p>
          <a:p>
            <a:pPr marL="342900" indent="-342900">
              <a:spcAft>
                <a:spcPts val="600"/>
              </a:spcAft>
              <a:buSzPct val="100000"/>
              <a:buChar char="•"/>
            </a:pPr>
            <a:r>
              <a:rPr lang="en-US" sz="1150" dirty="0">
                <a:solidFill>
                  <a:srgbClr val="1F2937"/>
                </a:solidFill>
              </a:rPr>
              <a:t>Good contrast (WCAG AA check)</a:t>
            </a:r>
            <a:endParaRPr lang="en-US" sz="1150" dirty="0"/>
          </a:p>
          <a:p>
            <a:pPr marL="342900" indent="-342900">
              <a:spcAft>
                <a:spcPts val="600"/>
              </a:spcAft>
              <a:buSzPct val="100000"/>
              <a:buChar char="•"/>
            </a:pPr>
            <a:r>
              <a:rPr lang="en-US" sz="1150" dirty="0">
                <a:solidFill>
                  <a:srgbClr val="1F2937"/>
                </a:solidFill>
              </a:rPr>
              <a:t>Consistent components</a:t>
            </a:r>
            <a:endParaRPr lang="en-US" sz="1150" dirty="0"/>
          </a:p>
        </p:txBody>
      </p:sp>
      <p:sp>
        <p:nvSpPr>
          <p:cNvPr id="48" name="Shape 37"/>
          <p:cNvSpPr/>
          <p:nvPr/>
        </p:nvSpPr>
        <p:spPr>
          <a:xfrm>
            <a:off x="6035040" y="3017520"/>
            <a:ext cx="2651760" cy="1508760"/>
          </a:xfrm>
          <a:prstGeom prst="roundRect">
            <a:avLst>
              <a:gd name="adj" fmla="val 4242"/>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49" name="Shape 38"/>
          <p:cNvSpPr/>
          <p:nvPr/>
        </p:nvSpPr>
        <p:spPr>
          <a:xfrm>
            <a:off x="6172200" y="3127248"/>
            <a:ext cx="347472" cy="347472"/>
          </a:xfrm>
          <a:prstGeom prst="roundRect">
            <a:avLst>
              <a:gd name="adj" fmla="val 22000"/>
            </a:avLst>
          </a:prstGeom>
          <a:solidFill>
            <a:srgbClr val="2F5BFF"/>
          </a:solidFill>
          <a:ln w="12700">
            <a:solidFill>
              <a:srgbClr val="2F5BFF"/>
            </a:solidFill>
            <a:prstDash val="solid"/>
          </a:ln>
        </p:spPr>
      </p:sp>
      <p:pic>
        <p:nvPicPr>
          <p:cNvPr id="50" name="Image 8" descr="preencoded.png"/>
          <p:cNvPicPr>
            <a:picLocks noChangeAspect="1"/>
          </p:cNvPicPr>
          <p:nvPr/>
        </p:nvPicPr>
        <p:blipFill>
          <a:blip r:embed="rId8"/>
          <a:stretch>
            <a:fillRect/>
          </a:stretch>
        </p:blipFill>
        <p:spPr>
          <a:xfrm>
            <a:off x="6255593" y="3210641"/>
            <a:ext cx="180685" cy="180685"/>
          </a:xfrm>
          <a:prstGeom prst="rect">
            <a:avLst/>
          </a:prstGeom>
        </p:spPr>
      </p:pic>
      <p:sp>
        <p:nvSpPr>
          <p:cNvPr id="51" name="Text 39"/>
          <p:cNvSpPr txBox="1"/>
          <p:nvPr/>
        </p:nvSpPr>
        <p:spPr>
          <a:xfrm>
            <a:off x="6629400" y="3127248"/>
            <a:ext cx="1920240" cy="347472"/>
          </a:xfrm>
          <a:prstGeom prst="rect">
            <a:avLst/>
          </a:prstGeom>
          <a:noFill/>
          <a:ln/>
        </p:spPr>
        <p:txBody>
          <a:bodyPr wrap="square" lIns="0" tIns="0" rIns="0" bIns="0" rtlCol="0" anchor="ctr"/>
          <a:lstStyle/>
          <a:p>
            <a:pPr marL="0" indent="0">
              <a:buNone/>
            </a:pPr>
            <a:r>
              <a:rPr lang="en-US" sz="1300" b="1" dirty="0">
                <a:solidFill>
                  <a:srgbClr val="0B1F4B"/>
                </a:solidFill>
              </a:rPr>
              <a:t>Feedback</a:t>
            </a:r>
            <a:endParaRPr lang="en-US" sz="1300" dirty="0"/>
          </a:p>
        </p:txBody>
      </p:sp>
      <p:sp>
        <p:nvSpPr>
          <p:cNvPr id="52" name="Text 40"/>
          <p:cNvSpPr txBox="1"/>
          <p:nvPr/>
        </p:nvSpPr>
        <p:spPr>
          <a:xfrm>
            <a:off x="6217920" y="3566160"/>
            <a:ext cx="2377440" cy="9144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rPr>
              <a:t>Cart count updates</a:t>
            </a:r>
            <a:endParaRPr lang="en-US" sz="1150" dirty="0"/>
          </a:p>
          <a:p>
            <a:pPr marL="342900" indent="-342900">
              <a:spcAft>
                <a:spcPts val="600"/>
              </a:spcAft>
              <a:buSzPct val="100000"/>
              <a:buChar char="•"/>
            </a:pPr>
            <a:r>
              <a:rPr lang="en-US" sz="1150" dirty="0">
                <a:solidFill>
                  <a:srgbClr val="1F2937"/>
                </a:solidFill>
              </a:rPr>
              <a:t>Messages name field and fix</a:t>
            </a:r>
            <a:endParaRPr lang="en-US" sz="1150" dirty="0"/>
          </a:p>
          <a:p>
            <a:pPr marL="342900" indent="-342900">
              <a:spcAft>
                <a:spcPts val="600"/>
              </a:spcAft>
              <a:buSzPct val="100000"/>
              <a:buChar char="•"/>
            </a:pPr>
            <a:r>
              <a:rPr lang="en-US" sz="1150" dirty="0">
                <a:solidFill>
                  <a:srgbClr val="1F2937"/>
                </a:solidFill>
              </a:rPr>
              <a:t>Visible focus and labels</a:t>
            </a:r>
            <a:endParaRPr lang="en-US" sz="115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37744"/>
            <a:ext cx="5486400" cy="201168"/>
          </a:xfrm>
          <a:prstGeom prst="rect">
            <a:avLst/>
          </a:prstGeom>
          <a:noFill/>
          <a:ln/>
        </p:spPr>
        <p:txBody>
          <a:bodyPr wrap="square" lIns="0" tIns="0" rIns="0" bIns="0" rtlCol="0" anchor="t"/>
          <a:lstStyle/>
          <a:p>
            <a:pPr marL="0" indent="0">
              <a:buNone/>
            </a:pPr>
            <a:r>
              <a:rPr lang="en-US" sz="1050" b="1" kern="0" spc="200" dirty="0">
                <a:solidFill>
                  <a:srgbClr val="2F5BFF"/>
                </a:solidFill>
              </a:rPr>
              <a:t>09 · OUTCOMES</a:t>
            </a:r>
            <a:endParaRPr lang="en-US" sz="1050" dirty="0"/>
          </a:p>
        </p:txBody>
      </p:sp>
      <p:sp>
        <p:nvSpPr>
          <p:cNvPr id="3" name="Text 1"/>
          <p:cNvSpPr txBox="1"/>
          <p:nvPr/>
        </p:nvSpPr>
        <p:spPr>
          <a:xfrm>
            <a:off x="457200" y="457200"/>
            <a:ext cx="8229600" cy="502920"/>
          </a:xfrm>
          <a:prstGeom prst="rect">
            <a:avLst/>
          </a:prstGeom>
          <a:noFill/>
          <a:ln/>
        </p:spPr>
        <p:txBody>
          <a:bodyPr wrap="square" lIns="0" tIns="0" rIns="0" bIns="0" rtlCol="0" anchor="ctr"/>
          <a:lstStyle/>
          <a:p>
            <a:pPr marL="0" indent="0">
              <a:buNone/>
            </a:pPr>
            <a:r>
              <a:rPr lang="en-US" sz="2500" b="1" dirty="0">
                <a:solidFill>
                  <a:srgbClr val="0B1F4B"/>
                </a:solidFill>
                <a:latin typeface="Georgia" pitchFamily="34" charset="0"/>
                <a:ea typeface="Georgia" pitchFamily="34" charset="-122"/>
                <a:cs typeface="Georgia" pitchFamily="34" charset="-120"/>
              </a:rPr>
              <a:t>Learning Outcomes and Skills Gained</a:t>
            </a:r>
            <a:endParaRPr lang="en-US" sz="2500" dirty="0"/>
          </a:p>
        </p:txBody>
      </p:sp>
      <p:sp>
        <p:nvSpPr>
          <p:cNvPr id="5" name="Shape 2"/>
          <p:cNvSpPr/>
          <p:nvPr/>
        </p:nvSpPr>
        <p:spPr>
          <a:xfrm>
            <a:off x="457200" y="1143000"/>
            <a:ext cx="8229600" cy="868680"/>
          </a:xfrm>
          <a:prstGeom prst="roundRect">
            <a:avLst>
              <a:gd name="adj" fmla="val 7368"/>
            </a:avLst>
          </a:prstGeom>
          <a:solidFill>
            <a:srgbClr val="0B1F4B"/>
          </a:solidFill>
          <a:ln w="12700">
            <a:solidFill>
              <a:srgbClr val="0B1F4B"/>
            </a:solidFill>
            <a:prstDash val="solid"/>
          </a:ln>
        </p:spPr>
      </p:sp>
      <p:sp>
        <p:nvSpPr>
          <p:cNvPr id="6" name="Text 3"/>
          <p:cNvSpPr txBox="1"/>
          <p:nvPr/>
        </p:nvSpPr>
        <p:spPr>
          <a:xfrm>
            <a:off x="731520" y="1188720"/>
            <a:ext cx="685800" cy="77724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5</a:t>
            </a:r>
            <a:endParaRPr lang="en-US" sz="3000" dirty="0"/>
          </a:p>
        </p:txBody>
      </p:sp>
      <p:sp>
        <p:nvSpPr>
          <p:cNvPr id="7" name="Text 4"/>
          <p:cNvSpPr txBox="1"/>
          <p:nvPr/>
        </p:nvSpPr>
        <p:spPr>
          <a:xfrm>
            <a:off x="1481328" y="1188720"/>
            <a:ext cx="1005840" cy="777240"/>
          </a:xfrm>
          <a:prstGeom prst="rect">
            <a:avLst/>
          </a:prstGeom>
          <a:noFill/>
          <a:ln/>
        </p:spPr>
        <p:txBody>
          <a:bodyPr wrap="square" lIns="0" tIns="0" rIns="0" bIns="0" rtlCol="0" anchor="ctr"/>
          <a:lstStyle/>
          <a:p>
            <a:pPr marL="0" indent="0">
              <a:buNone/>
            </a:pPr>
            <a:r>
              <a:rPr lang="en-US" sz="1150" dirty="0">
                <a:solidFill>
                  <a:srgbClr val="A9B8E8"/>
                </a:solidFill>
              </a:rPr>
              <a:t>screens wireframed</a:t>
            </a:r>
            <a:endParaRPr lang="en-US" sz="1150" dirty="0"/>
          </a:p>
        </p:txBody>
      </p:sp>
      <p:sp>
        <p:nvSpPr>
          <p:cNvPr id="8" name="Text 5"/>
          <p:cNvSpPr txBox="1"/>
          <p:nvPr/>
        </p:nvSpPr>
        <p:spPr>
          <a:xfrm>
            <a:off x="2743200" y="1188720"/>
            <a:ext cx="685800" cy="77724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12</a:t>
            </a:r>
            <a:endParaRPr lang="en-US" sz="3000" dirty="0"/>
          </a:p>
        </p:txBody>
      </p:sp>
      <p:sp>
        <p:nvSpPr>
          <p:cNvPr id="9" name="Text 6"/>
          <p:cNvSpPr txBox="1"/>
          <p:nvPr/>
        </p:nvSpPr>
        <p:spPr>
          <a:xfrm>
            <a:off x="3493008" y="1188720"/>
            <a:ext cx="1005840" cy="777240"/>
          </a:xfrm>
          <a:prstGeom prst="rect">
            <a:avLst/>
          </a:prstGeom>
          <a:noFill/>
          <a:ln/>
        </p:spPr>
        <p:txBody>
          <a:bodyPr wrap="square" lIns="0" tIns="0" rIns="0" bIns="0" rtlCol="0" anchor="ctr"/>
          <a:lstStyle/>
          <a:p>
            <a:pPr marL="0" indent="0">
              <a:buNone/>
            </a:pPr>
            <a:r>
              <a:rPr lang="en-US" sz="1150" dirty="0">
                <a:solidFill>
                  <a:srgbClr val="A9B8E8"/>
                </a:solidFill>
              </a:rPr>
              <a:t>requirements written</a:t>
            </a:r>
            <a:endParaRPr lang="en-US" sz="1150" dirty="0"/>
          </a:p>
        </p:txBody>
      </p:sp>
      <p:sp>
        <p:nvSpPr>
          <p:cNvPr id="10" name="Text 7"/>
          <p:cNvSpPr txBox="1"/>
          <p:nvPr/>
        </p:nvSpPr>
        <p:spPr>
          <a:xfrm>
            <a:off x="4754880" y="1188720"/>
            <a:ext cx="685800" cy="77724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6</a:t>
            </a:r>
            <a:endParaRPr lang="en-US" sz="3000" dirty="0"/>
          </a:p>
        </p:txBody>
      </p:sp>
      <p:sp>
        <p:nvSpPr>
          <p:cNvPr id="11" name="Text 8"/>
          <p:cNvSpPr txBox="1"/>
          <p:nvPr/>
        </p:nvSpPr>
        <p:spPr>
          <a:xfrm>
            <a:off x="5504688" y="1188720"/>
            <a:ext cx="1005840" cy="777240"/>
          </a:xfrm>
          <a:prstGeom prst="rect">
            <a:avLst/>
          </a:prstGeom>
          <a:noFill/>
          <a:ln/>
        </p:spPr>
        <p:txBody>
          <a:bodyPr wrap="square" lIns="0" tIns="0" rIns="0" bIns="0" rtlCol="0" anchor="ctr"/>
          <a:lstStyle/>
          <a:p>
            <a:pPr marL="0" indent="0">
              <a:buNone/>
            </a:pPr>
            <a:r>
              <a:rPr lang="en-US" sz="1150" dirty="0">
                <a:solidFill>
                  <a:srgbClr val="A9B8E8"/>
                </a:solidFill>
              </a:rPr>
              <a:t>interactions planned</a:t>
            </a:r>
            <a:endParaRPr lang="en-US" sz="1150" dirty="0"/>
          </a:p>
        </p:txBody>
      </p:sp>
      <p:sp>
        <p:nvSpPr>
          <p:cNvPr id="12" name="Text 9"/>
          <p:cNvSpPr txBox="1"/>
          <p:nvPr/>
        </p:nvSpPr>
        <p:spPr>
          <a:xfrm>
            <a:off x="6766560" y="1188720"/>
            <a:ext cx="685800" cy="77724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6</a:t>
            </a:r>
            <a:endParaRPr lang="en-US" sz="3000" dirty="0"/>
          </a:p>
        </p:txBody>
      </p:sp>
      <p:sp>
        <p:nvSpPr>
          <p:cNvPr id="13" name="Text 10"/>
          <p:cNvSpPr txBox="1"/>
          <p:nvPr/>
        </p:nvSpPr>
        <p:spPr>
          <a:xfrm>
            <a:off x="7516368" y="1188720"/>
            <a:ext cx="1005840" cy="777240"/>
          </a:xfrm>
          <a:prstGeom prst="rect">
            <a:avLst/>
          </a:prstGeom>
          <a:noFill/>
          <a:ln/>
        </p:spPr>
        <p:txBody>
          <a:bodyPr wrap="square" lIns="0" tIns="0" rIns="0" bIns="0" rtlCol="0" anchor="ctr"/>
          <a:lstStyle/>
          <a:p>
            <a:pPr marL="0" indent="0">
              <a:buNone/>
            </a:pPr>
            <a:r>
              <a:rPr lang="en-US" sz="1150" dirty="0">
                <a:solidFill>
                  <a:srgbClr val="A9B8E8"/>
                </a:solidFill>
              </a:rPr>
              <a:t>process stages</a:t>
            </a:r>
            <a:endParaRPr lang="en-US" sz="1150" dirty="0"/>
          </a:p>
        </p:txBody>
      </p:sp>
      <p:sp>
        <p:nvSpPr>
          <p:cNvPr id="14" name="Shape 11"/>
          <p:cNvSpPr/>
          <p:nvPr/>
        </p:nvSpPr>
        <p:spPr>
          <a:xfrm>
            <a:off x="457200" y="2194560"/>
            <a:ext cx="2606040" cy="1051560"/>
          </a:xfrm>
          <a:prstGeom prst="roundRect">
            <a:avLst>
              <a:gd name="adj" fmla="val 608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15" name="Shape 12"/>
          <p:cNvSpPr/>
          <p:nvPr/>
        </p:nvSpPr>
        <p:spPr>
          <a:xfrm>
            <a:off x="594360" y="2468880"/>
            <a:ext cx="502920" cy="502920"/>
          </a:xfrm>
          <a:prstGeom prst="roundRect">
            <a:avLst>
              <a:gd name="adj" fmla="val 22000"/>
            </a:avLst>
          </a:prstGeom>
          <a:solidFill>
            <a:srgbClr val="2F5BFF"/>
          </a:solidFill>
          <a:ln w="12700">
            <a:solidFill>
              <a:srgbClr val="2F5BFF"/>
            </a:solidFill>
            <a:prstDash val="solid"/>
          </a:ln>
        </p:spPr>
      </p:sp>
      <p:pic>
        <p:nvPicPr>
          <p:cNvPr id="16" name="Image 0" descr="preencoded.png"/>
          <p:cNvPicPr>
            <a:picLocks noChangeAspect="1"/>
          </p:cNvPicPr>
          <p:nvPr/>
        </p:nvPicPr>
        <p:blipFill>
          <a:blip r:embed="rId3"/>
          <a:stretch>
            <a:fillRect/>
          </a:stretch>
        </p:blipFill>
        <p:spPr>
          <a:xfrm>
            <a:off x="715061" y="2589581"/>
            <a:ext cx="261518" cy="261518"/>
          </a:xfrm>
          <a:prstGeom prst="rect">
            <a:avLst/>
          </a:prstGeom>
        </p:spPr>
      </p:pic>
      <p:sp>
        <p:nvSpPr>
          <p:cNvPr id="17" name="Text 13"/>
          <p:cNvSpPr txBox="1"/>
          <p:nvPr/>
        </p:nvSpPr>
        <p:spPr>
          <a:xfrm>
            <a:off x="1234440" y="2331720"/>
            <a:ext cx="1737360" cy="320040"/>
          </a:xfrm>
          <a:prstGeom prst="rect">
            <a:avLst/>
          </a:prstGeom>
          <a:noFill/>
          <a:ln/>
        </p:spPr>
        <p:txBody>
          <a:bodyPr wrap="square" lIns="0" tIns="0" rIns="0" bIns="0" rtlCol="0" anchor="t"/>
          <a:lstStyle/>
          <a:p>
            <a:pPr marL="0" indent="0">
              <a:buNone/>
            </a:pPr>
            <a:r>
              <a:rPr lang="en-US" sz="1300" b="1" dirty="0">
                <a:solidFill>
                  <a:srgbClr val="0B1F4B"/>
                </a:solidFill>
              </a:rPr>
              <a:t>Wireframing</a:t>
            </a:r>
            <a:endParaRPr lang="en-US" sz="1300" dirty="0"/>
          </a:p>
        </p:txBody>
      </p:sp>
      <p:sp>
        <p:nvSpPr>
          <p:cNvPr id="18" name="Text 14"/>
          <p:cNvSpPr txBox="1"/>
          <p:nvPr/>
        </p:nvSpPr>
        <p:spPr>
          <a:xfrm>
            <a:off x="1234440" y="2670048"/>
            <a:ext cx="1737360" cy="548640"/>
          </a:xfrm>
          <a:prstGeom prst="rect">
            <a:avLst/>
          </a:prstGeom>
          <a:noFill/>
          <a:ln/>
        </p:spPr>
        <p:txBody>
          <a:bodyPr wrap="square" lIns="0" tIns="0" rIns="0" bIns="0" rtlCol="0" anchor="t"/>
          <a:lstStyle/>
          <a:p>
            <a:pPr marL="0" indent="0">
              <a:buNone/>
            </a:pPr>
            <a:r>
              <a:rPr lang="en-US" sz="1150" dirty="0">
                <a:solidFill>
                  <a:srgbClr val="6B7280"/>
                </a:solidFill>
              </a:rPr>
              <a:t>Home, listing, detail, cart, checkout</a:t>
            </a:r>
            <a:endParaRPr lang="en-US" sz="1150" dirty="0"/>
          </a:p>
        </p:txBody>
      </p:sp>
      <p:sp>
        <p:nvSpPr>
          <p:cNvPr id="19" name="Shape 15"/>
          <p:cNvSpPr/>
          <p:nvPr/>
        </p:nvSpPr>
        <p:spPr>
          <a:xfrm>
            <a:off x="3246120" y="2194560"/>
            <a:ext cx="2606040" cy="1051560"/>
          </a:xfrm>
          <a:prstGeom prst="roundRect">
            <a:avLst>
              <a:gd name="adj" fmla="val 608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0" name="Shape 16"/>
          <p:cNvSpPr/>
          <p:nvPr/>
        </p:nvSpPr>
        <p:spPr>
          <a:xfrm>
            <a:off x="3383280" y="2468880"/>
            <a:ext cx="502920" cy="502920"/>
          </a:xfrm>
          <a:prstGeom prst="roundRect">
            <a:avLst>
              <a:gd name="adj" fmla="val 22000"/>
            </a:avLst>
          </a:prstGeom>
          <a:solidFill>
            <a:srgbClr val="2F5BFF"/>
          </a:solidFill>
          <a:ln w="12700">
            <a:solidFill>
              <a:srgbClr val="2F5BFF"/>
            </a:solidFill>
            <a:prstDash val="solid"/>
          </a:ln>
        </p:spPr>
      </p:sp>
      <p:pic>
        <p:nvPicPr>
          <p:cNvPr id="21" name="Image 1" descr="preencoded.png"/>
          <p:cNvPicPr>
            <a:picLocks noChangeAspect="1"/>
          </p:cNvPicPr>
          <p:nvPr/>
        </p:nvPicPr>
        <p:blipFill>
          <a:blip r:embed="rId4"/>
          <a:stretch>
            <a:fillRect/>
          </a:stretch>
        </p:blipFill>
        <p:spPr>
          <a:xfrm>
            <a:off x="3503981" y="2589581"/>
            <a:ext cx="261518" cy="261518"/>
          </a:xfrm>
          <a:prstGeom prst="rect">
            <a:avLst/>
          </a:prstGeom>
        </p:spPr>
      </p:pic>
      <p:sp>
        <p:nvSpPr>
          <p:cNvPr id="22" name="Text 17"/>
          <p:cNvSpPr txBox="1"/>
          <p:nvPr/>
        </p:nvSpPr>
        <p:spPr>
          <a:xfrm>
            <a:off x="4023360" y="2331720"/>
            <a:ext cx="1737360" cy="320040"/>
          </a:xfrm>
          <a:prstGeom prst="rect">
            <a:avLst/>
          </a:prstGeom>
          <a:noFill/>
          <a:ln/>
        </p:spPr>
        <p:txBody>
          <a:bodyPr wrap="square" lIns="0" tIns="0" rIns="0" bIns="0" rtlCol="0" anchor="t"/>
          <a:lstStyle/>
          <a:p>
            <a:pPr marL="0" indent="0">
              <a:buNone/>
            </a:pPr>
            <a:r>
              <a:rPr lang="en-US" sz="1300" b="1" dirty="0">
                <a:solidFill>
                  <a:srgbClr val="0B1F4B"/>
                </a:solidFill>
              </a:rPr>
              <a:t>Information architecture</a:t>
            </a:r>
            <a:endParaRPr lang="en-US" sz="1300" dirty="0"/>
          </a:p>
        </p:txBody>
      </p:sp>
      <p:sp>
        <p:nvSpPr>
          <p:cNvPr id="23" name="Text 18"/>
          <p:cNvSpPr txBox="1"/>
          <p:nvPr/>
        </p:nvSpPr>
        <p:spPr>
          <a:xfrm>
            <a:off x="4023360" y="2670048"/>
            <a:ext cx="1737360" cy="548640"/>
          </a:xfrm>
          <a:prstGeom prst="rect">
            <a:avLst/>
          </a:prstGeom>
          <a:noFill/>
          <a:ln/>
        </p:spPr>
        <p:txBody>
          <a:bodyPr wrap="square" lIns="0" tIns="0" rIns="0" bIns="0" rtlCol="0" anchor="t"/>
          <a:lstStyle/>
          <a:p>
            <a:pPr marL="0" indent="0">
              <a:buNone/>
            </a:pPr>
            <a:r>
              <a:rPr lang="en-US" sz="1150" dirty="0">
                <a:solidFill>
                  <a:srgbClr val="6B7280"/>
                </a:solidFill>
              </a:rPr>
              <a:t>Site map for the ShopEase store</a:t>
            </a:r>
            <a:endParaRPr lang="en-US" sz="1150" dirty="0"/>
          </a:p>
        </p:txBody>
      </p:sp>
      <p:sp>
        <p:nvSpPr>
          <p:cNvPr id="24" name="Shape 19"/>
          <p:cNvSpPr/>
          <p:nvPr/>
        </p:nvSpPr>
        <p:spPr>
          <a:xfrm>
            <a:off x="6035040" y="2194560"/>
            <a:ext cx="2606040" cy="1051560"/>
          </a:xfrm>
          <a:prstGeom prst="roundRect">
            <a:avLst>
              <a:gd name="adj" fmla="val 608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25" name="Shape 20"/>
          <p:cNvSpPr/>
          <p:nvPr/>
        </p:nvSpPr>
        <p:spPr>
          <a:xfrm>
            <a:off x="6172200" y="2468880"/>
            <a:ext cx="502920" cy="502920"/>
          </a:xfrm>
          <a:prstGeom prst="roundRect">
            <a:avLst>
              <a:gd name="adj" fmla="val 22000"/>
            </a:avLst>
          </a:prstGeom>
          <a:solidFill>
            <a:srgbClr val="2F5BFF"/>
          </a:solidFill>
          <a:ln w="12700">
            <a:solidFill>
              <a:srgbClr val="2F5BFF"/>
            </a:solidFill>
            <a:prstDash val="solid"/>
          </a:ln>
        </p:spPr>
      </p:sp>
      <p:pic>
        <p:nvPicPr>
          <p:cNvPr id="26" name="Image 2" descr="preencoded.png"/>
          <p:cNvPicPr>
            <a:picLocks noChangeAspect="1"/>
          </p:cNvPicPr>
          <p:nvPr/>
        </p:nvPicPr>
        <p:blipFill>
          <a:blip r:embed="rId5"/>
          <a:stretch>
            <a:fillRect/>
          </a:stretch>
        </p:blipFill>
        <p:spPr>
          <a:xfrm>
            <a:off x="6292901" y="2589581"/>
            <a:ext cx="261518" cy="261518"/>
          </a:xfrm>
          <a:prstGeom prst="rect">
            <a:avLst/>
          </a:prstGeom>
        </p:spPr>
      </p:pic>
      <p:sp>
        <p:nvSpPr>
          <p:cNvPr id="27" name="Text 21"/>
          <p:cNvSpPr txBox="1"/>
          <p:nvPr/>
        </p:nvSpPr>
        <p:spPr>
          <a:xfrm>
            <a:off x="6812280" y="2331720"/>
            <a:ext cx="1737360" cy="320040"/>
          </a:xfrm>
          <a:prstGeom prst="rect">
            <a:avLst/>
          </a:prstGeom>
          <a:noFill/>
          <a:ln/>
        </p:spPr>
        <p:txBody>
          <a:bodyPr wrap="square" lIns="0" tIns="0" rIns="0" bIns="0" rtlCol="0" anchor="t"/>
          <a:lstStyle/>
          <a:p>
            <a:pPr marL="0" indent="0">
              <a:buNone/>
            </a:pPr>
            <a:r>
              <a:rPr lang="en-US" sz="1300" b="1" dirty="0">
                <a:solidFill>
                  <a:srgbClr val="0B1F4B"/>
                </a:solidFill>
              </a:rPr>
              <a:t>User flows</a:t>
            </a:r>
            <a:endParaRPr lang="en-US" sz="1300" dirty="0"/>
          </a:p>
        </p:txBody>
      </p:sp>
      <p:sp>
        <p:nvSpPr>
          <p:cNvPr id="28" name="Text 22"/>
          <p:cNvSpPr txBox="1"/>
          <p:nvPr/>
        </p:nvSpPr>
        <p:spPr>
          <a:xfrm>
            <a:off x="6812280" y="2670048"/>
            <a:ext cx="1737360" cy="548640"/>
          </a:xfrm>
          <a:prstGeom prst="rect">
            <a:avLst/>
          </a:prstGeom>
          <a:noFill/>
          <a:ln/>
        </p:spPr>
        <p:txBody>
          <a:bodyPr wrap="square" lIns="0" tIns="0" rIns="0" bIns="0" rtlCol="0" anchor="t"/>
          <a:lstStyle/>
          <a:p>
            <a:pPr marL="0" indent="0">
              <a:buNone/>
            </a:pPr>
            <a:r>
              <a:rPr lang="en-US" sz="1150" dirty="0">
                <a:solidFill>
                  <a:srgbClr val="6B7280"/>
                </a:solidFill>
              </a:rPr>
              <a:t>Purchase flow and two error branches</a:t>
            </a:r>
            <a:endParaRPr lang="en-US" sz="1150" dirty="0"/>
          </a:p>
        </p:txBody>
      </p:sp>
      <p:sp>
        <p:nvSpPr>
          <p:cNvPr id="29" name="Shape 23"/>
          <p:cNvSpPr/>
          <p:nvPr/>
        </p:nvSpPr>
        <p:spPr>
          <a:xfrm>
            <a:off x="457200" y="3383280"/>
            <a:ext cx="2606040" cy="1051560"/>
          </a:xfrm>
          <a:prstGeom prst="roundRect">
            <a:avLst>
              <a:gd name="adj" fmla="val 608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0" name="Shape 24"/>
          <p:cNvSpPr/>
          <p:nvPr/>
        </p:nvSpPr>
        <p:spPr>
          <a:xfrm>
            <a:off x="594360" y="3657600"/>
            <a:ext cx="502920" cy="502920"/>
          </a:xfrm>
          <a:prstGeom prst="roundRect">
            <a:avLst>
              <a:gd name="adj" fmla="val 22000"/>
            </a:avLst>
          </a:prstGeom>
          <a:solidFill>
            <a:srgbClr val="2F5BFF"/>
          </a:solidFill>
          <a:ln w="12700">
            <a:solidFill>
              <a:srgbClr val="2F5BFF"/>
            </a:solidFill>
            <a:prstDash val="solid"/>
          </a:ln>
        </p:spPr>
      </p:sp>
      <p:pic>
        <p:nvPicPr>
          <p:cNvPr id="31" name="Image 3" descr="preencoded.png"/>
          <p:cNvPicPr>
            <a:picLocks noChangeAspect="1"/>
          </p:cNvPicPr>
          <p:nvPr/>
        </p:nvPicPr>
        <p:blipFill>
          <a:blip r:embed="rId6"/>
          <a:stretch>
            <a:fillRect/>
          </a:stretch>
        </p:blipFill>
        <p:spPr>
          <a:xfrm>
            <a:off x="715061" y="3778301"/>
            <a:ext cx="261518" cy="261518"/>
          </a:xfrm>
          <a:prstGeom prst="rect">
            <a:avLst/>
          </a:prstGeom>
        </p:spPr>
      </p:pic>
      <p:sp>
        <p:nvSpPr>
          <p:cNvPr id="32" name="Text 25"/>
          <p:cNvSpPr txBox="1"/>
          <p:nvPr/>
        </p:nvSpPr>
        <p:spPr>
          <a:xfrm>
            <a:off x="1234440" y="3520440"/>
            <a:ext cx="1737360" cy="320040"/>
          </a:xfrm>
          <a:prstGeom prst="rect">
            <a:avLst/>
          </a:prstGeom>
          <a:noFill/>
          <a:ln/>
        </p:spPr>
        <p:txBody>
          <a:bodyPr wrap="square" lIns="0" tIns="0" rIns="0" bIns="0" rtlCol="0" anchor="t"/>
          <a:lstStyle/>
          <a:p>
            <a:pPr marL="0" indent="0">
              <a:buNone/>
            </a:pPr>
            <a:r>
              <a:rPr lang="en-US" sz="1300" b="1" dirty="0">
                <a:solidFill>
                  <a:srgbClr val="0B1F4B"/>
                </a:solidFill>
              </a:rPr>
              <a:t>Components in Figma</a:t>
            </a:r>
            <a:endParaRPr lang="en-US" sz="1300" dirty="0"/>
          </a:p>
        </p:txBody>
      </p:sp>
      <p:sp>
        <p:nvSpPr>
          <p:cNvPr id="33" name="Text 26"/>
          <p:cNvSpPr txBox="1"/>
          <p:nvPr/>
        </p:nvSpPr>
        <p:spPr>
          <a:xfrm>
            <a:off x="1234440" y="3858768"/>
            <a:ext cx="1737360" cy="548640"/>
          </a:xfrm>
          <a:prstGeom prst="rect">
            <a:avLst/>
          </a:prstGeom>
          <a:noFill/>
          <a:ln/>
        </p:spPr>
        <p:txBody>
          <a:bodyPr wrap="square" lIns="0" tIns="0" rIns="0" bIns="0" rtlCol="0" anchor="t"/>
          <a:lstStyle/>
          <a:p>
            <a:pPr marL="0" indent="0">
              <a:buNone/>
            </a:pPr>
            <a:r>
              <a:rPr lang="en-US" sz="1150" dirty="0">
                <a:solidFill>
                  <a:srgbClr val="6B7280"/>
                </a:solidFill>
              </a:rPr>
              <a:t>Button, input, quantity, badge, toast</a:t>
            </a:r>
            <a:endParaRPr lang="en-US" sz="1150" dirty="0"/>
          </a:p>
        </p:txBody>
      </p:sp>
      <p:sp>
        <p:nvSpPr>
          <p:cNvPr id="34" name="Shape 27"/>
          <p:cNvSpPr/>
          <p:nvPr/>
        </p:nvSpPr>
        <p:spPr>
          <a:xfrm>
            <a:off x="3246120" y="3383280"/>
            <a:ext cx="2606040" cy="1051560"/>
          </a:xfrm>
          <a:prstGeom prst="roundRect">
            <a:avLst>
              <a:gd name="adj" fmla="val 608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35" name="Shape 28"/>
          <p:cNvSpPr/>
          <p:nvPr/>
        </p:nvSpPr>
        <p:spPr>
          <a:xfrm>
            <a:off x="3383280" y="3657600"/>
            <a:ext cx="502920" cy="502920"/>
          </a:xfrm>
          <a:prstGeom prst="roundRect">
            <a:avLst>
              <a:gd name="adj" fmla="val 22000"/>
            </a:avLst>
          </a:prstGeom>
          <a:solidFill>
            <a:srgbClr val="2F5BFF"/>
          </a:solidFill>
          <a:ln w="12700">
            <a:solidFill>
              <a:srgbClr val="2F5BFF"/>
            </a:solidFill>
            <a:prstDash val="solid"/>
          </a:ln>
        </p:spPr>
      </p:sp>
      <p:pic>
        <p:nvPicPr>
          <p:cNvPr id="36" name="Image 4" descr="preencoded.png"/>
          <p:cNvPicPr>
            <a:picLocks noChangeAspect="1"/>
          </p:cNvPicPr>
          <p:nvPr/>
        </p:nvPicPr>
        <p:blipFill>
          <a:blip r:embed="rId7"/>
          <a:stretch>
            <a:fillRect/>
          </a:stretch>
        </p:blipFill>
        <p:spPr>
          <a:xfrm>
            <a:off x="3503981" y="3778301"/>
            <a:ext cx="261518" cy="261518"/>
          </a:xfrm>
          <a:prstGeom prst="rect">
            <a:avLst/>
          </a:prstGeom>
        </p:spPr>
      </p:pic>
      <p:sp>
        <p:nvSpPr>
          <p:cNvPr id="37" name="Text 29"/>
          <p:cNvSpPr txBox="1"/>
          <p:nvPr/>
        </p:nvSpPr>
        <p:spPr>
          <a:xfrm>
            <a:off x="4023360" y="3520440"/>
            <a:ext cx="1737360" cy="320040"/>
          </a:xfrm>
          <a:prstGeom prst="rect">
            <a:avLst/>
          </a:prstGeom>
          <a:noFill/>
          <a:ln/>
        </p:spPr>
        <p:txBody>
          <a:bodyPr wrap="square" lIns="0" tIns="0" rIns="0" bIns="0" rtlCol="0" anchor="t"/>
          <a:lstStyle/>
          <a:p>
            <a:pPr marL="0" indent="0">
              <a:buNone/>
            </a:pPr>
            <a:r>
              <a:rPr lang="en-US" sz="1300" b="1" dirty="0">
                <a:solidFill>
                  <a:srgbClr val="0B1F4B"/>
                </a:solidFill>
              </a:rPr>
              <a:t>Type and colour</a:t>
            </a:r>
            <a:endParaRPr lang="en-US" sz="1300" dirty="0"/>
          </a:p>
        </p:txBody>
      </p:sp>
      <p:sp>
        <p:nvSpPr>
          <p:cNvPr id="38" name="Text 30"/>
          <p:cNvSpPr txBox="1"/>
          <p:nvPr/>
        </p:nvSpPr>
        <p:spPr>
          <a:xfrm>
            <a:off x="4023360" y="3858768"/>
            <a:ext cx="1737360" cy="548640"/>
          </a:xfrm>
          <a:prstGeom prst="rect">
            <a:avLst/>
          </a:prstGeom>
          <a:noFill/>
          <a:ln/>
        </p:spPr>
        <p:txBody>
          <a:bodyPr wrap="square" lIns="0" tIns="0" rIns="0" bIns="0" rtlCol="0" anchor="t"/>
          <a:lstStyle/>
          <a:p>
            <a:pPr marL="0" indent="0">
              <a:buNone/>
            </a:pPr>
            <a:r>
              <a:rPr lang="en-US" sz="1150" dirty="0">
                <a:solidFill>
                  <a:srgbClr val="6B7280"/>
                </a:solidFill>
              </a:rPr>
              <a:t>Type scale; contrast check</a:t>
            </a:r>
            <a:endParaRPr lang="en-US" sz="1150" dirty="0"/>
          </a:p>
        </p:txBody>
      </p:sp>
      <p:sp>
        <p:nvSpPr>
          <p:cNvPr id="39" name="Shape 31"/>
          <p:cNvSpPr/>
          <p:nvPr/>
        </p:nvSpPr>
        <p:spPr>
          <a:xfrm>
            <a:off x="6035040" y="3383280"/>
            <a:ext cx="2606040" cy="1051560"/>
          </a:xfrm>
          <a:prstGeom prst="roundRect">
            <a:avLst>
              <a:gd name="adj" fmla="val 6087"/>
            </a:avLst>
          </a:prstGeom>
          <a:solidFill>
            <a:srgbClr val="FFFFFF"/>
          </a:solidFill>
          <a:ln w="9525">
            <a:solidFill>
              <a:srgbClr val="DDE3F0"/>
            </a:solidFill>
            <a:prstDash val="solid"/>
          </a:ln>
          <a:effectLst>
            <a:outerShdw blurRad="101600" dist="25400" dir="5400000" algn="bl" rotWithShape="0">
              <a:srgbClr val="000000">
                <a:alpha val="14000"/>
              </a:srgbClr>
            </a:outerShdw>
          </a:effectLst>
        </p:spPr>
      </p:sp>
      <p:sp>
        <p:nvSpPr>
          <p:cNvPr id="40" name="Shape 32"/>
          <p:cNvSpPr/>
          <p:nvPr/>
        </p:nvSpPr>
        <p:spPr>
          <a:xfrm>
            <a:off x="6172200" y="3657600"/>
            <a:ext cx="502920" cy="502920"/>
          </a:xfrm>
          <a:prstGeom prst="roundRect">
            <a:avLst>
              <a:gd name="adj" fmla="val 22000"/>
            </a:avLst>
          </a:prstGeom>
          <a:solidFill>
            <a:srgbClr val="2F5BFF"/>
          </a:solidFill>
          <a:ln w="12700">
            <a:solidFill>
              <a:srgbClr val="2F5BFF"/>
            </a:solidFill>
            <a:prstDash val="solid"/>
          </a:ln>
        </p:spPr>
      </p:sp>
      <p:pic>
        <p:nvPicPr>
          <p:cNvPr id="41" name="Image 5" descr="preencoded.png"/>
          <p:cNvPicPr>
            <a:picLocks noChangeAspect="1"/>
          </p:cNvPicPr>
          <p:nvPr/>
        </p:nvPicPr>
        <p:blipFill>
          <a:blip r:embed="rId8"/>
          <a:stretch>
            <a:fillRect/>
          </a:stretch>
        </p:blipFill>
        <p:spPr>
          <a:xfrm>
            <a:off x="6292901" y="3778301"/>
            <a:ext cx="261518" cy="261518"/>
          </a:xfrm>
          <a:prstGeom prst="rect">
            <a:avLst/>
          </a:prstGeom>
        </p:spPr>
      </p:pic>
      <p:sp>
        <p:nvSpPr>
          <p:cNvPr id="42" name="Text 33"/>
          <p:cNvSpPr txBox="1"/>
          <p:nvPr/>
        </p:nvSpPr>
        <p:spPr>
          <a:xfrm>
            <a:off x="6812280" y="3520440"/>
            <a:ext cx="1737360" cy="320040"/>
          </a:xfrm>
          <a:prstGeom prst="rect">
            <a:avLst/>
          </a:prstGeom>
          <a:noFill/>
          <a:ln/>
        </p:spPr>
        <p:txBody>
          <a:bodyPr wrap="square" lIns="0" tIns="0" rIns="0" bIns="0" rtlCol="0" anchor="t"/>
          <a:lstStyle/>
          <a:p>
            <a:pPr marL="0" indent="0">
              <a:buNone/>
            </a:pPr>
            <a:r>
              <a:rPr lang="en-US" sz="1300" b="1" dirty="0">
                <a:solidFill>
                  <a:srgbClr val="0B1F4B"/>
                </a:solidFill>
              </a:rPr>
              <a:t>Documentation</a:t>
            </a:r>
            <a:endParaRPr lang="en-US" sz="1300" dirty="0"/>
          </a:p>
        </p:txBody>
      </p:sp>
      <p:sp>
        <p:nvSpPr>
          <p:cNvPr id="43" name="Text 34"/>
          <p:cNvSpPr txBox="1"/>
          <p:nvPr/>
        </p:nvSpPr>
        <p:spPr>
          <a:xfrm>
            <a:off x="6812280" y="3858768"/>
            <a:ext cx="1737360" cy="548640"/>
          </a:xfrm>
          <a:prstGeom prst="rect">
            <a:avLst/>
          </a:prstGeom>
          <a:noFill/>
          <a:ln/>
        </p:spPr>
        <p:txBody>
          <a:bodyPr wrap="square" lIns="0" tIns="0" rIns="0" bIns="0" rtlCol="0" anchor="t"/>
          <a:lstStyle/>
          <a:p>
            <a:pPr marL="0" indent="0">
              <a:buNone/>
            </a:pPr>
            <a:r>
              <a:rPr lang="en-US" sz="1150" dirty="0">
                <a:solidFill>
                  <a:srgbClr val="6B7280"/>
                </a:solidFill>
              </a:rPr>
              <a:t>Requirements, state table, checklist</a:t>
            </a:r>
            <a:endParaRPr lang="en-US" sz="1150" dirty="0"/>
          </a:p>
        </p:txBody>
      </p:sp>
      <p:sp>
        <p:nvSpPr>
          <p:cNvPr id="44" name="Text 35"/>
          <p:cNvSpPr txBox="1"/>
          <p:nvPr/>
        </p:nvSpPr>
        <p:spPr>
          <a:xfrm>
            <a:off x="457200" y="4553712"/>
            <a:ext cx="8229600" cy="182880"/>
          </a:xfrm>
          <a:prstGeom prst="rect">
            <a:avLst/>
          </a:prstGeom>
          <a:noFill/>
          <a:ln/>
        </p:spPr>
        <p:txBody>
          <a:bodyPr wrap="square" lIns="0" tIns="0" rIns="0" bIns="0" rtlCol="0" anchor="t"/>
          <a:lstStyle/>
          <a:p>
            <a:pPr marL="0" indent="0">
              <a:buNone/>
            </a:pPr>
            <a:r>
              <a:rPr lang="en-US" sz="950" dirty="0">
                <a:solidFill>
                  <a:srgbClr val="6B7280"/>
                </a:solidFill>
              </a:rPr>
              <a:t>Documented in my internship report; skills are concept- and documentation-based, with no formal testing.</a:t>
            </a:r>
            <a:endParaRPr lang="en-US" sz="950" dirty="0"/>
          </a:p>
        </p:txBody>
      </p:sp>
      <p:sp>
        <p:nvSpPr>
          <p:cNvPr id="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0B1F4B"/>
                </a:solidFill>
              </a:defRPr>
            </a:lvl1pPr>
          </a:lstStyle>
          <a:p>
            <a:pPr algn="r"/>
            <a:fld id="{F7021451-1387-4CA6-816F-3879F97B5CBC}" type="slidenum">
              <a:rPr lang="en-US" b="1"/>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Shape 0"/>
          <p:cNvSpPr/>
          <p:nvPr/>
        </p:nvSpPr>
        <p:spPr>
          <a:xfrm>
            <a:off x="0" y="0"/>
            <a:ext cx="109728" cy="5143500"/>
          </a:xfrm>
          <a:prstGeom prst="rect">
            <a:avLst/>
          </a:prstGeom>
          <a:solidFill>
            <a:srgbClr val="2F5BFF"/>
          </a:solidFill>
          <a:ln w="12700">
            <a:solidFill>
              <a:srgbClr val="2F5BFF"/>
            </a:solidFill>
            <a:prstDash val="solid"/>
          </a:ln>
        </p:spPr>
      </p:sp>
      <p:sp>
        <p:nvSpPr>
          <p:cNvPr id="4"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100" b="1" kern="0" spc="200" dirty="0">
                <a:solidFill>
                  <a:srgbClr val="9DB4F5"/>
                </a:solidFill>
              </a:rPr>
              <a:t>CONCLUSION</a:t>
            </a:r>
            <a:endParaRPr lang="en-US" sz="1100" dirty="0"/>
          </a:p>
        </p:txBody>
      </p:sp>
      <p:sp>
        <p:nvSpPr>
          <p:cNvPr id="5" name="Text 2"/>
          <p:cNvSpPr txBox="1"/>
          <p:nvPr/>
        </p:nvSpPr>
        <p:spPr>
          <a:xfrm>
            <a:off x="548640" y="822960"/>
            <a:ext cx="4114800" cy="822960"/>
          </a:xfrm>
          <a:prstGeom prst="rect">
            <a:avLst/>
          </a:prstGeom>
          <a:noFill/>
          <a:ln/>
        </p:spPr>
        <p:txBody>
          <a:bodyPr wrap="square" lIns="0" tIns="0" rIns="0" bIns="0" rtlCol="0" anchor="t"/>
          <a:lstStyle/>
          <a:p>
            <a:pPr marL="0" indent="0">
              <a:buNone/>
            </a:pPr>
            <a:r>
              <a:rPr lang="en-US" sz="4200" b="1" dirty="0">
                <a:solidFill>
                  <a:srgbClr val="FFFFFF"/>
                </a:solidFill>
                <a:latin typeface="Georgia" pitchFamily="34" charset="0"/>
                <a:ea typeface="Georgia" pitchFamily="34" charset="-122"/>
                <a:cs typeface="Georgia" pitchFamily="34" charset="-120"/>
              </a:rPr>
              <a:t>Thank You</a:t>
            </a:r>
            <a:endParaRPr lang="en-US" sz="4200" dirty="0"/>
          </a:p>
        </p:txBody>
      </p:sp>
      <p:sp>
        <p:nvSpPr>
          <p:cNvPr id="6" name="Shape 3"/>
          <p:cNvSpPr/>
          <p:nvPr/>
        </p:nvSpPr>
        <p:spPr>
          <a:xfrm>
            <a:off x="548640" y="1828800"/>
            <a:ext cx="411480" cy="411480"/>
          </a:xfrm>
          <a:prstGeom prst="roundRect">
            <a:avLst>
              <a:gd name="adj" fmla="val 22000"/>
            </a:avLst>
          </a:prstGeom>
          <a:solidFill>
            <a:srgbClr val="2A3F85"/>
          </a:solidFill>
          <a:ln w="12700">
            <a:solidFill>
              <a:srgbClr val="2A3F85"/>
            </a:solidFill>
            <a:prstDash val="solid"/>
          </a:ln>
        </p:spPr>
      </p:sp>
      <p:pic>
        <p:nvPicPr>
          <p:cNvPr id="7" name="Image 0" descr="preencoded.png"/>
          <p:cNvPicPr>
            <a:picLocks noChangeAspect="1"/>
          </p:cNvPicPr>
          <p:nvPr/>
        </p:nvPicPr>
        <p:blipFill>
          <a:blip r:embed="rId3"/>
          <a:stretch>
            <a:fillRect/>
          </a:stretch>
        </p:blipFill>
        <p:spPr>
          <a:xfrm>
            <a:off x="647395" y="1927555"/>
            <a:ext cx="213970" cy="213970"/>
          </a:xfrm>
          <a:prstGeom prst="rect">
            <a:avLst/>
          </a:prstGeom>
        </p:spPr>
      </p:pic>
      <p:sp>
        <p:nvSpPr>
          <p:cNvPr id="8" name="Text 4"/>
          <p:cNvSpPr txBox="1"/>
          <p:nvPr/>
        </p:nvSpPr>
        <p:spPr>
          <a:xfrm>
            <a:off x="1097280" y="1828800"/>
            <a:ext cx="3474720" cy="411480"/>
          </a:xfrm>
          <a:prstGeom prst="rect">
            <a:avLst/>
          </a:prstGeom>
          <a:noFill/>
          <a:ln/>
        </p:spPr>
        <p:txBody>
          <a:bodyPr wrap="square" lIns="0" tIns="0" rIns="0" bIns="0" rtlCol="0" anchor="ctr"/>
          <a:lstStyle/>
          <a:p>
            <a:pPr marL="0" indent="0">
              <a:buNone/>
            </a:pPr>
            <a:r>
              <a:rPr lang="en-US" sz="1250" dirty="0">
                <a:solidFill>
                  <a:srgbClr val="DCE4FA"/>
                </a:solidFill>
              </a:rPr>
              <a:t>A one-month UI/UX internship at Astonish InfoTech</a:t>
            </a:r>
            <a:endParaRPr lang="en-US" sz="1250" dirty="0"/>
          </a:p>
        </p:txBody>
      </p:sp>
      <p:sp>
        <p:nvSpPr>
          <p:cNvPr id="9" name="Shape 5"/>
          <p:cNvSpPr/>
          <p:nvPr/>
        </p:nvSpPr>
        <p:spPr>
          <a:xfrm>
            <a:off x="548640" y="2468880"/>
            <a:ext cx="411480" cy="411480"/>
          </a:xfrm>
          <a:prstGeom prst="roundRect">
            <a:avLst>
              <a:gd name="adj" fmla="val 22000"/>
            </a:avLst>
          </a:prstGeom>
          <a:solidFill>
            <a:srgbClr val="2A3F85"/>
          </a:solidFill>
          <a:ln w="12700">
            <a:solidFill>
              <a:srgbClr val="2A3F85"/>
            </a:solidFill>
            <a:prstDash val="solid"/>
          </a:ln>
        </p:spPr>
      </p:sp>
      <p:pic>
        <p:nvPicPr>
          <p:cNvPr id="10" name="Image 1" descr="preencoded.png"/>
          <p:cNvPicPr>
            <a:picLocks noChangeAspect="1"/>
          </p:cNvPicPr>
          <p:nvPr/>
        </p:nvPicPr>
        <p:blipFill>
          <a:blip r:embed="rId4"/>
          <a:stretch>
            <a:fillRect/>
          </a:stretch>
        </p:blipFill>
        <p:spPr>
          <a:xfrm>
            <a:off x="647395" y="2567635"/>
            <a:ext cx="213970" cy="213970"/>
          </a:xfrm>
          <a:prstGeom prst="rect">
            <a:avLst/>
          </a:prstGeom>
        </p:spPr>
      </p:pic>
      <p:sp>
        <p:nvSpPr>
          <p:cNvPr id="11" name="Text 6"/>
          <p:cNvSpPr txBox="1"/>
          <p:nvPr/>
        </p:nvSpPr>
        <p:spPr>
          <a:xfrm>
            <a:off x="1097280" y="2468880"/>
            <a:ext cx="3474720" cy="411480"/>
          </a:xfrm>
          <a:prstGeom prst="rect">
            <a:avLst/>
          </a:prstGeom>
          <a:noFill/>
          <a:ln/>
        </p:spPr>
        <p:txBody>
          <a:bodyPr wrap="square" lIns="0" tIns="0" rIns="0" bIns="0" rtlCol="0" anchor="ctr"/>
          <a:lstStyle/>
          <a:p>
            <a:pPr marL="0" indent="0">
              <a:buNone/>
            </a:pPr>
            <a:r>
              <a:rPr lang="en-US" sz="1250" dirty="0">
                <a:solidFill>
                  <a:srgbClr val="DCE4FA"/>
                </a:solidFill>
              </a:rPr>
              <a:t>ShopEase: a planned e-commerce interface concept</a:t>
            </a:r>
            <a:endParaRPr lang="en-US" sz="1250" dirty="0"/>
          </a:p>
        </p:txBody>
      </p:sp>
      <p:sp>
        <p:nvSpPr>
          <p:cNvPr id="12" name="Shape 7"/>
          <p:cNvSpPr/>
          <p:nvPr/>
        </p:nvSpPr>
        <p:spPr>
          <a:xfrm>
            <a:off x="548640" y="3108960"/>
            <a:ext cx="411480" cy="411480"/>
          </a:xfrm>
          <a:prstGeom prst="roundRect">
            <a:avLst>
              <a:gd name="adj" fmla="val 22000"/>
            </a:avLst>
          </a:prstGeom>
          <a:solidFill>
            <a:srgbClr val="2A3F85"/>
          </a:solidFill>
          <a:ln w="12700">
            <a:solidFill>
              <a:srgbClr val="2A3F85"/>
            </a:solidFill>
            <a:prstDash val="solid"/>
          </a:ln>
        </p:spPr>
      </p:sp>
      <p:pic>
        <p:nvPicPr>
          <p:cNvPr id="13" name="Image 2" descr="preencoded.png"/>
          <p:cNvPicPr>
            <a:picLocks noChangeAspect="1"/>
          </p:cNvPicPr>
          <p:nvPr/>
        </p:nvPicPr>
        <p:blipFill>
          <a:blip r:embed="rId5"/>
          <a:stretch>
            <a:fillRect/>
          </a:stretch>
        </p:blipFill>
        <p:spPr>
          <a:xfrm>
            <a:off x="647395" y="3207715"/>
            <a:ext cx="213970" cy="213970"/>
          </a:xfrm>
          <a:prstGeom prst="rect">
            <a:avLst/>
          </a:prstGeom>
        </p:spPr>
      </p:pic>
      <p:sp>
        <p:nvSpPr>
          <p:cNvPr id="14" name="Text 8"/>
          <p:cNvSpPr txBox="1"/>
          <p:nvPr/>
        </p:nvSpPr>
        <p:spPr>
          <a:xfrm>
            <a:off x="1097280" y="3108960"/>
            <a:ext cx="3474720" cy="411480"/>
          </a:xfrm>
          <a:prstGeom prst="rect">
            <a:avLst/>
          </a:prstGeom>
          <a:noFill/>
          <a:ln/>
        </p:spPr>
        <p:txBody>
          <a:bodyPr wrap="square" lIns="0" tIns="0" rIns="0" bIns="0" rtlCol="0" anchor="ctr"/>
          <a:lstStyle/>
          <a:p>
            <a:pPr marL="0" indent="0">
              <a:buNone/>
            </a:pPr>
            <a:r>
              <a:rPr lang="en-US" sz="1250" dirty="0">
                <a:solidFill>
                  <a:srgbClr val="DCE4FA"/>
                </a:solidFill>
              </a:rPr>
              <a:t>Design fundamentals and documentation skills gained</a:t>
            </a:r>
            <a:endParaRPr lang="en-US" sz="1250" dirty="0"/>
          </a:p>
        </p:txBody>
      </p:sp>
      <p:sp>
        <p:nvSpPr>
          <p:cNvPr id="15" name="Text 9"/>
          <p:cNvSpPr txBox="1"/>
          <p:nvPr/>
        </p:nvSpPr>
        <p:spPr>
          <a:xfrm>
            <a:off x="548640" y="3840480"/>
            <a:ext cx="4023360" cy="548640"/>
          </a:xfrm>
          <a:prstGeom prst="rect">
            <a:avLst/>
          </a:prstGeom>
          <a:noFill/>
          <a:ln/>
        </p:spPr>
        <p:txBody>
          <a:bodyPr wrap="square" lIns="0" tIns="0" rIns="0" bIns="0" rtlCol="0" anchor="t"/>
          <a:lstStyle/>
          <a:p>
            <a:pPr marL="0" indent="0">
              <a:buNone/>
            </a:pPr>
            <a:r>
              <a:rPr lang="en-US" sz="1150" dirty="0">
                <a:solidFill>
                  <a:srgbClr val="8FA3DC"/>
                </a:solidFill>
              </a:rPr>
              <a:t>Thank you to Astonish InfoTech Private Limited and the faculty of the Department of Information Technology.</a:t>
            </a:r>
            <a:endParaRPr lang="en-US" sz="1150" dirty="0"/>
          </a:p>
        </p:txBody>
      </p:sp>
      <p:sp>
        <p:nvSpPr>
          <p:cNvPr id="16" name="Text 10"/>
          <p:cNvSpPr txBox="1"/>
          <p:nvPr/>
        </p:nvSpPr>
        <p:spPr>
          <a:xfrm>
            <a:off x="548640" y="4434840"/>
            <a:ext cx="2743200" cy="274320"/>
          </a:xfrm>
          <a:prstGeom prst="rect">
            <a:avLst/>
          </a:prstGeom>
          <a:noFill/>
          <a:ln/>
        </p:spPr>
        <p:txBody>
          <a:bodyPr wrap="square" lIns="0" tIns="0" rIns="0" bIns="0" rtlCol="0" anchor="t"/>
          <a:lstStyle/>
          <a:p>
            <a:pPr marL="0" indent="0">
              <a:buNone/>
            </a:pPr>
            <a:r>
              <a:rPr lang="en-US" sz="1400" b="1" dirty="0">
                <a:solidFill>
                  <a:srgbClr val="FFFFFF"/>
                </a:solidFill>
              </a:rPr>
              <a:t>NIRANJAN</a:t>
            </a:r>
            <a:endParaRPr lang="en-US" sz="1400" dirty="0"/>
          </a:p>
        </p:txBody>
      </p:sp>
      <p:sp>
        <p:nvSpPr>
          <p:cNvPr id="17" name="Shape 11"/>
          <p:cNvSpPr/>
          <p:nvPr/>
        </p:nvSpPr>
        <p:spPr>
          <a:xfrm>
            <a:off x="4663440" y="822960"/>
            <a:ext cx="3657600" cy="2926080"/>
          </a:xfrm>
          <a:prstGeom prst="roundRect">
            <a:avLst>
              <a:gd name="adj" fmla="val 938"/>
            </a:avLst>
          </a:prstGeom>
          <a:solidFill>
            <a:srgbClr val="FFFFFF"/>
          </a:solidFill>
          <a:ln w="9525">
            <a:solidFill>
              <a:srgbClr val="CBD5E1"/>
            </a:solidFill>
            <a:prstDash val="solid"/>
          </a:ln>
          <a:effectLst>
            <a:outerShdw blurRad="101600" dist="25400" dir="5400000" algn="bl" rotWithShape="0">
              <a:srgbClr val="000000">
                <a:alpha val="14000"/>
              </a:srgbClr>
            </a:outerShdw>
          </a:effectLst>
        </p:spPr>
      </p:sp>
      <p:sp>
        <p:nvSpPr>
          <p:cNvPr id="18" name="Shape 12"/>
          <p:cNvSpPr/>
          <p:nvPr/>
        </p:nvSpPr>
        <p:spPr>
          <a:xfrm>
            <a:off x="4663440" y="822960"/>
            <a:ext cx="3657600" cy="292608"/>
          </a:xfrm>
          <a:prstGeom prst="rect">
            <a:avLst/>
          </a:prstGeom>
          <a:solidFill>
            <a:srgbClr val="0B1F4B"/>
          </a:solidFill>
          <a:ln w="12700">
            <a:solidFill>
              <a:srgbClr val="0B1F4B"/>
            </a:solidFill>
            <a:prstDash val="solid"/>
          </a:ln>
        </p:spPr>
      </p:sp>
      <p:sp>
        <p:nvSpPr>
          <p:cNvPr id="19" name="Text 13"/>
          <p:cNvSpPr txBox="1"/>
          <p:nvPr/>
        </p:nvSpPr>
        <p:spPr>
          <a:xfrm>
            <a:off x="4809744" y="822960"/>
            <a:ext cx="731520" cy="292608"/>
          </a:xfrm>
          <a:prstGeom prst="rect">
            <a:avLst/>
          </a:prstGeom>
          <a:noFill/>
          <a:ln/>
        </p:spPr>
        <p:txBody>
          <a:bodyPr wrap="square" lIns="0" tIns="0" rIns="0" bIns="0" rtlCol="0" anchor="ctr"/>
          <a:lstStyle/>
          <a:p>
            <a:pPr marL="0" indent="0">
              <a:buNone/>
            </a:pPr>
            <a:r>
              <a:rPr lang="en-US" sz="1050" b="1" dirty="0">
                <a:solidFill>
                  <a:srgbClr val="FFFFFF"/>
                </a:solidFill>
                <a:latin typeface="Georgia" pitchFamily="34" charset="0"/>
                <a:ea typeface="Georgia" pitchFamily="34" charset="-122"/>
                <a:cs typeface="Georgia" pitchFamily="34" charset="-120"/>
              </a:rPr>
              <a:t>ShopEase</a:t>
            </a:r>
            <a:endParaRPr lang="en-US" sz="1050" dirty="0"/>
          </a:p>
        </p:txBody>
      </p:sp>
      <p:sp>
        <p:nvSpPr>
          <p:cNvPr id="20" name="Text 14"/>
          <p:cNvSpPr txBox="1"/>
          <p:nvPr/>
        </p:nvSpPr>
        <p:spPr>
          <a:xfrm>
            <a:off x="5577840" y="822960"/>
            <a:ext cx="475488" cy="292608"/>
          </a:xfrm>
          <a:prstGeom prst="rect">
            <a:avLst/>
          </a:prstGeom>
          <a:noFill/>
          <a:ln/>
        </p:spPr>
        <p:txBody>
          <a:bodyPr wrap="square" lIns="0" tIns="0" rIns="0" bIns="0" rtlCol="0" anchor="ctr"/>
          <a:lstStyle/>
          <a:p>
            <a:pPr marL="0" indent="0">
              <a:buNone/>
            </a:pPr>
            <a:r>
              <a:rPr lang="en-US" sz="650" dirty="0">
                <a:solidFill>
                  <a:srgbClr val="C7D2FE"/>
                </a:solidFill>
              </a:rPr>
              <a:t>Home</a:t>
            </a:r>
            <a:endParaRPr lang="en-US" sz="650" dirty="0"/>
          </a:p>
        </p:txBody>
      </p:sp>
      <p:sp>
        <p:nvSpPr>
          <p:cNvPr id="21" name="Text 15"/>
          <p:cNvSpPr txBox="1"/>
          <p:nvPr/>
        </p:nvSpPr>
        <p:spPr>
          <a:xfrm>
            <a:off x="5961888" y="822960"/>
            <a:ext cx="475488" cy="292608"/>
          </a:xfrm>
          <a:prstGeom prst="rect">
            <a:avLst/>
          </a:prstGeom>
          <a:noFill/>
          <a:ln/>
        </p:spPr>
        <p:txBody>
          <a:bodyPr wrap="square" lIns="0" tIns="0" rIns="0" bIns="0" rtlCol="0" anchor="ctr"/>
          <a:lstStyle/>
          <a:p>
            <a:pPr marL="0" indent="0">
              <a:buNone/>
            </a:pPr>
            <a:r>
              <a:rPr lang="en-US" sz="650" dirty="0">
                <a:solidFill>
                  <a:srgbClr val="C7D2FE"/>
                </a:solidFill>
              </a:rPr>
              <a:t>Categories</a:t>
            </a:r>
            <a:endParaRPr lang="en-US" sz="650" dirty="0"/>
          </a:p>
        </p:txBody>
      </p:sp>
      <p:sp>
        <p:nvSpPr>
          <p:cNvPr id="22" name="Text 16"/>
          <p:cNvSpPr txBox="1"/>
          <p:nvPr/>
        </p:nvSpPr>
        <p:spPr>
          <a:xfrm>
            <a:off x="6345936" y="822960"/>
            <a:ext cx="475488" cy="292608"/>
          </a:xfrm>
          <a:prstGeom prst="rect">
            <a:avLst/>
          </a:prstGeom>
          <a:noFill/>
          <a:ln/>
        </p:spPr>
        <p:txBody>
          <a:bodyPr wrap="square" lIns="0" tIns="0" rIns="0" bIns="0" rtlCol="0" anchor="ctr"/>
          <a:lstStyle/>
          <a:p>
            <a:pPr marL="0" indent="0">
              <a:buNone/>
            </a:pPr>
            <a:r>
              <a:rPr lang="en-US" sz="650" dirty="0">
                <a:solidFill>
                  <a:srgbClr val="C7D2FE"/>
                </a:solidFill>
              </a:rPr>
              <a:t>Deals</a:t>
            </a:r>
            <a:endParaRPr lang="en-US" sz="650" dirty="0"/>
          </a:p>
        </p:txBody>
      </p:sp>
      <p:sp>
        <p:nvSpPr>
          <p:cNvPr id="23" name="Text 17"/>
          <p:cNvSpPr txBox="1"/>
          <p:nvPr/>
        </p:nvSpPr>
        <p:spPr>
          <a:xfrm>
            <a:off x="6729984" y="822960"/>
            <a:ext cx="475488" cy="292608"/>
          </a:xfrm>
          <a:prstGeom prst="rect">
            <a:avLst/>
          </a:prstGeom>
          <a:noFill/>
          <a:ln/>
        </p:spPr>
        <p:txBody>
          <a:bodyPr wrap="square" lIns="0" tIns="0" rIns="0" bIns="0" rtlCol="0" anchor="ctr"/>
          <a:lstStyle/>
          <a:p>
            <a:pPr marL="0" indent="0">
              <a:buNone/>
            </a:pPr>
            <a:r>
              <a:rPr lang="en-US" sz="650" dirty="0">
                <a:solidFill>
                  <a:srgbClr val="C7D2FE"/>
                </a:solidFill>
              </a:rPr>
              <a:t>New</a:t>
            </a:r>
            <a:endParaRPr lang="en-US" sz="650" dirty="0"/>
          </a:p>
        </p:txBody>
      </p:sp>
      <p:sp>
        <p:nvSpPr>
          <p:cNvPr id="24" name="Shape 18"/>
          <p:cNvSpPr/>
          <p:nvPr/>
        </p:nvSpPr>
        <p:spPr>
          <a:xfrm>
            <a:off x="7077456" y="901964"/>
            <a:ext cx="841248" cy="134600"/>
          </a:xfrm>
          <a:prstGeom prst="roundRect">
            <a:avLst>
              <a:gd name="adj" fmla="val 20380"/>
            </a:avLst>
          </a:prstGeom>
          <a:solidFill>
            <a:srgbClr val="FFFFFF"/>
          </a:solidFill>
          <a:ln w="12700">
            <a:solidFill>
              <a:srgbClr val="FFFFFF"/>
            </a:solidFill>
            <a:prstDash val="solid"/>
          </a:ln>
        </p:spPr>
      </p:sp>
      <p:sp>
        <p:nvSpPr>
          <p:cNvPr id="25" name="Text 19"/>
          <p:cNvSpPr txBox="1"/>
          <p:nvPr/>
        </p:nvSpPr>
        <p:spPr>
          <a:xfrm>
            <a:off x="7132320" y="901964"/>
            <a:ext cx="731520" cy="134600"/>
          </a:xfrm>
          <a:prstGeom prst="rect">
            <a:avLst/>
          </a:prstGeom>
          <a:noFill/>
          <a:ln/>
        </p:spPr>
        <p:txBody>
          <a:bodyPr wrap="square" lIns="0" tIns="0" rIns="0" bIns="0" rtlCol="0" anchor="ctr"/>
          <a:lstStyle/>
          <a:p>
            <a:pPr marL="0" indent="0">
              <a:buNone/>
            </a:pPr>
            <a:r>
              <a:rPr lang="en-US" sz="700" dirty="0">
                <a:solidFill>
                  <a:srgbClr val="6B7280"/>
                </a:solidFill>
              </a:rPr>
              <a:t>Search products</a:t>
            </a:r>
            <a:endParaRPr lang="en-US" sz="700" dirty="0"/>
          </a:p>
        </p:txBody>
      </p:sp>
      <p:sp>
        <p:nvSpPr>
          <p:cNvPr id="26" name="Shape 20"/>
          <p:cNvSpPr/>
          <p:nvPr/>
        </p:nvSpPr>
        <p:spPr>
          <a:xfrm>
            <a:off x="8028432" y="910742"/>
            <a:ext cx="117043" cy="117043"/>
          </a:xfrm>
          <a:prstGeom prst="ellipse">
            <a:avLst/>
          </a:prstGeom>
          <a:solidFill>
            <a:srgbClr val="FFFFFF"/>
          </a:solidFill>
          <a:ln w="12700">
            <a:solidFill>
              <a:srgbClr val="FFFFFF"/>
            </a:solidFill>
            <a:prstDash val="solid"/>
          </a:ln>
        </p:spPr>
      </p:sp>
      <p:sp>
        <p:nvSpPr>
          <p:cNvPr id="27" name="Shape 21"/>
          <p:cNvSpPr/>
          <p:nvPr/>
        </p:nvSpPr>
        <p:spPr>
          <a:xfrm>
            <a:off x="4773168" y="1203350"/>
            <a:ext cx="3438144" cy="877824"/>
          </a:xfrm>
          <a:prstGeom prst="roundRect">
            <a:avLst>
              <a:gd name="adj" fmla="val 4167"/>
            </a:avLst>
          </a:prstGeom>
          <a:solidFill>
            <a:srgbClr val="E6ECFF"/>
          </a:solidFill>
          <a:ln w="12700">
            <a:solidFill>
              <a:srgbClr val="E6ECFF"/>
            </a:solidFill>
            <a:prstDash val="solid"/>
          </a:ln>
        </p:spPr>
      </p:sp>
      <p:sp>
        <p:nvSpPr>
          <p:cNvPr id="28" name="Shape 22"/>
          <p:cNvSpPr/>
          <p:nvPr/>
        </p:nvSpPr>
        <p:spPr>
          <a:xfrm>
            <a:off x="7150608" y="1261872"/>
            <a:ext cx="760781" cy="760781"/>
          </a:xfrm>
          <a:prstGeom prst="ellipse">
            <a:avLst/>
          </a:prstGeom>
          <a:solidFill>
            <a:srgbClr val="2F5BFF">
              <a:alpha val="30000"/>
            </a:srgbClr>
          </a:solidFill>
          <a:ln w="12700">
            <a:solidFill>
              <a:srgbClr val="2F5BFF"/>
            </a:solidFill>
            <a:prstDash val="solid"/>
          </a:ln>
        </p:spPr>
      </p:sp>
      <p:sp>
        <p:nvSpPr>
          <p:cNvPr id="29" name="Shape 23"/>
          <p:cNvSpPr/>
          <p:nvPr/>
        </p:nvSpPr>
        <p:spPr>
          <a:xfrm>
            <a:off x="7516368" y="1408176"/>
            <a:ext cx="585216" cy="585216"/>
          </a:xfrm>
          <a:prstGeom prst="ellipse">
            <a:avLst/>
          </a:prstGeom>
          <a:solidFill>
            <a:srgbClr val="F472B6">
              <a:alpha val="40000"/>
            </a:srgbClr>
          </a:solidFill>
          <a:ln w="12700">
            <a:solidFill>
              <a:srgbClr val="F472B6"/>
            </a:solidFill>
            <a:prstDash val="solid"/>
          </a:ln>
        </p:spPr>
      </p:sp>
      <p:sp>
        <p:nvSpPr>
          <p:cNvPr id="30" name="Text 24"/>
          <p:cNvSpPr txBox="1"/>
          <p:nvPr/>
        </p:nvSpPr>
        <p:spPr>
          <a:xfrm>
            <a:off x="4919472" y="1320394"/>
            <a:ext cx="1828800" cy="351130"/>
          </a:xfrm>
          <a:prstGeom prst="rect">
            <a:avLst/>
          </a:prstGeom>
          <a:noFill/>
          <a:ln/>
        </p:spPr>
        <p:txBody>
          <a:bodyPr wrap="square" lIns="0" tIns="0" rIns="0" bIns="0" rtlCol="0" anchor="t"/>
          <a:lstStyle/>
          <a:p>
            <a:pPr marL="0" indent="0">
              <a:buNone/>
            </a:pPr>
            <a:r>
              <a:rPr lang="en-US" sz="1350" b="1" dirty="0">
                <a:solidFill>
                  <a:srgbClr val="0B1F4B"/>
                </a:solidFill>
                <a:latin typeface="Georgia" pitchFamily="34" charset="0"/>
                <a:ea typeface="Georgia" pitchFamily="34" charset="-122"/>
                <a:cs typeface="Georgia" pitchFamily="34" charset="-120"/>
              </a:rPr>
              <a:t>Find what you need, faster</a:t>
            </a:r>
            <a:endParaRPr lang="en-US" sz="1350" dirty="0"/>
          </a:p>
        </p:txBody>
      </p:sp>
      <p:sp>
        <p:nvSpPr>
          <p:cNvPr id="31" name="Text 25"/>
          <p:cNvSpPr txBox="1"/>
          <p:nvPr/>
        </p:nvSpPr>
        <p:spPr>
          <a:xfrm>
            <a:off x="4919472" y="1700784"/>
            <a:ext cx="1645920" cy="146304"/>
          </a:xfrm>
          <a:prstGeom prst="rect">
            <a:avLst/>
          </a:prstGeom>
          <a:noFill/>
          <a:ln/>
        </p:spPr>
        <p:txBody>
          <a:bodyPr wrap="square" lIns="0" tIns="0" rIns="0" bIns="0" rtlCol="0" anchor="t"/>
          <a:lstStyle/>
          <a:p>
            <a:pPr marL="0" indent="0">
              <a:buNone/>
            </a:pPr>
            <a:r>
              <a:rPr lang="en-US" sz="700" dirty="0">
                <a:solidFill>
                  <a:srgbClr val="6B7280"/>
                </a:solidFill>
              </a:rPr>
              <a:t>Browse categories and compare products with ease.</a:t>
            </a:r>
            <a:endParaRPr lang="en-US" sz="700" dirty="0"/>
          </a:p>
        </p:txBody>
      </p:sp>
      <p:sp>
        <p:nvSpPr>
          <p:cNvPr id="32" name="Shape 26"/>
          <p:cNvSpPr/>
          <p:nvPr/>
        </p:nvSpPr>
        <p:spPr>
          <a:xfrm>
            <a:off x="4919472" y="1861718"/>
            <a:ext cx="621792" cy="160934"/>
          </a:xfrm>
          <a:prstGeom prst="roundRect">
            <a:avLst>
              <a:gd name="adj" fmla="val 17045"/>
            </a:avLst>
          </a:prstGeom>
          <a:solidFill>
            <a:srgbClr val="2F5BFF"/>
          </a:solidFill>
          <a:ln w="12700">
            <a:solidFill>
              <a:srgbClr val="2F5BFF"/>
            </a:solidFill>
            <a:prstDash val="solid"/>
          </a:ln>
        </p:spPr>
      </p:sp>
      <p:sp>
        <p:nvSpPr>
          <p:cNvPr id="33" name="Text 27"/>
          <p:cNvSpPr txBox="1"/>
          <p:nvPr/>
        </p:nvSpPr>
        <p:spPr>
          <a:xfrm>
            <a:off x="4919472" y="1861718"/>
            <a:ext cx="621792" cy="160934"/>
          </a:xfrm>
          <a:prstGeom prst="rect">
            <a:avLst/>
          </a:prstGeom>
          <a:noFill/>
          <a:ln/>
        </p:spPr>
        <p:txBody>
          <a:bodyPr wrap="square" lIns="0" tIns="0" rIns="0" bIns="0" rtlCol="0" anchor="ctr"/>
          <a:lstStyle/>
          <a:p>
            <a:pPr marL="0" indent="0" algn="ctr">
              <a:buNone/>
            </a:pPr>
            <a:r>
              <a:rPr lang="en-US" sz="750" b="1" dirty="0">
                <a:solidFill>
                  <a:srgbClr val="FFFFFF"/>
                </a:solidFill>
              </a:rPr>
              <a:t>Shop now</a:t>
            </a:r>
            <a:endParaRPr lang="en-US" sz="750" dirty="0"/>
          </a:p>
        </p:txBody>
      </p:sp>
      <p:sp>
        <p:nvSpPr>
          <p:cNvPr id="34" name="Text 28"/>
          <p:cNvSpPr txBox="1"/>
          <p:nvPr/>
        </p:nvSpPr>
        <p:spPr>
          <a:xfrm>
            <a:off x="4773168" y="2154326"/>
            <a:ext cx="804672" cy="146304"/>
          </a:xfrm>
          <a:prstGeom prst="rect">
            <a:avLst/>
          </a:prstGeom>
          <a:noFill/>
          <a:ln/>
        </p:spPr>
        <p:txBody>
          <a:bodyPr wrap="square" lIns="0" tIns="0" rIns="0" bIns="0" rtlCol="0" anchor="t"/>
          <a:lstStyle/>
          <a:p>
            <a:pPr marL="0" indent="0" algn="ctr">
              <a:buNone/>
            </a:pPr>
            <a:r>
              <a:rPr lang="en-US" sz="700" dirty="0">
                <a:solidFill>
                  <a:srgbClr val="6B7280"/>
                </a:solidFill>
              </a:rPr>
              <a:t>Free delivery</a:t>
            </a:r>
            <a:endParaRPr lang="en-US" sz="700" dirty="0"/>
          </a:p>
        </p:txBody>
      </p:sp>
      <p:sp>
        <p:nvSpPr>
          <p:cNvPr id="35" name="Text 29"/>
          <p:cNvSpPr txBox="1"/>
          <p:nvPr/>
        </p:nvSpPr>
        <p:spPr>
          <a:xfrm>
            <a:off x="5632704" y="2154326"/>
            <a:ext cx="804672" cy="146304"/>
          </a:xfrm>
          <a:prstGeom prst="rect">
            <a:avLst/>
          </a:prstGeom>
          <a:noFill/>
          <a:ln/>
        </p:spPr>
        <p:txBody>
          <a:bodyPr wrap="square" lIns="0" tIns="0" rIns="0" bIns="0" rtlCol="0" anchor="t"/>
          <a:lstStyle/>
          <a:p>
            <a:pPr marL="0" indent="0" algn="ctr">
              <a:buNone/>
            </a:pPr>
            <a:r>
              <a:rPr lang="en-US" sz="700" dirty="0">
                <a:solidFill>
                  <a:srgbClr val="6B7280"/>
                </a:solidFill>
              </a:rPr>
              <a:t>Easy returns</a:t>
            </a:r>
            <a:endParaRPr lang="en-US" sz="700" dirty="0"/>
          </a:p>
        </p:txBody>
      </p:sp>
      <p:sp>
        <p:nvSpPr>
          <p:cNvPr id="36" name="Text 30"/>
          <p:cNvSpPr txBox="1"/>
          <p:nvPr/>
        </p:nvSpPr>
        <p:spPr>
          <a:xfrm>
            <a:off x="6492240" y="2154326"/>
            <a:ext cx="804672" cy="146304"/>
          </a:xfrm>
          <a:prstGeom prst="rect">
            <a:avLst/>
          </a:prstGeom>
          <a:noFill/>
          <a:ln/>
        </p:spPr>
        <p:txBody>
          <a:bodyPr wrap="square" lIns="0" tIns="0" rIns="0" bIns="0" rtlCol="0" anchor="t"/>
          <a:lstStyle/>
          <a:p>
            <a:pPr marL="0" indent="0" algn="ctr">
              <a:buNone/>
            </a:pPr>
            <a:r>
              <a:rPr lang="en-US" sz="700" dirty="0">
                <a:solidFill>
                  <a:srgbClr val="6B7280"/>
                </a:solidFill>
              </a:rPr>
              <a:t>Secure payment</a:t>
            </a:r>
            <a:endParaRPr lang="en-US" sz="700" dirty="0"/>
          </a:p>
        </p:txBody>
      </p:sp>
      <p:sp>
        <p:nvSpPr>
          <p:cNvPr id="37" name="Text 31"/>
          <p:cNvSpPr txBox="1"/>
          <p:nvPr/>
        </p:nvSpPr>
        <p:spPr>
          <a:xfrm>
            <a:off x="7351776" y="2154326"/>
            <a:ext cx="804672" cy="146304"/>
          </a:xfrm>
          <a:prstGeom prst="rect">
            <a:avLst/>
          </a:prstGeom>
          <a:noFill/>
          <a:ln/>
        </p:spPr>
        <p:txBody>
          <a:bodyPr wrap="square" lIns="0" tIns="0" rIns="0" bIns="0" rtlCol="0" anchor="t"/>
          <a:lstStyle/>
          <a:p>
            <a:pPr marL="0" indent="0" algn="ctr">
              <a:buNone/>
            </a:pPr>
            <a:r>
              <a:rPr lang="en-US" sz="700" dirty="0">
                <a:solidFill>
                  <a:srgbClr val="6B7280"/>
                </a:solidFill>
              </a:rPr>
              <a:t>Support</a:t>
            </a:r>
            <a:endParaRPr lang="en-US" sz="700" dirty="0"/>
          </a:p>
        </p:txBody>
      </p:sp>
      <p:sp>
        <p:nvSpPr>
          <p:cNvPr id="38" name="Text 32"/>
          <p:cNvSpPr txBox="1"/>
          <p:nvPr/>
        </p:nvSpPr>
        <p:spPr>
          <a:xfrm>
            <a:off x="4773168" y="2373782"/>
            <a:ext cx="1828800" cy="146304"/>
          </a:xfrm>
          <a:prstGeom prst="rect">
            <a:avLst/>
          </a:prstGeom>
          <a:noFill/>
          <a:ln/>
        </p:spPr>
        <p:txBody>
          <a:bodyPr wrap="square" lIns="0" tIns="0" rIns="0" bIns="0" rtlCol="0" anchor="t"/>
          <a:lstStyle/>
          <a:p>
            <a:pPr marL="0" indent="0">
              <a:buNone/>
            </a:pPr>
            <a:r>
              <a:rPr lang="en-US" sz="850" b="1" dirty="0">
                <a:solidFill>
                  <a:srgbClr val="0B1F4B"/>
                </a:solidFill>
              </a:rPr>
              <a:t>Shop by category</a:t>
            </a:r>
            <a:endParaRPr lang="en-US" sz="850" dirty="0"/>
          </a:p>
        </p:txBody>
      </p:sp>
      <p:sp>
        <p:nvSpPr>
          <p:cNvPr id="39" name="Shape 33"/>
          <p:cNvSpPr/>
          <p:nvPr/>
        </p:nvSpPr>
        <p:spPr>
          <a:xfrm>
            <a:off x="4773168" y="2563978"/>
            <a:ext cx="822960" cy="292608"/>
          </a:xfrm>
          <a:prstGeom prst="roundRect">
            <a:avLst>
              <a:gd name="adj" fmla="val 9375"/>
            </a:avLst>
          </a:prstGeom>
          <a:solidFill>
            <a:srgbClr val="F4F6FB"/>
          </a:solidFill>
          <a:ln w="9525">
            <a:solidFill>
              <a:srgbClr val="DDE3F0"/>
            </a:solidFill>
            <a:prstDash val="solid"/>
          </a:ln>
        </p:spPr>
      </p:sp>
      <p:sp>
        <p:nvSpPr>
          <p:cNvPr id="40" name="Shape 34"/>
          <p:cNvSpPr/>
          <p:nvPr/>
        </p:nvSpPr>
        <p:spPr>
          <a:xfrm>
            <a:off x="4846320" y="2622499"/>
            <a:ext cx="175565" cy="175565"/>
          </a:xfrm>
          <a:prstGeom prst="ellipse">
            <a:avLst/>
          </a:prstGeom>
          <a:solidFill>
            <a:srgbClr val="C7D2FE"/>
          </a:solidFill>
          <a:ln w="12700">
            <a:solidFill>
              <a:srgbClr val="C7D2FE"/>
            </a:solidFill>
            <a:prstDash val="solid"/>
          </a:ln>
        </p:spPr>
      </p:sp>
      <p:sp>
        <p:nvSpPr>
          <p:cNvPr id="41" name="Text 35"/>
          <p:cNvSpPr txBox="1"/>
          <p:nvPr/>
        </p:nvSpPr>
        <p:spPr>
          <a:xfrm>
            <a:off x="5029200" y="2563978"/>
            <a:ext cx="548640" cy="292608"/>
          </a:xfrm>
          <a:prstGeom prst="rect">
            <a:avLst/>
          </a:prstGeom>
          <a:noFill/>
          <a:ln/>
        </p:spPr>
        <p:txBody>
          <a:bodyPr wrap="square" lIns="0" tIns="0" rIns="0" bIns="0" rtlCol="0" anchor="ctr"/>
          <a:lstStyle/>
          <a:p>
            <a:pPr marL="0" indent="0">
              <a:buNone/>
            </a:pPr>
            <a:r>
              <a:rPr lang="en-US" sz="750" dirty="0">
                <a:solidFill>
                  <a:srgbClr val="1F2937"/>
                </a:solidFill>
              </a:rPr>
              <a:t>Fashion</a:t>
            </a:r>
            <a:endParaRPr lang="en-US" sz="750" dirty="0"/>
          </a:p>
        </p:txBody>
      </p:sp>
      <p:sp>
        <p:nvSpPr>
          <p:cNvPr id="42" name="Shape 36"/>
          <p:cNvSpPr/>
          <p:nvPr/>
        </p:nvSpPr>
        <p:spPr>
          <a:xfrm>
            <a:off x="5660136" y="2563978"/>
            <a:ext cx="822960" cy="292608"/>
          </a:xfrm>
          <a:prstGeom prst="roundRect">
            <a:avLst>
              <a:gd name="adj" fmla="val 9375"/>
            </a:avLst>
          </a:prstGeom>
          <a:solidFill>
            <a:srgbClr val="F4F6FB"/>
          </a:solidFill>
          <a:ln w="9525">
            <a:solidFill>
              <a:srgbClr val="DDE3F0"/>
            </a:solidFill>
            <a:prstDash val="solid"/>
          </a:ln>
        </p:spPr>
      </p:sp>
      <p:sp>
        <p:nvSpPr>
          <p:cNvPr id="43" name="Shape 37"/>
          <p:cNvSpPr/>
          <p:nvPr/>
        </p:nvSpPr>
        <p:spPr>
          <a:xfrm>
            <a:off x="5733288" y="2622499"/>
            <a:ext cx="175565" cy="175565"/>
          </a:xfrm>
          <a:prstGeom prst="ellipse">
            <a:avLst/>
          </a:prstGeom>
          <a:solidFill>
            <a:srgbClr val="FBCFE8"/>
          </a:solidFill>
          <a:ln w="12700">
            <a:solidFill>
              <a:srgbClr val="FBCFE8"/>
            </a:solidFill>
            <a:prstDash val="solid"/>
          </a:ln>
        </p:spPr>
      </p:sp>
      <p:sp>
        <p:nvSpPr>
          <p:cNvPr id="44" name="Text 38"/>
          <p:cNvSpPr txBox="1"/>
          <p:nvPr/>
        </p:nvSpPr>
        <p:spPr>
          <a:xfrm>
            <a:off x="5916168" y="2563978"/>
            <a:ext cx="548640" cy="292608"/>
          </a:xfrm>
          <a:prstGeom prst="rect">
            <a:avLst/>
          </a:prstGeom>
          <a:noFill/>
          <a:ln/>
        </p:spPr>
        <p:txBody>
          <a:bodyPr wrap="square" lIns="0" tIns="0" rIns="0" bIns="0" rtlCol="0" anchor="ctr"/>
          <a:lstStyle/>
          <a:p>
            <a:pPr marL="0" indent="0">
              <a:buNone/>
            </a:pPr>
            <a:r>
              <a:rPr lang="en-US" sz="750" dirty="0">
                <a:solidFill>
                  <a:srgbClr val="1F2937"/>
                </a:solidFill>
              </a:rPr>
              <a:t>Electronics</a:t>
            </a:r>
            <a:endParaRPr lang="en-US" sz="750" dirty="0"/>
          </a:p>
        </p:txBody>
      </p:sp>
      <p:sp>
        <p:nvSpPr>
          <p:cNvPr id="45" name="Shape 39"/>
          <p:cNvSpPr/>
          <p:nvPr/>
        </p:nvSpPr>
        <p:spPr>
          <a:xfrm>
            <a:off x="6547104" y="2563978"/>
            <a:ext cx="822960" cy="292608"/>
          </a:xfrm>
          <a:prstGeom prst="roundRect">
            <a:avLst>
              <a:gd name="adj" fmla="val 9375"/>
            </a:avLst>
          </a:prstGeom>
          <a:solidFill>
            <a:srgbClr val="F4F6FB"/>
          </a:solidFill>
          <a:ln w="9525">
            <a:solidFill>
              <a:srgbClr val="DDE3F0"/>
            </a:solidFill>
            <a:prstDash val="solid"/>
          </a:ln>
        </p:spPr>
      </p:sp>
      <p:sp>
        <p:nvSpPr>
          <p:cNvPr id="46" name="Shape 40"/>
          <p:cNvSpPr/>
          <p:nvPr/>
        </p:nvSpPr>
        <p:spPr>
          <a:xfrm>
            <a:off x="6620256" y="2622499"/>
            <a:ext cx="175565" cy="175565"/>
          </a:xfrm>
          <a:prstGeom prst="ellipse">
            <a:avLst/>
          </a:prstGeom>
          <a:solidFill>
            <a:srgbClr val="BFDBFE"/>
          </a:solidFill>
          <a:ln w="12700">
            <a:solidFill>
              <a:srgbClr val="BFDBFE"/>
            </a:solidFill>
            <a:prstDash val="solid"/>
          </a:ln>
        </p:spPr>
      </p:sp>
      <p:sp>
        <p:nvSpPr>
          <p:cNvPr id="47" name="Text 41"/>
          <p:cNvSpPr txBox="1"/>
          <p:nvPr/>
        </p:nvSpPr>
        <p:spPr>
          <a:xfrm>
            <a:off x="6803136" y="2563978"/>
            <a:ext cx="548640" cy="292608"/>
          </a:xfrm>
          <a:prstGeom prst="rect">
            <a:avLst/>
          </a:prstGeom>
          <a:noFill/>
          <a:ln/>
        </p:spPr>
        <p:txBody>
          <a:bodyPr wrap="square" lIns="0" tIns="0" rIns="0" bIns="0" rtlCol="0" anchor="ctr"/>
          <a:lstStyle/>
          <a:p>
            <a:pPr marL="0" indent="0">
              <a:buNone/>
            </a:pPr>
            <a:r>
              <a:rPr lang="en-US" sz="750" dirty="0">
                <a:solidFill>
                  <a:srgbClr val="1F2937"/>
                </a:solidFill>
              </a:rPr>
              <a:t>Home</a:t>
            </a:r>
            <a:endParaRPr lang="en-US" sz="750" dirty="0"/>
          </a:p>
        </p:txBody>
      </p:sp>
      <p:sp>
        <p:nvSpPr>
          <p:cNvPr id="48" name="Shape 42"/>
          <p:cNvSpPr/>
          <p:nvPr/>
        </p:nvSpPr>
        <p:spPr>
          <a:xfrm>
            <a:off x="7434072" y="2563978"/>
            <a:ext cx="822960" cy="292608"/>
          </a:xfrm>
          <a:prstGeom prst="roundRect">
            <a:avLst>
              <a:gd name="adj" fmla="val 9375"/>
            </a:avLst>
          </a:prstGeom>
          <a:solidFill>
            <a:srgbClr val="F4F6FB"/>
          </a:solidFill>
          <a:ln w="9525">
            <a:solidFill>
              <a:srgbClr val="DDE3F0"/>
            </a:solidFill>
            <a:prstDash val="solid"/>
          </a:ln>
        </p:spPr>
      </p:sp>
      <p:sp>
        <p:nvSpPr>
          <p:cNvPr id="49" name="Shape 43"/>
          <p:cNvSpPr/>
          <p:nvPr/>
        </p:nvSpPr>
        <p:spPr>
          <a:xfrm>
            <a:off x="7507224" y="2622499"/>
            <a:ext cx="175565" cy="175565"/>
          </a:xfrm>
          <a:prstGeom prst="ellipse">
            <a:avLst/>
          </a:prstGeom>
          <a:solidFill>
            <a:srgbClr val="DDD6FE"/>
          </a:solidFill>
          <a:ln w="12700">
            <a:solidFill>
              <a:srgbClr val="DDD6FE"/>
            </a:solidFill>
            <a:prstDash val="solid"/>
          </a:ln>
        </p:spPr>
      </p:sp>
      <p:sp>
        <p:nvSpPr>
          <p:cNvPr id="50" name="Text 44"/>
          <p:cNvSpPr txBox="1"/>
          <p:nvPr/>
        </p:nvSpPr>
        <p:spPr>
          <a:xfrm>
            <a:off x="7690104" y="2563978"/>
            <a:ext cx="548640" cy="292608"/>
          </a:xfrm>
          <a:prstGeom prst="rect">
            <a:avLst/>
          </a:prstGeom>
          <a:noFill/>
          <a:ln/>
        </p:spPr>
        <p:txBody>
          <a:bodyPr wrap="square" lIns="0" tIns="0" rIns="0" bIns="0" rtlCol="0" anchor="ctr"/>
          <a:lstStyle/>
          <a:p>
            <a:pPr marL="0" indent="0">
              <a:buNone/>
            </a:pPr>
            <a:r>
              <a:rPr lang="en-US" sz="750" dirty="0">
                <a:solidFill>
                  <a:srgbClr val="1F2937"/>
                </a:solidFill>
              </a:rPr>
              <a:t>Beauty</a:t>
            </a:r>
            <a:endParaRPr lang="en-US" sz="750" dirty="0"/>
          </a:p>
        </p:txBody>
      </p:sp>
      <p:sp>
        <p:nvSpPr>
          <p:cNvPr id="51" name="Text 45"/>
          <p:cNvSpPr txBox="1"/>
          <p:nvPr/>
        </p:nvSpPr>
        <p:spPr>
          <a:xfrm>
            <a:off x="4773168" y="2944368"/>
            <a:ext cx="1828800" cy="146304"/>
          </a:xfrm>
          <a:prstGeom prst="rect">
            <a:avLst/>
          </a:prstGeom>
          <a:noFill/>
          <a:ln/>
        </p:spPr>
        <p:txBody>
          <a:bodyPr wrap="square" lIns="0" tIns="0" rIns="0" bIns="0" rtlCol="0" anchor="t"/>
          <a:lstStyle/>
          <a:p>
            <a:pPr marL="0" indent="0">
              <a:buNone/>
            </a:pPr>
            <a:r>
              <a:rPr lang="en-US" sz="850" b="1" dirty="0">
                <a:solidFill>
                  <a:srgbClr val="0B1F4B"/>
                </a:solidFill>
              </a:rPr>
              <a:t>Featured products</a:t>
            </a:r>
            <a:endParaRPr lang="en-US" sz="850" dirty="0"/>
          </a:p>
        </p:txBody>
      </p:sp>
      <p:sp>
        <p:nvSpPr>
          <p:cNvPr id="52" name="Shape 46"/>
          <p:cNvSpPr/>
          <p:nvPr/>
        </p:nvSpPr>
        <p:spPr>
          <a:xfrm>
            <a:off x="4773168" y="3119933"/>
            <a:ext cx="822960" cy="292608"/>
          </a:xfrm>
          <a:prstGeom prst="roundRect">
            <a:avLst>
              <a:gd name="adj" fmla="val 9375"/>
            </a:avLst>
          </a:prstGeom>
          <a:solidFill>
            <a:srgbClr val="C7D2FE"/>
          </a:solidFill>
          <a:ln w="12700">
            <a:solidFill>
              <a:srgbClr val="C7D2FE"/>
            </a:solidFill>
            <a:prstDash val="solid"/>
          </a:ln>
        </p:spPr>
      </p:sp>
      <p:sp>
        <p:nvSpPr>
          <p:cNvPr id="53" name="Text 47"/>
          <p:cNvSpPr txBox="1"/>
          <p:nvPr/>
        </p:nvSpPr>
        <p:spPr>
          <a:xfrm>
            <a:off x="4773168" y="3456432"/>
            <a:ext cx="822960" cy="117043"/>
          </a:xfrm>
          <a:prstGeom prst="rect">
            <a:avLst/>
          </a:prstGeom>
          <a:noFill/>
          <a:ln/>
        </p:spPr>
        <p:txBody>
          <a:bodyPr wrap="square" lIns="0" tIns="0" rIns="0" bIns="0" rtlCol="0" anchor="t"/>
          <a:lstStyle/>
          <a:p>
            <a:pPr marL="0" indent="0">
              <a:buNone/>
            </a:pPr>
            <a:r>
              <a:rPr lang="en-US" sz="700" dirty="0">
                <a:solidFill>
                  <a:srgbClr val="1F2937"/>
                </a:solidFill>
              </a:rPr>
              <a:t>Product name</a:t>
            </a:r>
            <a:endParaRPr lang="en-US" sz="700" dirty="0"/>
          </a:p>
        </p:txBody>
      </p:sp>
      <p:sp>
        <p:nvSpPr>
          <p:cNvPr id="54" name="Text 48"/>
          <p:cNvSpPr txBox="1"/>
          <p:nvPr/>
        </p:nvSpPr>
        <p:spPr>
          <a:xfrm>
            <a:off x="4773168" y="3588106"/>
            <a:ext cx="438912" cy="117043"/>
          </a:xfrm>
          <a:prstGeom prst="rect">
            <a:avLst/>
          </a:prstGeom>
          <a:noFill/>
          <a:ln/>
        </p:spPr>
        <p:txBody>
          <a:bodyPr wrap="square" lIns="0" tIns="0" rIns="0" bIns="0" rtlCol="0" anchor="t"/>
          <a:lstStyle/>
          <a:p>
            <a:pPr marL="0" indent="0">
              <a:buNone/>
            </a:pPr>
            <a:r>
              <a:rPr lang="en-US" sz="700" b="1" dirty="0">
                <a:solidFill>
                  <a:srgbClr val="0B1F4B"/>
                </a:solidFill>
              </a:rPr>
              <a:t>₹ Price</a:t>
            </a:r>
            <a:endParaRPr lang="en-US" sz="700" dirty="0"/>
          </a:p>
        </p:txBody>
      </p:sp>
      <p:sp>
        <p:nvSpPr>
          <p:cNvPr id="55" name="Shape 49"/>
          <p:cNvSpPr/>
          <p:nvPr/>
        </p:nvSpPr>
        <p:spPr>
          <a:xfrm>
            <a:off x="5321808" y="3588106"/>
            <a:ext cx="274320" cy="117043"/>
          </a:xfrm>
          <a:prstGeom prst="roundRect">
            <a:avLst>
              <a:gd name="adj" fmla="val 15625"/>
            </a:avLst>
          </a:prstGeom>
          <a:solidFill>
            <a:srgbClr val="2F5BFF"/>
          </a:solidFill>
          <a:ln w="12700">
            <a:solidFill>
              <a:srgbClr val="2F5BFF"/>
            </a:solidFill>
            <a:prstDash val="solid"/>
          </a:ln>
        </p:spPr>
      </p:sp>
      <p:sp>
        <p:nvSpPr>
          <p:cNvPr id="56" name="Shape 50"/>
          <p:cNvSpPr/>
          <p:nvPr/>
        </p:nvSpPr>
        <p:spPr>
          <a:xfrm>
            <a:off x="5660136" y="3119933"/>
            <a:ext cx="822960" cy="292608"/>
          </a:xfrm>
          <a:prstGeom prst="roundRect">
            <a:avLst>
              <a:gd name="adj" fmla="val 9375"/>
            </a:avLst>
          </a:prstGeom>
          <a:solidFill>
            <a:srgbClr val="FBCFE8"/>
          </a:solidFill>
          <a:ln w="12700">
            <a:solidFill>
              <a:srgbClr val="FBCFE8"/>
            </a:solidFill>
            <a:prstDash val="solid"/>
          </a:ln>
        </p:spPr>
      </p:sp>
      <p:sp>
        <p:nvSpPr>
          <p:cNvPr id="57" name="Text 51"/>
          <p:cNvSpPr txBox="1"/>
          <p:nvPr/>
        </p:nvSpPr>
        <p:spPr>
          <a:xfrm>
            <a:off x="5660136" y="3456432"/>
            <a:ext cx="822960" cy="117043"/>
          </a:xfrm>
          <a:prstGeom prst="rect">
            <a:avLst/>
          </a:prstGeom>
          <a:noFill/>
          <a:ln/>
        </p:spPr>
        <p:txBody>
          <a:bodyPr wrap="square" lIns="0" tIns="0" rIns="0" bIns="0" rtlCol="0" anchor="t"/>
          <a:lstStyle/>
          <a:p>
            <a:pPr marL="0" indent="0">
              <a:buNone/>
            </a:pPr>
            <a:r>
              <a:rPr lang="en-US" sz="700" dirty="0">
                <a:solidFill>
                  <a:srgbClr val="1F2937"/>
                </a:solidFill>
              </a:rPr>
              <a:t>Product name</a:t>
            </a:r>
            <a:endParaRPr lang="en-US" sz="700" dirty="0"/>
          </a:p>
        </p:txBody>
      </p:sp>
      <p:sp>
        <p:nvSpPr>
          <p:cNvPr id="58" name="Text 52"/>
          <p:cNvSpPr txBox="1"/>
          <p:nvPr/>
        </p:nvSpPr>
        <p:spPr>
          <a:xfrm>
            <a:off x="5660136" y="3588106"/>
            <a:ext cx="438912" cy="117043"/>
          </a:xfrm>
          <a:prstGeom prst="rect">
            <a:avLst/>
          </a:prstGeom>
          <a:noFill/>
          <a:ln/>
        </p:spPr>
        <p:txBody>
          <a:bodyPr wrap="square" lIns="0" tIns="0" rIns="0" bIns="0" rtlCol="0" anchor="t"/>
          <a:lstStyle/>
          <a:p>
            <a:pPr marL="0" indent="0">
              <a:buNone/>
            </a:pPr>
            <a:r>
              <a:rPr lang="en-US" sz="700" b="1" dirty="0">
                <a:solidFill>
                  <a:srgbClr val="0B1F4B"/>
                </a:solidFill>
              </a:rPr>
              <a:t>₹ Price</a:t>
            </a:r>
            <a:endParaRPr lang="en-US" sz="700" dirty="0"/>
          </a:p>
        </p:txBody>
      </p:sp>
      <p:sp>
        <p:nvSpPr>
          <p:cNvPr id="59" name="Shape 53"/>
          <p:cNvSpPr/>
          <p:nvPr/>
        </p:nvSpPr>
        <p:spPr>
          <a:xfrm>
            <a:off x="6208776" y="3588106"/>
            <a:ext cx="274320" cy="117043"/>
          </a:xfrm>
          <a:prstGeom prst="roundRect">
            <a:avLst>
              <a:gd name="adj" fmla="val 15625"/>
            </a:avLst>
          </a:prstGeom>
          <a:solidFill>
            <a:srgbClr val="2F5BFF"/>
          </a:solidFill>
          <a:ln w="12700">
            <a:solidFill>
              <a:srgbClr val="2F5BFF"/>
            </a:solidFill>
            <a:prstDash val="solid"/>
          </a:ln>
        </p:spPr>
      </p:sp>
      <p:sp>
        <p:nvSpPr>
          <p:cNvPr id="60" name="Shape 54"/>
          <p:cNvSpPr/>
          <p:nvPr/>
        </p:nvSpPr>
        <p:spPr>
          <a:xfrm>
            <a:off x="6547104" y="3119933"/>
            <a:ext cx="822960" cy="292608"/>
          </a:xfrm>
          <a:prstGeom prst="roundRect">
            <a:avLst>
              <a:gd name="adj" fmla="val 9375"/>
            </a:avLst>
          </a:prstGeom>
          <a:solidFill>
            <a:srgbClr val="BFDBFE"/>
          </a:solidFill>
          <a:ln w="12700">
            <a:solidFill>
              <a:srgbClr val="BFDBFE"/>
            </a:solidFill>
            <a:prstDash val="solid"/>
          </a:ln>
        </p:spPr>
      </p:sp>
      <p:sp>
        <p:nvSpPr>
          <p:cNvPr id="61" name="Text 55"/>
          <p:cNvSpPr txBox="1"/>
          <p:nvPr/>
        </p:nvSpPr>
        <p:spPr>
          <a:xfrm>
            <a:off x="6547104" y="3456432"/>
            <a:ext cx="822960" cy="117043"/>
          </a:xfrm>
          <a:prstGeom prst="rect">
            <a:avLst/>
          </a:prstGeom>
          <a:noFill/>
          <a:ln/>
        </p:spPr>
        <p:txBody>
          <a:bodyPr wrap="square" lIns="0" tIns="0" rIns="0" bIns="0" rtlCol="0" anchor="t"/>
          <a:lstStyle/>
          <a:p>
            <a:pPr marL="0" indent="0">
              <a:buNone/>
            </a:pPr>
            <a:r>
              <a:rPr lang="en-US" sz="700" dirty="0">
                <a:solidFill>
                  <a:srgbClr val="1F2937"/>
                </a:solidFill>
              </a:rPr>
              <a:t>Product name</a:t>
            </a:r>
            <a:endParaRPr lang="en-US" sz="700" dirty="0"/>
          </a:p>
        </p:txBody>
      </p:sp>
      <p:sp>
        <p:nvSpPr>
          <p:cNvPr id="62" name="Text 56"/>
          <p:cNvSpPr txBox="1"/>
          <p:nvPr/>
        </p:nvSpPr>
        <p:spPr>
          <a:xfrm>
            <a:off x="6547104" y="3588106"/>
            <a:ext cx="438912" cy="117043"/>
          </a:xfrm>
          <a:prstGeom prst="rect">
            <a:avLst/>
          </a:prstGeom>
          <a:noFill/>
          <a:ln/>
        </p:spPr>
        <p:txBody>
          <a:bodyPr wrap="square" lIns="0" tIns="0" rIns="0" bIns="0" rtlCol="0" anchor="t"/>
          <a:lstStyle/>
          <a:p>
            <a:pPr marL="0" indent="0">
              <a:buNone/>
            </a:pPr>
            <a:r>
              <a:rPr lang="en-US" sz="700" b="1" dirty="0">
                <a:solidFill>
                  <a:srgbClr val="0B1F4B"/>
                </a:solidFill>
              </a:rPr>
              <a:t>₹ Price</a:t>
            </a:r>
            <a:endParaRPr lang="en-US" sz="700" dirty="0"/>
          </a:p>
        </p:txBody>
      </p:sp>
      <p:sp>
        <p:nvSpPr>
          <p:cNvPr id="63" name="Shape 57"/>
          <p:cNvSpPr/>
          <p:nvPr/>
        </p:nvSpPr>
        <p:spPr>
          <a:xfrm>
            <a:off x="7095744" y="3588106"/>
            <a:ext cx="274320" cy="117043"/>
          </a:xfrm>
          <a:prstGeom prst="roundRect">
            <a:avLst>
              <a:gd name="adj" fmla="val 15625"/>
            </a:avLst>
          </a:prstGeom>
          <a:solidFill>
            <a:srgbClr val="2F5BFF"/>
          </a:solidFill>
          <a:ln w="12700">
            <a:solidFill>
              <a:srgbClr val="2F5BFF"/>
            </a:solidFill>
            <a:prstDash val="solid"/>
          </a:ln>
        </p:spPr>
      </p:sp>
      <p:sp>
        <p:nvSpPr>
          <p:cNvPr id="64" name="Shape 58"/>
          <p:cNvSpPr/>
          <p:nvPr/>
        </p:nvSpPr>
        <p:spPr>
          <a:xfrm>
            <a:off x="7434072" y="3119933"/>
            <a:ext cx="822960" cy="292608"/>
          </a:xfrm>
          <a:prstGeom prst="roundRect">
            <a:avLst>
              <a:gd name="adj" fmla="val 9375"/>
            </a:avLst>
          </a:prstGeom>
          <a:solidFill>
            <a:srgbClr val="DDD6FE"/>
          </a:solidFill>
          <a:ln w="12700">
            <a:solidFill>
              <a:srgbClr val="DDD6FE"/>
            </a:solidFill>
            <a:prstDash val="solid"/>
          </a:ln>
        </p:spPr>
      </p:sp>
      <p:sp>
        <p:nvSpPr>
          <p:cNvPr id="65" name="Text 59"/>
          <p:cNvSpPr txBox="1"/>
          <p:nvPr/>
        </p:nvSpPr>
        <p:spPr>
          <a:xfrm>
            <a:off x="7434072" y="3456432"/>
            <a:ext cx="822960" cy="117043"/>
          </a:xfrm>
          <a:prstGeom prst="rect">
            <a:avLst/>
          </a:prstGeom>
          <a:noFill/>
          <a:ln/>
        </p:spPr>
        <p:txBody>
          <a:bodyPr wrap="square" lIns="0" tIns="0" rIns="0" bIns="0" rtlCol="0" anchor="t"/>
          <a:lstStyle/>
          <a:p>
            <a:pPr marL="0" indent="0">
              <a:buNone/>
            </a:pPr>
            <a:r>
              <a:rPr lang="en-US" sz="700" dirty="0">
                <a:solidFill>
                  <a:srgbClr val="1F2937"/>
                </a:solidFill>
              </a:rPr>
              <a:t>Product name</a:t>
            </a:r>
            <a:endParaRPr lang="en-US" sz="700" dirty="0"/>
          </a:p>
        </p:txBody>
      </p:sp>
      <p:sp>
        <p:nvSpPr>
          <p:cNvPr id="66" name="Text 60"/>
          <p:cNvSpPr txBox="1"/>
          <p:nvPr/>
        </p:nvSpPr>
        <p:spPr>
          <a:xfrm>
            <a:off x="7434072" y="3588106"/>
            <a:ext cx="438912" cy="117043"/>
          </a:xfrm>
          <a:prstGeom prst="rect">
            <a:avLst/>
          </a:prstGeom>
          <a:noFill/>
          <a:ln/>
        </p:spPr>
        <p:txBody>
          <a:bodyPr wrap="square" lIns="0" tIns="0" rIns="0" bIns="0" rtlCol="0" anchor="t"/>
          <a:lstStyle/>
          <a:p>
            <a:pPr marL="0" indent="0">
              <a:buNone/>
            </a:pPr>
            <a:r>
              <a:rPr lang="en-US" sz="700" b="1" dirty="0">
                <a:solidFill>
                  <a:srgbClr val="0B1F4B"/>
                </a:solidFill>
              </a:rPr>
              <a:t>₹ Price</a:t>
            </a:r>
            <a:endParaRPr lang="en-US" sz="700" dirty="0"/>
          </a:p>
        </p:txBody>
      </p:sp>
      <p:sp>
        <p:nvSpPr>
          <p:cNvPr id="67" name="Shape 61"/>
          <p:cNvSpPr/>
          <p:nvPr/>
        </p:nvSpPr>
        <p:spPr>
          <a:xfrm>
            <a:off x="7982712" y="3588106"/>
            <a:ext cx="274320" cy="117043"/>
          </a:xfrm>
          <a:prstGeom prst="roundRect">
            <a:avLst>
              <a:gd name="adj" fmla="val 15625"/>
            </a:avLst>
          </a:prstGeom>
          <a:solidFill>
            <a:srgbClr val="2F5BFF"/>
          </a:solidFill>
          <a:ln w="12700">
            <a:solidFill>
              <a:srgbClr val="2F5BFF"/>
            </a:solidFill>
            <a:prstDash val="solid"/>
          </a:ln>
        </p:spPr>
      </p:sp>
      <p:sp>
        <p:nvSpPr>
          <p:cNvPr id="68" name="Shape 62"/>
          <p:cNvSpPr/>
          <p:nvPr/>
        </p:nvSpPr>
        <p:spPr>
          <a:xfrm>
            <a:off x="7635240" y="1417320"/>
            <a:ext cx="1188720" cy="2560320"/>
          </a:xfrm>
          <a:prstGeom prst="roundRect">
            <a:avLst>
              <a:gd name="adj" fmla="val 10769"/>
            </a:avLst>
          </a:prstGeom>
          <a:solidFill>
            <a:srgbClr val="FFFFFF"/>
          </a:solidFill>
          <a:ln w="9525">
            <a:solidFill>
              <a:srgbClr val="1E293B"/>
            </a:solidFill>
            <a:prstDash val="solid"/>
          </a:ln>
          <a:effectLst>
            <a:outerShdw blurRad="101600" dist="25400" dir="5400000" algn="bl" rotWithShape="0">
              <a:srgbClr val="000000">
                <a:alpha val="14000"/>
              </a:srgbClr>
            </a:outerShdw>
          </a:effectLst>
        </p:spPr>
      </p:sp>
      <p:sp>
        <p:nvSpPr>
          <p:cNvPr id="69" name="Shape 63"/>
          <p:cNvSpPr/>
          <p:nvPr/>
        </p:nvSpPr>
        <p:spPr>
          <a:xfrm>
            <a:off x="8086954" y="1448044"/>
            <a:ext cx="285293" cy="30724"/>
          </a:xfrm>
          <a:prstGeom prst="roundRect">
            <a:avLst>
              <a:gd name="adj" fmla="val 29762"/>
            </a:avLst>
          </a:prstGeom>
          <a:solidFill>
            <a:srgbClr val="1E293B"/>
          </a:solidFill>
          <a:ln w="12700">
            <a:solidFill>
              <a:srgbClr val="1E293B"/>
            </a:solidFill>
            <a:prstDash val="solid"/>
          </a:ln>
        </p:spPr>
      </p:sp>
      <p:sp>
        <p:nvSpPr>
          <p:cNvPr id="70" name="Shape 64"/>
          <p:cNvSpPr/>
          <p:nvPr/>
        </p:nvSpPr>
        <p:spPr>
          <a:xfrm>
            <a:off x="7706563" y="1545336"/>
            <a:ext cx="1046074" cy="179222"/>
          </a:xfrm>
          <a:prstGeom prst="roundRect">
            <a:avLst>
              <a:gd name="adj" fmla="val 15306"/>
            </a:avLst>
          </a:prstGeom>
          <a:solidFill>
            <a:srgbClr val="0B1F4B"/>
          </a:solidFill>
          <a:ln w="12700">
            <a:solidFill>
              <a:srgbClr val="0B1F4B"/>
            </a:solidFill>
            <a:prstDash val="solid"/>
          </a:ln>
        </p:spPr>
      </p:sp>
      <p:sp>
        <p:nvSpPr>
          <p:cNvPr id="71" name="Text 65"/>
          <p:cNvSpPr txBox="1"/>
          <p:nvPr/>
        </p:nvSpPr>
        <p:spPr>
          <a:xfrm>
            <a:off x="7754112" y="1545336"/>
            <a:ext cx="594360" cy="179222"/>
          </a:xfrm>
          <a:prstGeom prst="rect">
            <a:avLst/>
          </a:prstGeom>
          <a:noFill/>
          <a:ln/>
        </p:spPr>
        <p:txBody>
          <a:bodyPr wrap="square" lIns="0" tIns="0" rIns="0" bIns="0" rtlCol="0" anchor="ctr"/>
          <a:lstStyle/>
          <a:p>
            <a:pPr marL="0" indent="0">
              <a:buNone/>
            </a:pPr>
            <a:r>
              <a:rPr lang="en-US" sz="650" b="1" dirty="0">
                <a:solidFill>
                  <a:srgbClr val="FFFFFF"/>
                </a:solidFill>
              </a:rPr>
              <a:t>ShopEase</a:t>
            </a:r>
            <a:endParaRPr lang="en-US" sz="650" dirty="0"/>
          </a:p>
        </p:txBody>
      </p:sp>
      <p:sp>
        <p:nvSpPr>
          <p:cNvPr id="72" name="Shape 66"/>
          <p:cNvSpPr/>
          <p:nvPr/>
        </p:nvSpPr>
        <p:spPr>
          <a:xfrm>
            <a:off x="7706563" y="1775765"/>
            <a:ext cx="1046074" cy="512064"/>
          </a:xfrm>
          <a:prstGeom prst="roundRect">
            <a:avLst>
              <a:gd name="adj" fmla="val 8929"/>
            </a:avLst>
          </a:prstGeom>
          <a:solidFill>
            <a:srgbClr val="E6ECFF"/>
          </a:solidFill>
          <a:ln w="12700">
            <a:solidFill>
              <a:srgbClr val="E6ECFF"/>
            </a:solidFill>
            <a:prstDash val="solid"/>
          </a:ln>
        </p:spPr>
      </p:sp>
      <p:sp>
        <p:nvSpPr>
          <p:cNvPr id="73" name="Shape 67"/>
          <p:cNvSpPr/>
          <p:nvPr/>
        </p:nvSpPr>
        <p:spPr>
          <a:xfrm>
            <a:off x="8372246" y="1826971"/>
            <a:ext cx="307238" cy="307238"/>
          </a:xfrm>
          <a:prstGeom prst="ellipse">
            <a:avLst/>
          </a:prstGeom>
          <a:solidFill>
            <a:srgbClr val="2F5BFF">
              <a:alpha val="30000"/>
            </a:srgbClr>
          </a:solidFill>
          <a:ln w="12700">
            <a:solidFill>
              <a:srgbClr val="2F5BFF"/>
            </a:solidFill>
            <a:prstDash val="solid"/>
          </a:ln>
        </p:spPr>
      </p:sp>
      <p:sp>
        <p:nvSpPr>
          <p:cNvPr id="74" name="Text 68"/>
          <p:cNvSpPr txBox="1"/>
          <p:nvPr/>
        </p:nvSpPr>
        <p:spPr>
          <a:xfrm>
            <a:off x="7754112" y="1852574"/>
            <a:ext cx="594360" cy="256032"/>
          </a:xfrm>
          <a:prstGeom prst="rect">
            <a:avLst/>
          </a:prstGeom>
          <a:noFill/>
          <a:ln/>
        </p:spPr>
        <p:txBody>
          <a:bodyPr wrap="square" lIns="0" tIns="0" rIns="0" bIns="0" rtlCol="0" anchor="t"/>
          <a:lstStyle/>
          <a:p>
            <a:pPr marL="0" indent="0">
              <a:buNone/>
            </a:pPr>
            <a:r>
              <a:rPr lang="en-US" sz="650" b="1" dirty="0">
                <a:solidFill>
                  <a:srgbClr val="0B1F4B"/>
                </a:solidFill>
              </a:rPr>
              <a:t>Find what you need, faster</a:t>
            </a:r>
            <a:endParaRPr lang="en-US" sz="650" dirty="0"/>
          </a:p>
        </p:txBody>
      </p:sp>
      <p:sp>
        <p:nvSpPr>
          <p:cNvPr id="75" name="Shape 69"/>
          <p:cNvSpPr/>
          <p:nvPr/>
        </p:nvSpPr>
        <p:spPr>
          <a:xfrm>
            <a:off x="7706563" y="2364638"/>
            <a:ext cx="499262" cy="358445"/>
          </a:xfrm>
          <a:prstGeom prst="roundRect">
            <a:avLst>
              <a:gd name="adj" fmla="val 10204"/>
            </a:avLst>
          </a:prstGeom>
          <a:solidFill>
            <a:srgbClr val="C7D2FE"/>
          </a:solidFill>
          <a:ln w="12700">
            <a:solidFill>
              <a:srgbClr val="C7D2FE"/>
            </a:solidFill>
            <a:prstDash val="solid"/>
          </a:ln>
        </p:spPr>
      </p:sp>
      <p:sp>
        <p:nvSpPr>
          <p:cNvPr id="76" name="Text 70"/>
          <p:cNvSpPr txBox="1"/>
          <p:nvPr/>
        </p:nvSpPr>
        <p:spPr>
          <a:xfrm>
            <a:off x="7706563" y="2748686"/>
            <a:ext cx="499262" cy="102413"/>
          </a:xfrm>
          <a:prstGeom prst="rect">
            <a:avLst/>
          </a:prstGeom>
          <a:noFill/>
          <a:ln/>
        </p:spPr>
        <p:txBody>
          <a:bodyPr wrap="square" lIns="0" tIns="0" rIns="0" bIns="0" rtlCol="0" anchor="t"/>
          <a:lstStyle/>
          <a:p>
            <a:pPr marL="0" indent="0">
              <a:buNone/>
            </a:pPr>
            <a:r>
              <a:rPr lang="en-US" sz="500" dirty="0">
                <a:solidFill>
                  <a:srgbClr val="1F2937"/>
                </a:solidFill>
              </a:rPr>
              <a:t>Product · ₹ Price</a:t>
            </a:r>
            <a:endParaRPr lang="en-US" sz="500" dirty="0"/>
          </a:p>
        </p:txBody>
      </p:sp>
      <p:sp>
        <p:nvSpPr>
          <p:cNvPr id="77" name="Shape 71"/>
          <p:cNvSpPr/>
          <p:nvPr/>
        </p:nvSpPr>
        <p:spPr>
          <a:xfrm>
            <a:off x="8253374" y="2364638"/>
            <a:ext cx="499262" cy="358445"/>
          </a:xfrm>
          <a:prstGeom prst="roundRect">
            <a:avLst>
              <a:gd name="adj" fmla="val 10204"/>
            </a:avLst>
          </a:prstGeom>
          <a:solidFill>
            <a:srgbClr val="FBCFE8"/>
          </a:solidFill>
          <a:ln w="12700">
            <a:solidFill>
              <a:srgbClr val="FBCFE8"/>
            </a:solidFill>
            <a:prstDash val="solid"/>
          </a:ln>
        </p:spPr>
      </p:sp>
      <p:sp>
        <p:nvSpPr>
          <p:cNvPr id="78" name="Text 72"/>
          <p:cNvSpPr txBox="1"/>
          <p:nvPr/>
        </p:nvSpPr>
        <p:spPr>
          <a:xfrm>
            <a:off x="8253374" y="2748686"/>
            <a:ext cx="499262" cy="102413"/>
          </a:xfrm>
          <a:prstGeom prst="rect">
            <a:avLst/>
          </a:prstGeom>
          <a:noFill/>
          <a:ln/>
        </p:spPr>
        <p:txBody>
          <a:bodyPr wrap="square" lIns="0" tIns="0" rIns="0" bIns="0" rtlCol="0" anchor="t"/>
          <a:lstStyle/>
          <a:p>
            <a:pPr marL="0" indent="0">
              <a:buNone/>
            </a:pPr>
            <a:r>
              <a:rPr lang="en-US" sz="500" dirty="0">
                <a:solidFill>
                  <a:srgbClr val="1F2937"/>
                </a:solidFill>
              </a:rPr>
              <a:t>Product · ₹ Price</a:t>
            </a:r>
            <a:endParaRPr lang="en-US" sz="500" dirty="0"/>
          </a:p>
        </p:txBody>
      </p:sp>
      <p:sp>
        <p:nvSpPr>
          <p:cNvPr id="79" name="Shape 73"/>
          <p:cNvSpPr/>
          <p:nvPr/>
        </p:nvSpPr>
        <p:spPr>
          <a:xfrm>
            <a:off x="7706563" y="2953512"/>
            <a:ext cx="499262" cy="358445"/>
          </a:xfrm>
          <a:prstGeom prst="roundRect">
            <a:avLst>
              <a:gd name="adj" fmla="val 10204"/>
            </a:avLst>
          </a:prstGeom>
          <a:solidFill>
            <a:srgbClr val="BFDBFE"/>
          </a:solidFill>
          <a:ln w="12700">
            <a:solidFill>
              <a:srgbClr val="BFDBFE"/>
            </a:solidFill>
            <a:prstDash val="solid"/>
          </a:ln>
        </p:spPr>
      </p:sp>
      <p:sp>
        <p:nvSpPr>
          <p:cNvPr id="80" name="Text 74"/>
          <p:cNvSpPr txBox="1"/>
          <p:nvPr/>
        </p:nvSpPr>
        <p:spPr>
          <a:xfrm>
            <a:off x="7706563" y="3337560"/>
            <a:ext cx="499262" cy="102413"/>
          </a:xfrm>
          <a:prstGeom prst="rect">
            <a:avLst/>
          </a:prstGeom>
          <a:noFill/>
          <a:ln/>
        </p:spPr>
        <p:txBody>
          <a:bodyPr wrap="square" lIns="0" tIns="0" rIns="0" bIns="0" rtlCol="0" anchor="t"/>
          <a:lstStyle/>
          <a:p>
            <a:pPr marL="0" indent="0">
              <a:buNone/>
            </a:pPr>
            <a:r>
              <a:rPr lang="en-US" sz="500" dirty="0">
                <a:solidFill>
                  <a:srgbClr val="1F2937"/>
                </a:solidFill>
              </a:rPr>
              <a:t>Product · ₹ Price</a:t>
            </a:r>
            <a:endParaRPr lang="en-US" sz="500" dirty="0"/>
          </a:p>
        </p:txBody>
      </p:sp>
      <p:sp>
        <p:nvSpPr>
          <p:cNvPr id="81" name="Shape 75"/>
          <p:cNvSpPr/>
          <p:nvPr/>
        </p:nvSpPr>
        <p:spPr>
          <a:xfrm>
            <a:off x="8253374" y="2953512"/>
            <a:ext cx="499262" cy="358445"/>
          </a:xfrm>
          <a:prstGeom prst="roundRect">
            <a:avLst>
              <a:gd name="adj" fmla="val 10204"/>
            </a:avLst>
          </a:prstGeom>
          <a:solidFill>
            <a:srgbClr val="DDD6FE"/>
          </a:solidFill>
          <a:ln w="12700">
            <a:solidFill>
              <a:srgbClr val="DDD6FE"/>
            </a:solidFill>
            <a:prstDash val="solid"/>
          </a:ln>
        </p:spPr>
      </p:sp>
      <p:sp>
        <p:nvSpPr>
          <p:cNvPr id="82" name="Text 76"/>
          <p:cNvSpPr txBox="1"/>
          <p:nvPr/>
        </p:nvSpPr>
        <p:spPr>
          <a:xfrm>
            <a:off x="8253374" y="3337560"/>
            <a:ext cx="499262" cy="102413"/>
          </a:xfrm>
          <a:prstGeom prst="rect">
            <a:avLst/>
          </a:prstGeom>
          <a:noFill/>
          <a:ln/>
        </p:spPr>
        <p:txBody>
          <a:bodyPr wrap="square" lIns="0" tIns="0" rIns="0" bIns="0" rtlCol="0" anchor="t"/>
          <a:lstStyle/>
          <a:p>
            <a:pPr marL="0" indent="0">
              <a:buNone/>
            </a:pPr>
            <a:r>
              <a:rPr lang="en-US" sz="500" dirty="0">
                <a:solidFill>
                  <a:srgbClr val="1F2937"/>
                </a:solidFill>
              </a:rPr>
              <a:t>Product · ₹ Price</a:t>
            </a:r>
            <a:endParaRPr lang="en-US" sz="500" dirty="0"/>
          </a:p>
        </p:txBody>
      </p:sp>
      <p:sp>
        <p:nvSpPr>
          <p:cNvPr id="83" name="Shape 77"/>
          <p:cNvSpPr/>
          <p:nvPr/>
        </p:nvSpPr>
        <p:spPr>
          <a:xfrm>
            <a:off x="7706563" y="3619195"/>
            <a:ext cx="1046074" cy="204826"/>
          </a:xfrm>
          <a:prstGeom prst="roundRect">
            <a:avLst>
              <a:gd name="adj" fmla="val 17857"/>
            </a:avLst>
          </a:prstGeom>
          <a:solidFill>
            <a:srgbClr val="2F5BFF"/>
          </a:solidFill>
          <a:ln w="12700">
            <a:solidFill>
              <a:srgbClr val="2F5BFF"/>
            </a:solidFill>
            <a:prstDash val="solid"/>
          </a:ln>
        </p:spPr>
      </p:sp>
      <p:sp>
        <p:nvSpPr>
          <p:cNvPr id="84" name="Text 78"/>
          <p:cNvSpPr txBox="1"/>
          <p:nvPr/>
        </p:nvSpPr>
        <p:spPr>
          <a:xfrm>
            <a:off x="7706563" y="3619195"/>
            <a:ext cx="1046074" cy="204826"/>
          </a:xfrm>
          <a:prstGeom prst="rect">
            <a:avLst/>
          </a:prstGeom>
          <a:noFill/>
          <a:ln/>
        </p:spPr>
        <p:txBody>
          <a:bodyPr wrap="square" lIns="0" tIns="0" rIns="0" bIns="0" rtlCol="0" anchor="ctr"/>
          <a:lstStyle/>
          <a:p>
            <a:pPr marL="0" indent="0" algn="ctr">
              <a:buNone/>
            </a:pPr>
            <a:r>
              <a:rPr lang="en-US" sz="650" b="1" dirty="0">
                <a:solidFill>
                  <a:srgbClr val="FFFFFF"/>
                </a:solidFill>
              </a:rPr>
              <a:t>Add to cart</a:t>
            </a:r>
            <a:endParaRPr lang="en-US" sz="650" dirty="0"/>
          </a:p>
        </p:txBody>
      </p:sp>
      <p:sp>
        <p:nvSpPr>
          <p:cNvPr id="85" name="Shape 79"/>
          <p:cNvSpPr/>
          <p:nvPr/>
        </p:nvSpPr>
        <p:spPr>
          <a:xfrm>
            <a:off x="4663440" y="4160520"/>
            <a:ext cx="2834640" cy="256032"/>
          </a:xfrm>
          <a:prstGeom prst="roundRect">
            <a:avLst>
              <a:gd name="adj" fmla="val 50000"/>
            </a:avLst>
          </a:prstGeom>
          <a:solidFill>
            <a:srgbClr val="1B2C66"/>
          </a:solidFill>
          <a:ln w="12700">
            <a:solidFill>
              <a:srgbClr val="1B2C66"/>
            </a:solidFill>
            <a:prstDash val="solid"/>
          </a:ln>
        </p:spPr>
      </p:sp>
      <p:sp>
        <p:nvSpPr>
          <p:cNvPr id="86" name="Text 80"/>
          <p:cNvSpPr txBox="1"/>
          <p:nvPr/>
        </p:nvSpPr>
        <p:spPr>
          <a:xfrm>
            <a:off x="4663440" y="4160520"/>
            <a:ext cx="2834640" cy="256032"/>
          </a:xfrm>
          <a:prstGeom prst="rect">
            <a:avLst/>
          </a:prstGeom>
          <a:noFill/>
          <a:ln/>
        </p:spPr>
        <p:txBody>
          <a:bodyPr wrap="square" lIns="0" tIns="0" rIns="0" bIns="0" rtlCol="0" anchor="ctr"/>
          <a:lstStyle/>
          <a:p>
            <a:pPr marL="0" indent="0" algn="ctr">
              <a:buNone/>
            </a:pPr>
            <a:r>
              <a:rPr lang="en-US" sz="1050" b="1" dirty="0">
                <a:solidFill>
                  <a:srgbClr val="BFD0FF"/>
                </a:solidFill>
              </a:rPr>
              <a:t>Illustrative ShopEase concept mockup</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2785</Words>
  <Application>Microsoft Office PowerPoint</Application>
  <PresentationFormat>On-screen Show (16:9)</PresentationFormat>
  <Paragraphs>559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UI/UX Design of an E-Commerce Website</dc:title>
  <dc:subject>PptxGenJS Presentation</dc:subject>
  <dc:creator>NIRANJAN</dc:creator>
  <cp:lastModifiedBy>Niranjan R</cp:lastModifiedBy>
  <cp:revision>2</cp:revision>
  <dcterms:created xsi:type="dcterms:W3CDTF">2026-10-21T05:51:33Z</dcterms:created>
  <dcterms:modified xsi:type="dcterms:W3CDTF">2026-10-21T05:57:23Z</dcterms:modified>
</cp:coreProperties>
</file>